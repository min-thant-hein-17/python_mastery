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3" r:id="rId6"/>
    <p:sldId id="264" r:id="rId7"/>
    <p:sldId id="262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5" r:id="rId17"/>
    <p:sldId id="274" r:id="rId18"/>
    <p:sldId id="276" r:id="rId19"/>
    <p:sldId id="261" r:id="rId20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Medium" panose="00000600000000000000" pitchFamily="2" charset="0"/>
      <p:regular r:id="rId27"/>
      <p:bold r:id="rId28"/>
      <p:italic r:id="rId29"/>
      <p:boldItalic r:id="rId30"/>
    </p:embeddedFont>
    <p:embeddedFont>
      <p:font typeface="Poppins SemiBold" panose="000007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5cad3550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5cad3550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38706420-8716-31C2-4C53-3386C0E9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90129C36-1BD7-09F6-A0B6-D079B1BAB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AB53D9EA-7130-32BB-922B-5F28F5AB0B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7940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5343984E-64ED-4DA5-AB2E-8FC2CC66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1F9D33D6-A81A-1540-FC7E-2E8AC38FA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D58212F6-360D-BE77-6C4E-D3FB59F27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6472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Bias = Too simple → doesn’t learn enough → underfitting</a:t>
            </a:r>
            <a:br>
              <a:rPr lang="en-US" dirty="0"/>
            </a:br>
            <a:r>
              <a:rPr lang="en-US" b="1" dirty="0"/>
              <a:t>Variance = Too complex → learns too much → overfitting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26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B87F26C8-FCEA-09D1-0FD2-94C80EFFF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2A4962BA-D27D-3248-EFA9-CC04C62D8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BD18C3B2-B591-C592-B1E4-0C23942C5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002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2D179BB7-33B1-1BDF-CFFB-23564689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AAF1BBFF-F2AC-A5CF-FD23-42F644C7B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BE6E9CE6-917D-8762-358A-3FDF2BC40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355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9784DF6F-126E-4720-B5A9-5268E4E9D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B3C207E9-583F-81E4-8C65-E5600B4C4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A69209D5-2511-5D3B-7F66-0E20F8EDA8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1935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5B81D264-824A-1F01-993B-8E622EE11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1796DCFC-C989-F0D4-107D-FD3290E0E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1AB13B6D-F584-5BA1-5388-79DAF6DB6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29754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C02FE8CE-F3F2-1644-B0B1-F37FD59C2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DB801C72-BB79-EBD1-8A05-255A247C9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4E1A7F72-4462-B140-9EC4-BE4975CAAD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0747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FB79FE32-4171-C6F8-8E41-2BEAD146A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83A78750-B359-7FED-84EC-A77BA6D65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025B0F6C-7795-6D3A-FEBD-635CE6BA3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235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3AC31399-3490-A722-A129-2B5C62FCC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91CAEC9A-5CAB-F599-6732-5F81171236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83BC1CAB-DDFD-2861-C944-84BCEC47AD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0397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3F6E7A9B-EA7F-7EDA-1E6B-780234EF0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402F6D17-3880-D892-61A3-96D22751C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C6AACF96-9764-9B50-944E-CA4423B730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394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E0AB5B45-10FB-88F6-DC6E-E5746FEB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4375ADCE-D15E-442E-9AB2-253B0C09A9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D9191159-69D3-B47D-E51A-37C6F1237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4877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D3D742E3-5751-F767-0369-B7A59BD6E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>
            <a:extLst>
              <a:ext uri="{FF2B5EF4-FFF2-40B4-BE49-F238E27FC236}">
                <a16:creationId xmlns:a16="http://schemas.microsoft.com/office/drawing/2014/main" id="{686954DD-715F-AC31-FEC7-EE52FC4F61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>
            <a:extLst>
              <a:ext uri="{FF2B5EF4-FFF2-40B4-BE49-F238E27FC236}">
                <a16:creationId xmlns:a16="http://schemas.microsoft.com/office/drawing/2014/main" id="{6448EECD-BE27-22E2-BEE6-3AA837D90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059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5eba4581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5eba4581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5775" y="4058125"/>
            <a:ext cx="39792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425763" y="364225"/>
            <a:ext cx="3979200" cy="34737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>
            <a:spLocks noGrp="1"/>
          </p:cNvSpPr>
          <p:nvPr>
            <p:ph type="pic" idx="3"/>
          </p:nvPr>
        </p:nvSpPr>
        <p:spPr>
          <a:xfrm>
            <a:off x="4739025" y="364225"/>
            <a:ext cx="3979200" cy="347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>
            <a:spLocks noGrp="1"/>
          </p:cNvSpPr>
          <p:nvPr>
            <p:ph type="pic" idx="2"/>
          </p:nvPr>
        </p:nvSpPr>
        <p:spPr>
          <a:xfrm>
            <a:off x="14000" y="0"/>
            <a:ext cx="4272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 txBox="1">
            <a:spLocks noGrp="1"/>
          </p:cNvSpPr>
          <p:nvPr>
            <p:ph type="subTitle" idx="1"/>
          </p:nvPr>
        </p:nvSpPr>
        <p:spPr>
          <a:xfrm>
            <a:off x="4566400" y="322175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3"/>
          </p:nvPr>
        </p:nvSpPr>
        <p:spPr>
          <a:xfrm>
            <a:off x="4636425" y="1008525"/>
            <a:ext cx="3836100" cy="3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 title="PU Presentation template (1).jpg"/>
          <p:cNvPicPr preferRelativeResize="0"/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 rot="5400000">
            <a:off x="1238400" y="-792100"/>
            <a:ext cx="3737700" cy="6214500"/>
          </a:xfrm>
          <a:prstGeom prst="round1Rect">
            <a:avLst>
              <a:gd name="adj" fmla="val 29851"/>
            </a:avLst>
          </a:prstGeom>
          <a:solidFill>
            <a:srgbClr val="FFE1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>
            <a:off x="434225" y="845000"/>
            <a:ext cx="5300700" cy="16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in ML: Bias-Variance Tradeoff, Validation and Model Performance</a:t>
            </a:r>
            <a:endParaRPr sz="3600" b="1" dirty="0"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"/>
          </p:nvPr>
        </p:nvSpPr>
        <p:spPr>
          <a:xfrm>
            <a:off x="434225" y="4224927"/>
            <a:ext cx="5300700" cy="8107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 Medium"/>
                <a:ea typeface="Poppins Medium"/>
                <a:cs typeface="Poppins Medium"/>
                <a:sym typeface="Poppins Medium"/>
              </a:rPr>
              <a:t>Dr. Nwe </a:t>
            </a:r>
            <a:r>
              <a:rPr lang="en-US" sz="1800" dirty="0" err="1">
                <a:latin typeface="Poppins Medium"/>
                <a:ea typeface="Poppins Medium"/>
                <a:cs typeface="Poppins Medium"/>
                <a:sym typeface="Poppins Medium"/>
              </a:rPr>
              <a:t>Nwe</a:t>
            </a:r>
            <a:r>
              <a:rPr lang="en-US" sz="1800" dirty="0"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1800" dirty="0" err="1">
                <a:latin typeface="Poppins Medium"/>
                <a:ea typeface="Poppins Medium"/>
                <a:cs typeface="Poppins Medium"/>
                <a:sym typeface="Poppins Medium"/>
              </a:rPr>
              <a:t>Htay</a:t>
            </a:r>
            <a:r>
              <a:rPr lang="en-US" sz="1800" dirty="0">
                <a:latin typeface="Poppins Medium"/>
                <a:ea typeface="Poppins Medium"/>
                <a:cs typeface="Poppins Medium"/>
                <a:sym typeface="Poppins Medium"/>
              </a:rPr>
              <a:t> Win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latin typeface="Poppins Medium"/>
                <a:ea typeface="Poppins Medium"/>
                <a:cs typeface="Poppins Medium"/>
                <a:sym typeface="Poppins Medium"/>
              </a:rPr>
              <a:t>Professor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latin typeface="Poppins Medium"/>
                <a:ea typeface="Poppins Medium"/>
                <a:cs typeface="Poppins Medium"/>
                <a:sym typeface="Poppins Medium"/>
              </a:rPr>
              <a:t>Parami</a:t>
            </a:r>
            <a:r>
              <a:rPr lang="en-US" sz="1800" dirty="0">
                <a:latin typeface="Poppins Medium"/>
                <a:ea typeface="Poppins Medium"/>
                <a:cs typeface="Poppins Medium"/>
                <a:sym typeface="Poppins Medium"/>
              </a:rPr>
              <a:t> University</a:t>
            </a:r>
            <a:endParaRPr sz="1800" dirty="0"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3" name="Google Shape;63;p13" title="Primary Logo_horizontal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body" idx="3"/>
          </p:nvPr>
        </p:nvSpPr>
        <p:spPr>
          <a:xfrm>
            <a:off x="299199" y="960899"/>
            <a:ext cx="4747007" cy="4041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occurs when a model learns the training data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well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finding the general pattern, it memorizes the "noise" (random fluctuations and specific details) that only exist in that specific dataset.</a:t>
            </a:r>
          </a:p>
          <a:p>
            <a:pPr marL="628650" lvl="1" indent="-171450" algn="just">
              <a:lnSpc>
                <a:spcPct val="95000"/>
              </a:lnSpc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Training Error: Extremely low (near 0%).</a:t>
            </a:r>
          </a:p>
          <a:p>
            <a:pPr marL="628650" lvl="1" indent="-171450" algn="just">
              <a:lnSpc>
                <a:spcPct val="95000"/>
              </a:lnSpc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Test/Validation Error: Very high.</a:t>
            </a:r>
          </a:p>
          <a:p>
            <a:pPr marL="628650" lvl="1" indent="-171450" algn="just">
              <a:lnSpc>
                <a:spcPct val="95000"/>
              </a:lnSpc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  <a:p>
            <a:pPr marL="0" indent="0" algn="just">
              <a:lnSpc>
                <a:spcPct val="95000"/>
              </a:lnSpc>
              <a:spcAft>
                <a:spcPts val="1200"/>
              </a:spcAft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Underfitting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200" dirty="0">
                <a:solidFill>
                  <a:schemeClr val="tx1"/>
                </a:solidFill>
              </a:rPr>
              <a:t>Underfitting occurs when a model is </a:t>
            </a:r>
            <a:r>
              <a:rPr lang="en-US" sz="1200" b="1" dirty="0">
                <a:solidFill>
                  <a:schemeClr val="tx1"/>
                </a:solidFill>
              </a:rPr>
              <a:t>too simple</a:t>
            </a:r>
            <a:r>
              <a:rPr lang="en-US" sz="1200" dirty="0">
                <a:solidFill>
                  <a:schemeClr val="tx1"/>
                </a:solidFill>
              </a:rPr>
              <a:t> to capture the underlying pattern of the data. It makes strong, incorrect assumptions about the data.</a:t>
            </a:r>
          </a:p>
          <a:p>
            <a:pPr marL="628650" lvl="1" indent="-171450" algn="just">
              <a:lnSpc>
                <a:spcPct val="95000"/>
              </a:lnSpc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Training Error: High.</a:t>
            </a:r>
          </a:p>
          <a:p>
            <a:pPr marL="628650" lvl="1" indent="-171450" algn="just">
              <a:lnSpc>
                <a:spcPct val="95000"/>
              </a:lnSpc>
            </a:pPr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Test/Validation Error: High.</a:t>
            </a:r>
            <a:endParaRPr sz="1100" dirty="0">
              <a:solidFill>
                <a:schemeClr val="tx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99198" y="140948"/>
            <a:ext cx="6128495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Overfitting &amp; Underfitting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ea typeface="Poppins SemiBold"/>
              <a:cs typeface="Times New Roman" panose="02020603050405020304" pitchFamily="18" charset="0"/>
              <a:sym typeface="Poppins SemiBold"/>
            </a:endParaRPr>
          </a:p>
        </p:txBody>
      </p:sp>
      <p:pic>
        <p:nvPicPr>
          <p:cNvPr id="71" name="Google Shape;71;p14" title="Primary Logo_horizontal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 descr="Understanding the Bias-Variance Tradeoff and Regularization in Machine  Learning🌟🚀 | by Lomash Bhuva | Medium">
            <a:extLst>
              <a:ext uri="{FF2B5EF4-FFF2-40B4-BE49-F238E27FC236}">
                <a16:creationId xmlns:a16="http://schemas.microsoft.com/office/drawing/2014/main" id="{695B3E0B-6032-7C62-B07F-6A6D300EA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206" y="1308847"/>
            <a:ext cx="3972881" cy="238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311699" y="1123949"/>
            <a:ext cx="6262721" cy="3878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285750" indent="-285750" algn="just">
              <a:lnSpc>
                <a:spcPct val="125000"/>
              </a:lnSpc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 machine learning (ML) and artificial intelligence (AI), bias-variance tradeoff is a concept that governs the performance of a predictive machine learning model and a fundamental tenant in data science.</a:t>
            </a: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of Machine Learning is to perform well on unseen data, not just the data used for training.</a:t>
            </a: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often fail because they are either too simple or too complex.</a:t>
            </a:r>
          </a:p>
          <a:p>
            <a:pPr marL="285750" indent="-285750" algn="just">
              <a:lnSpc>
                <a:spcPct val="125000"/>
              </a:lnSpc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data/diagram showing the relationship between Training Error and Testing Error.</a:t>
            </a:r>
          </a:p>
          <a:p>
            <a:pPr marL="285750" indent="-285750" algn="just">
              <a:spcAft>
                <a:spcPts val="1200"/>
              </a:spcAft>
            </a:pPr>
            <a:r>
              <a:rPr lang="en-US" b="0" i="0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and variance represent two sources of prediction error. </a:t>
            </a:r>
          </a:p>
          <a:p>
            <a:pPr marL="285750" indent="-285750" algn="just">
              <a:spcAft>
                <a:spcPts val="1200"/>
              </a:spcAft>
            </a:pPr>
            <a:r>
              <a:rPr lang="en-US" b="0" i="0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measures how far off predictions are from the true values due to overly simplistic assumptions; variance, however, captures how much predictions fluctuate based on different training data.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Aft>
                <a:spcPts val="1200"/>
              </a:spcAft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699" y="335731"/>
            <a:ext cx="8520600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 – Variance Tradeoff</a:t>
            </a:r>
            <a:endParaRPr dirty="0"/>
          </a:p>
        </p:txBody>
      </p:sp>
      <p:pic>
        <p:nvPicPr>
          <p:cNvPr id="79" name="Google Shape;79;p15" title="Primary Logo_horizontal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C15862-0350-BE4C-209B-841C03379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681" y="2767905"/>
            <a:ext cx="2603461" cy="16352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405512" y="244162"/>
            <a:ext cx="1527461" cy="8617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Bias</a:t>
            </a:r>
            <a:endParaRPr sz="4400" b="1" dirty="0"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234140" y="1105906"/>
            <a:ext cx="4305384" cy="2649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spcAft>
                <a:spcPts val="1200"/>
              </a:spcAft>
            </a:pPr>
            <a:r>
              <a:rPr lang="en-US" b="1" i="0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n-US" b="0" i="0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measures how far off, on average, a model’s predictions are from the ground truth values.</a:t>
            </a:r>
          </a:p>
          <a:p>
            <a:pPr marL="285750" indent="-285750" algn="l">
              <a:spcAft>
                <a:spcPts val="1200"/>
              </a:spcAft>
            </a:pPr>
            <a:r>
              <a:rPr lang="en-US" b="0" i="0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High-bias models tend to make strong assumptions about the form of the data and cause underfitting.</a:t>
            </a:r>
          </a:p>
          <a:p>
            <a:pPr marL="285750" indent="-285750" algn="l">
              <a:spcAft>
                <a:spcPts val="1200"/>
              </a:spcAft>
            </a:pPr>
            <a:r>
              <a:rPr lang="en-US" b="0" i="0" dirty="0">
                <a:solidFill>
                  <a:srgbClr val="161616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 overly simplistic model tends to have high bias and low variance—a model like this tends to have high training errors and high prediction errors.  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507048" y="244162"/>
            <a:ext cx="4636952" cy="8617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Variance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4571999" y="1105906"/>
            <a:ext cx="4317859" cy="33792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indent="-285750" algn="l" fontAlgn="base">
              <a:spcAft>
                <a:spcPts val="1200"/>
              </a:spcAft>
            </a:pPr>
            <a:r>
              <a:rPr lang="en-US" b="1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Variance</a:t>
            </a:r>
            <a:r>
              <a:rPr lang="en-US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measures how much a model’s predictions change with different training datasets.</a:t>
            </a:r>
          </a:p>
          <a:p>
            <a:pPr marL="285750" indent="-285750" algn="l" fontAlgn="base"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High-variance models are sensitive to noise in the training data and cause overfitting. </a:t>
            </a:r>
          </a:p>
          <a:p>
            <a:pPr marL="285750" indent="-285750" algn="l" fontAlgn="base">
              <a:spcAft>
                <a:spcPts val="1200"/>
              </a:spcAft>
            </a:pPr>
            <a:r>
              <a:rPr lang="en-US" dirty="0">
                <a:solidFill>
                  <a:srgbClr val="1616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model with complex architecture and more parameters tends to have high variance and low bias.</a:t>
            </a:r>
          </a:p>
        </p:txBody>
      </p:sp>
      <p:pic>
        <p:nvPicPr>
          <p:cNvPr id="90" name="Google Shape;90;p16" title="Primary Logo_horizontal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179440-2D65-B6F7-BC12-2B4DFBECD87D}"/>
              </a:ext>
            </a:extLst>
          </p:cNvPr>
          <p:cNvSpPr txBox="1"/>
          <p:nvPr/>
        </p:nvSpPr>
        <p:spPr>
          <a:xfrm>
            <a:off x="3905573" y="4804475"/>
            <a:ext cx="5238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Ref: https://www.ibm.com/think/topics/bias-variance-tradeoff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F1D33787-6358-0BAF-FCF6-E1F9077AD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C26EC784-E396-7BBD-CBEF-B2553BD6C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23949"/>
            <a:ext cx="6262721" cy="3878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high-bias model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 simple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It does not learn the real pattern in the data.</a:t>
            </a:r>
          </a:p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It means: </a:t>
            </a:r>
          </a:p>
          <a:p>
            <a:pPr marL="285750" indent="-28575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Performs badly on training data</a:t>
            </a:r>
          </a:p>
          <a:p>
            <a:pPr marL="285750" indent="-28575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Performs badly on test data</a:t>
            </a:r>
          </a:p>
          <a:p>
            <a:pPr marL="285750" indent="-28575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 model is underfitting	</a:t>
            </a:r>
          </a:p>
          <a:p>
            <a:pPr marL="0" indent="0" algn="just"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  <a:p>
            <a:pPr marL="285750" indent="-285750" algn="just"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Common Causes: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Using a linear model for non-linear data.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Insufficient training time or features.</a:t>
            </a:r>
          </a:p>
          <a:p>
            <a:pPr marL="139700" indent="0" algn="just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 algn="just">
              <a:spcAft>
                <a:spcPts val="1200"/>
              </a:spcAft>
            </a:pPr>
            <a:r>
              <a:rPr lang="en-US" dirty="0">
                <a:solidFill>
                  <a:schemeClr val="tx1"/>
                </a:solidFill>
              </a:rPr>
              <a:t>How to Prevent Underfitting (High Bias)</a:t>
            </a:r>
          </a:p>
          <a:p>
            <a:pPr marL="742950" lvl="1" indent="-28575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Increase Model Complexity: Use more layers in a neural network or higher-degree polynomials.</a:t>
            </a:r>
          </a:p>
          <a:p>
            <a:pPr marL="742950" lvl="1" indent="-28575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Feature Engineering: Add more relevant features or transform existing ones.</a:t>
            </a:r>
          </a:p>
          <a:p>
            <a:pPr marL="742950" lvl="1" indent="-28575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Decrease Regularization: If you are using techniques like Lasso or Ridge, reduce the penalty.</a:t>
            </a:r>
          </a:p>
          <a:p>
            <a:pPr marL="742950" lvl="1" indent="-285750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Train Longer: Ensure the algorithm has enough iterations to converge.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2DF482C1-57AB-E0D7-05ED-6A2DA5828F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335731"/>
            <a:ext cx="8520600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Bias</a:t>
            </a:r>
            <a:endParaRPr dirty="0"/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16E4C586-426B-777D-9526-D633E0B3FF6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C13728-BC7E-7BC1-09C2-F142D359E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724" y="1487079"/>
            <a:ext cx="4628378" cy="216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09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D704A64D-F87C-C747-A69A-34B8681C6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C4C626F7-3463-D36F-9411-09CA2683D0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951254"/>
            <a:ext cx="6262721" cy="3878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high-variance model is too complex. It learns the training data too well, including the noise and random fluctuations.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It means:</a:t>
            </a:r>
          </a:p>
          <a:p>
            <a:pPr marL="285750" indent="-28575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Performs too well on training data but performs badly on unseen data.</a:t>
            </a:r>
          </a:p>
          <a:p>
            <a:pPr marL="285750" indent="-28575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The model is overfitting.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Common causes:</a:t>
            </a:r>
          </a:p>
          <a:p>
            <a:pPr marL="285750" indent="-28575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The model is too complex (too many parameters and) for the amount of data available.</a:t>
            </a:r>
          </a:p>
          <a:p>
            <a:pPr marL="285750" indent="-28575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The training data contains too much noise or irrelevant “garbage” info.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How to prevent overfitting (High variance)</a:t>
            </a:r>
          </a:p>
          <a:p>
            <a:pPr marL="285750" indent="-28575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Regularization: Use L1 (Lasso), L2 (Ridge) to penalize </a:t>
            </a:r>
            <a:r>
              <a:rPr lang="en-US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overaly</a:t>
            </a: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 large weights.</a:t>
            </a:r>
          </a:p>
          <a:p>
            <a:pPr marL="285750" indent="-28575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Cross-validation: Use Techniques like K-Fold to ensure the model generalizes.</a:t>
            </a:r>
          </a:p>
          <a:p>
            <a:pPr marL="285750" indent="-28575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Simplify the model: Reduce the number of features or parameters.</a:t>
            </a: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8B82ADFE-B589-0284-B3FE-5372E2D233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335731"/>
            <a:ext cx="8520600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Variance</a:t>
            </a:r>
            <a:endParaRPr dirty="0"/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262216C4-7F6C-B0AD-8B27-2C12CD666E4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811BED-484B-294A-AE32-1124A0A1F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708" y="2425485"/>
            <a:ext cx="2867291" cy="155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81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B2DF-9F23-0FC6-3B22-B10D10EBA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56674"/>
            <a:ext cx="8520600" cy="8676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Bias and Variance Trade-off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FB2E0C-5FBF-AEA7-27E8-22EA20E7E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390357"/>
              </p:ext>
            </p:extLst>
          </p:nvPr>
        </p:nvGraphicFramePr>
        <p:xfrm>
          <a:off x="311700" y="1799238"/>
          <a:ext cx="8521700" cy="1219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1153951409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453923130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483156534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062107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Model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Variance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997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Too 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Underfitting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275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Balanced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Best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3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Too complex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5686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24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E488A73A-7067-F573-0C31-AE460E45C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AA3333B-6049-BB19-83E5-A939531866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951254"/>
            <a:ext cx="6262721" cy="3878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tx1"/>
                </a:solidFill>
              </a:rPr>
              <a:t>Regularization is a technique used to prevent overfitting.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It helps the model stay simple and generalize better to new data.</a:t>
            </a:r>
          </a:p>
          <a:p>
            <a:pPr marL="342900" indent="-34290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tx1"/>
                </a:solidFill>
              </a:rPr>
              <a:t>Regularization means adding a small penalty to the model so it doesn’t become too complex.</a:t>
            </a:r>
          </a:p>
          <a:p>
            <a:pPr marL="342900" indent="-342900">
              <a:lnSpc>
                <a:spcPct val="100000"/>
              </a:lnSpc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tx1"/>
                </a:solidFill>
              </a:rPr>
              <a:t>Regularization helps the model:</a:t>
            </a:r>
          </a:p>
          <a:p>
            <a:pPr marL="800100" lvl="2" indent="-342900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●"/>
            </a:pPr>
            <a:r>
              <a:rPr lang="en-US" sz="2000" dirty="0">
                <a:solidFill>
                  <a:schemeClr val="tx1"/>
                </a:solidFill>
              </a:rPr>
              <a:t>Focus on important features</a:t>
            </a:r>
          </a:p>
          <a:p>
            <a:pPr marL="800100" lvl="2" indent="-342900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●"/>
            </a:pPr>
            <a:r>
              <a:rPr lang="en-US" sz="2000" dirty="0">
                <a:solidFill>
                  <a:schemeClr val="tx1"/>
                </a:solidFill>
              </a:rPr>
              <a:t>Ignore noise</a:t>
            </a:r>
          </a:p>
          <a:p>
            <a:pPr marL="800100" lvl="2" indent="-342900">
              <a:lnSpc>
                <a:spcPct val="100000"/>
              </a:lnSpc>
              <a:buClr>
                <a:schemeClr val="dk1"/>
              </a:buClr>
              <a:buSzPts val="2800"/>
              <a:buFont typeface="Arial"/>
              <a:buChar char="●"/>
            </a:pPr>
            <a:r>
              <a:rPr lang="en-US" sz="2000" dirty="0">
                <a:solidFill>
                  <a:schemeClr val="tx1"/>
                </a:solidFill>
              </a:rPr>
              <a:t>Stay smooth and stable</a:t>
            </a:r>
          </a:p>
          <a:p>
            <a:pPr marL="342900" indent="-342900">
              <a:lnSpc>
                <a:spcPct val="100000"/>
              </a:lnSpc>
              <a:buClr>
                <a:schemeClr val="dk1"/>
              </a:buClr>
              <a:buSzPts val="2800"/>
            </a:pPr>
            <a:endParaRPr lang="en-US" sz="2000" dirty="0">
              <a:solidFill>
                <a:schemeClr val="tx1"/>
              </a:solidFill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9175C69A-F91D-8260-2511-6C1F9035B4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335731"/>
            <a:ext cx="8520600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Regularization</a:t>
            </a:r>
            <a:endParaRPr dirty="0"/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0CD8BC5B-715B-FC52-F52A-A41ADB54A4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C1F137-8EC0-D361-7924-70DFEAD19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385" y="2869898"/>
            <a:ext cx="3699615" cy="227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13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4B536090-2D29-31B9-8549-08BE7CF3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5AA0CE0C-F919-9F69-29D7-27F7A0FDD5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951254"/>
            <a:ext cx="6262721" cy="3878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/>
              <a:t>L1 Regularization (Lasso)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the absolute value of weights as a penalty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make some weights exactly zero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for feature selection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removes unimportant features.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  <a:p>
            <a:r>
              <a:rPr lang="en-US" sz="2000" b="1" dirty="0">
                <a:sym typeface="Poppins"/>
              </a:rPr>
              <a:t>L2 Regularization (Ridge / Weight Decay)</a:t>
            </a: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Adds the square of weights as a penalty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Makes weights small but not zero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Makes the model smooth and stable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L2 reduces the strength of all features.</a:t>
            </a: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C85A95E6-3476-3121-C383-EAE33853F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335731"/>
            <a:ext cx="8520600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Types of Regularization (L1 and L2)</a:t>
            </a:r>
            <a:endParaRPr dirty="0"/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8D76FA5A-4D7F-FB8B-7BAF-E47E99D76D2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8" name="Picture 4" descr="L1 vs L2 regularization. Which is &quot;better&quot;? : r/learnmachinelearning">
            <a:extLst>
              <a:ext uri="{FF2B5EF4-FFF2-40B4-BE49-F238E27FC236}">
                <a16:creationId xmlns:a16="http://schemas.microsoft.com/office/drawing/2014/main" id="{DD1CB765-8823-6267-B6CA-756082C86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3374031"/>
            <a:ext cx="2918412" cy="176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Video 4] What do the diagonals on the graphs of L1 and L2 norms represent?  - Computational Linear Algebra - fast.ai Course Forums">
            <a:extLst>
              <a:ext uri="{FF2B5EF4-FFF2-40B4-BE49-F238E27FC236}">
                <a16:creationId xmlns:a16="http://schemas.microsoft.com/office/drawing/2014/main" id="{7073FAA7-A583-8935-DAAA-CB94B3E6E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648" y="1015815"/>
            <a:ext cx="3799756" cy="176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8402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A6450BBD-E1FB-0148-D00C-EFAE3F251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B2BE533-28F8-1614-2DF6-1864654ABE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951254"/>
            <a:ext cx="8812878" cy="38786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The </a:t>
            </a:r>
            <a:r>
              <a:rPr lang="en-US" sz="2000" b="1" dirty="0">
                <a:solidFill>
                  <a:schemeClr val="tx1"/>
                </a:solidFill>
              </a:rPr>
              <a:t>general form</a:t>
            </a:r>
            <a:r>
              <a:rPr lang="en-US" sz="2000" dirty="0">
                <a:solidFill>
                  <a:schemeClr val="tx1"/>
                </a:solidFill>
              </a:rPr>
              <a:t> of the loss function becomes:</a:t>
            </a:r>
          </a:p>
          <a:p>
            <a:pPr marL="139700" indent="0">
              <a:buNone/>
            </a:pPr>
            <a:r>
              <a:rPr lang="en-US" sz="2000" dirty="0">
                <a:solidFill>
                  <a:schemeClr val="tx1"/>
                </a:solidFill>
              </a:rPr>
              <a:t>		Loss=Original Loss+</a:t>
            </a:r>
            <a:r>
              <a:rPr lang="el-GR" sz="2000" dirty="0">
                <a:solidFill>
                  <a:schemeClr val="tx1"/>
                </a:solidFill>
              </a:rPr>
              <a:t>λ⋅</a:t>
            </a:r>
            <a:r>
              <a:rPr lang="en-US" sz="2000" dirty="0">
                <a:solidFill>
                  <a:schemeClr val="tx1"/>
                </a:solidFill>
              </a:rPr>
              <a:t>Penalty Term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l-GR" dirty="0">
                <a:solidFill>
                  <a:schemeClr val="tx1"/>
                </a:solidFill>
              </a:rPr>
              <a:t>λ </a:t>
            </a:r>
            <a:r>
              <a:rPr lang="en-US" dirty="0">
                <a:solidFill>
                  <a:schemeClr val="tx1"/>
                </a:solidFill>
              </a:rPr>
              <a:t>is the </a:t>
            </a:r>
            <a:r>
              <a:rPr lang="en-US" b="1" dirty="0">
                <a:solidFill>
                  <a:schemeClr val="tx1"/>
                </a:solidFill>
              </a:rPr>
              <a:t>regularization strength</a:t>
            </a:r>
            <a:r>
              <a:rPr lang="en-US" dirty="0">
                <a:solidFill>
                  <a:schemeClr val="tx1"/>
                </a:solidFill>
              </a:rPr>
              <a:t> (higher = stronger regularization)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Penalty term depends on </a:t>
            </a:r>
            <a:r>
              <a:rPr lang="en-US" b="1" dirty="0">
                <a:solidFill>
                  <a:schemeClr val="tx1"/>
                </a:solidFill>
              </a:rPr>
              <a:t>L1 or L2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A725DAFA-DAFC-85C3-F364-599AC5D1CA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40947"/>
            <a:ext cx="8520600" cy="6155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General Form</a:t>
            </a:r>
            <a:endParaRPr dirty="0"/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31BF71E1-DBCC-D1CF-FE64-EC0DCF249F6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00BC0090-B611-2652-6520-F7B13297E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572" y="2420790"/>
            <a:ext cx="5585147" cy="224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9736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310CBC7C-B988-5A86-6857-457251678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5FAD274D-9956-B276-EA5A-79B632825B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1059540"/>
            <a:ext cx="8812878" cy="38786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8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L1 regularization, also known as Lasso (Least Absolute Shrinkage and Selection Operator), adds a penalty equal to the absolute value of the magnitude of coefficients.</a:t>
            </a:r>
          </a:p>
          <a:p>
            <a:pPr algn="just"/>
            <a:r>
              <a:rPr lang="en-US" sz="18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function for L1 regularization can be written as:</a:t>
            </a:r>
          </a:p>
          <a:p>
            <a:pPr algn="just"/>
            <a:endParaRPr lang="en-US" sz="20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0" i="0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  <a:endParaRPr lang="en-US" sz="1200" b="0" i="0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yi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 is the actual output.</a:t>
            </a:r>
          </a:p>
          <a:p>
            <a:pPr lvl="1" algn="just"/>
            <a:r>
              <a:rPr lang="nn-NO" sz="14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yi(cap)​</a:t>
            </a:r>
            <a:r>
              <a:rPr lang="en-US" sz="14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 the input feature.</a:t>
            </a:r>
          </a:p>
          <a:p>
            <a:pPr lvl="1" algn="just"/>
            <a:r>
              <a:rPr lang="en-US" sz="1400" b="0" i="0" dirty="0" err="1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wj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 are the weights of feature j</a:t>
            </a:r>
          </a:p>
          <a:p>
            <a:pPr lvl="1" algn="just"/>
            <a:r>
              <a:rPr lang="en-US" sz="14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λ is the regularization parameter (hyperparameter) controlling the amount of regularization.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5F3A806A-4D0E-43F8-D168-4DFC8809C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40947"/>
            <a:ext cx="8520600" cy="954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lnSpc>
                <a:spcPts val="1800"/>
              </a:lnSpc>
              <a:spcAft>
                <a:spcPts val="600"/>
              </a:spcAft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L1 Regularization (Lasso)</a:t>
            </a:r>
            <a:b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Formulation</a:t>
            </a:r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ED20C794-114F-521A-A1CE-786AAD6B3B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5674DD-9386-5990-F992-BA6484522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628" y="2103079"/>
            <a:ext cx="3962743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83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309D7C61-AD95-E24A-2BBF-768896686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CFECC424-0671-6ED3-DB45-07D3784E40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909183"/>
            <a:ext cx="8812878" cy="38786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ts val="2100"/>
              </a:lnSpc>
              <a:buFont typeface="+mj-lt"/>
              <a:buAutoNum type="arabicPeriod"/>
            </a:pPr>
            <a:r>
              <a:rPr lang="en-US" sz="16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Sparse Solutions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L1 regularization tends to produce sparse models, meaning many coefficients are exactly zero, leading to feature selection.</a:t>
            </a:r>
          </a:p>
          <a:p>
            <a:pPr algn="l">
              <a:lnSpc>
                <a:spcPts val="2100"/>
              </a:lnSpc>
              <a:buFont typeface="+mj-lt"/>
              <a:buAutoNum type="arabicPeriod"/>
            </a:pPr>
            <a:r>
              <a:rPr lang="en-US" sz="16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It is beneficial when we have a large number of features, as it can automatically select the most relevant ones.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 some weights to zero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effectively performing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for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data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(many features, some irrelevant).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simplify the model, making it easier to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features are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highly correlated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L1 may pick one randomly and ignore the rest.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unstable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when features are very similar or small sample size.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Doesn’t handle multicollinearity well. </a:t>
            </a:r>
            <a:endParaRPr lang="en-US" sz="1400" b="0" i="0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constraint: ∣w</a:t>
            </a:r>
            <a:r>
              <a:rPr 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∣+∣w</a:t>
            </a:r>
            <a:r>
              <a:rPr lang="en-US" sz="20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∣≤t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diamond in 2D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(because the sum of absolute values forms straight edges).</a:t>
            </a:r>
          </a:p>
          <a:p>
            <a:pPr marL="0" indent="0">
              <a:lnSpc>
                <a:spcPct val="100000"/>
              </a:lnSpc>
              <a:buClr>
                <a:schemeClr val="dk1"/>
              </a:buClr>
              <a:buSzPts val="2800"/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5030E3EE-70DC-3CC4-AD29-7F063FA4BE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40947"/>
            <a:ext cx="8520600" cy="4154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 of L1</a:t>
            </a:r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EC039ECA-A368-D650-6D3B-22D41B957A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B7C80F-F5A3-ACA1-5EDA-DDB8F60BFF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369" y="1004832"/>
            <a:ext cx="2083070" cy="292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577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788D9A49-A814-5B6A-1B5D-11DE11391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808C7EF5-70BC-36B5-3620-D07A59189F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1059540"/>
            <a:ext cx="8812878" cy="38786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8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L2 regularization, also known as Ridge regression, adds a penalty equal to the square of the magnitude of coefficients. </a:t>
            </a:r>
          </a:p>
          <a:p>
            <a:pPr algn="just"/>
            <a:r>
              <a:rPr lang="en-US" sz="1800" b="0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function for L2 regularization can be written as:</a:t>
            </a:r>
          </a:p>
          <a:p>
            <a:pPr algn="just"/>
            <a:endParaRPr lang="en-US" sz="18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b="0" i="0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 shrinks weights, but does not make them exactly zero.</a:t>
            </a:r>
          </a:p>
          <a:p>
            <a:pPr algn="just"/>
            <a:r>
              <a:rPr lang="en-US" sz="18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used when:</a:t>
            </a:r>
          </a:p>
          <a:p>
            <a:pPr lvl="1" algn="just"/>
            <a:r>
              <a:rPr lang="en-US" sz="18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features are important</a:t>
            </a:r>
          </a:p>
          <a:p>
            <a:pPr lvl="1" algn="just"/>
            <a:r>
              <a:rPr lang="en-US" sz="18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want to reduce variance (overfitting)</a:t>
            </a:r>
          </a:p>
          <a:p>
            <a:pPr lvl="1" algn="just"/>
            <a:r>
              <a:rPr lang="en-US" sz="18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correlated features</a:t>
            </a:r>
          </a:p>
          <a:p>
            <a:pPr algn="just"/>
            <a:endParaRPr lang="en-US" sz="18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344B5C5A-E966-6B1E-AFB3-9435B23F4D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40947"/>
            <a:ext cx="8520600" cy="954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lnSpc>
                <a:spcPts val="1800"/>
              </a:lnSpc>
              <a:spcAft>
                <a:spcPts val="600"/>
              </a:spcAft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L2 Regularization (Ridge)</a:t>
            </a:r>
            <a:b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Formulation</a:t>
            </a:r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38B4C985-37DE-34C6-7342-029D99F56C9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F39754-5BE6-83FD-372C-F068ACB45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809" y="2102888"/>
            <a:ext cx="3635055" cy="89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16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C52E-760F-CFB6-8F01-BD196A910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88275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 and Cons of L2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19E21-170E-9833-FA11-55DE7EDE6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19756"/>
            <a:ext cx="3999900" cy="195791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Shrinks weights smoothly → reduces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 / variance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well when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features are useful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multicollinearity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better than L1.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 L1.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824D90-C37A-A40E-9D99-5DE40C2C71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919756"/>
            <a:ext cx="3999900" cy="176784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Cons: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Does </a:t>
            </a:r>
            <a:r>
              <a:rPr lang="en-US" b="1" dirty="0">
                <a:solidFill>
                  <a:schemeClr val="tx1"/>
                </a:solidFill>
              </a:rPr>
              <a:t>not perform feature selection</a:t>
            </a:r>
            <a:r>
              <a:rPr lang="en-US" dirty="0">
                <a:solidFill>
                  <a:schemeClr val="tx1"/>
                </a:solidFill>
              </a:rPr>
              <a:t> (all weights stay non-zero).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Model may be </a:t>
            </a:r>
            <a:r>
              <a:rPr lang="en-US" b="1" dirty="0">
                <a:solidFill>
                  <a:schemeClr val="tx1"/>
                </a:solidFill>
              </a:rPr>
              <a:t>less interpretable</a:t>
            </a:r>
            <a:r>
              <a:rPr lang="en-US" dirty="0">
                <a:solidFill>
                  <a:schemeClr val="tx1"/>
                </a:solidFill>
              </a:rPr>
              <a:t> with many small weights.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Can still overfit if λ is too small. 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7DA64D-F03E-CFEB-01BD-006D8AB6CF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1369694"/>
              </p:ext>
            </p:extLst>
          </p:nvPr>
        </p:nvGraphicFramePr>
        <p:xfrm>
          <a:off x="571550" y="3087385"/>
          <a:ext cx="8521700" cy="1767840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2729791805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9321264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59486105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6433299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Regularization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When to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2620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L1 (Lasso)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selection, sparse model, interpretable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Ignores correlated features randomly, unstable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High-dimensional data, many irrelevant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91014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L2 (Ridge)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Reduces variance, stable, keeps all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feature selection, less interpretable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features matter, correlated features, reduce overfitting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650073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97BE3F31-D7A6-FA8D-5999-19285A791F4E}"/>
              </a:ext>
            </a:extLst>
          </p:cNvPr>
          <p:cNvSpPr txBox="1">
            <a:spLocks/>
          </p:cNvSpPr>
          <p:nvPr/>
        </p:nvSpPr>
        <p:spPr>
          <a:xfrm>
            <a:off x="204124" y="250486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L1 and L2</a:t>
            </a:r>
          </a:p>
        </p:txBody>
      </p:sp>
    </p:spTree>
    <p:extLst>
      <p:ext uri="{BB962C8B-B14F-4D97-AF65-F5344CB8AC3E}">
        <p14:creationId xmlns:p14="http://schemas.microsoft.com/office/powerpoint/2010/main" val="3393328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FA130A09-12BB-01F2-C077-363840D5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226B333-D9E5-3D6F-84AE-7CBF92A26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697769"/>
            <a:ext cx="8812878" cy="38786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is a resampling technique used to evaluate machine learning models by training and testing the model on different subsets of available data.</a:t>
            </a:r>
          </a:p>
          <a:p>
            <a:pPr lvl="1" algn="just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assess how the results of a statistical analysis will generalize to an independent data set.</a:t>
            </a:r>
          </a:p>
          <a:p>
            <a:pPr lvl="1" algn="just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Overfitting (where a model performs well on training data but poorly on new data) and Underfitting.</a:t>
            </a:r>
          </a:p>
          <a:p>
            <a:pPr lvl="1" algn="just"/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every observation in the dataset has the chance to be used in both training and testing.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CDD798D9-BE11-600F-BA4C-37E36D8481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037" y="205357"/>
            <a:ext cx="8520600" cy="492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lnSpc>
                <a:spcPts val="1800"/>
              </a:lnSpc>
              <a:spcAft>
                <a:spcPts val="600"/>
              </a:spcAft>
            </a:pPr>
            <a:r>
              <a:rPr lang="en-US" b="1" i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</a:t>
            </a:r>
            <a:endParaRPr lang="en-US" b="1" i="0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35AAEF8D-4C2F-23ED-8D45-2B345BC97E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262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CC3A1A6F-F6EF-165F-ACF6-8202C6C7B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37593A94-3A4D-FD52-008C-885F042666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697769"/>
            <a:ext cx="8812878" cy="38786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Cross-validation is a resampling technique used to evaluate machine learning models by training and testing the model on different subsets of available data.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D5C492FD-06AA-90B5-E6FB-9FED24212D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037" y="205357"/>
            <a:ext cx="8520600" cy="492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lnSpc>
                <a:spcPts val="1800"/>
              </a:lnSpc>
              <a:spcAft>
                <a:spcPts val="600"/>
              </a:spcAft>
            </a:pPr>
            <a:r>
              <a:rPr lang="en-US" b="1" i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</a:t>
            </a:r>
            <a:endParaRPr lang="en-US" b="1" i="0" dirty="0">
              <a:solidFill>
                <a:srgbClr val="24242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96796404-B7F2-AAB4-7DC2-35E7967CB57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932FCC-6CCD-B446-4004-8F614B9FC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453" y="2072212"/>
            <a:ext cx="5971348" cy="299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72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87178278-04B8-41E2-97AE-2F24EA78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F53DE914-2DA9-8B77-6C07-64ABB90C6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697769"/>
            <a:ext cx="8812878" cy="38786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09600" lvl="1" indent="-377825" algn="just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Cross Validation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assess how the results of a statistical analysis will generalize to an independent data set.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Overfitting (where a model performs well on training data but poorly on new data) and Underfitting.</a:t>
            </a:r>
          </a:p>
          <a:p>
            <a:pPr lvl="1"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every observation in the dataset has the chance to be used in both training and testing.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17968B5D-72E9-7E90-6C90-97495F5123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037" y="205357"/>
            <a:ext cx="8520600" cy="492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lnSpc>
                <a:spcPts val="1800"/>
              </a:lnSpc>
              <a:spcAft>
                <a:spcPts val="600"/>
              </a:spcAft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Cross Validation</a:t>
            </a:r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40212485-A0B2-E806-0FCC-BA9FAC3F3CB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03D9C6-1780-2D9D-BF0D-3B0BB21D0108}"/>
              </a:ext>
            </a:extLst>
          </p:cNvPr>
          <p:cNvSpPr txBox="1"/>
          <p:nvPr/>
        </p:nvSpPr>
        <p:spPr>
          <a:xfrm>
            <a:off x="2039256" y="4576372"/>
            <a:ext cx="5747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 https://neptune.ai/blog/cross-validation-in-machine-learning-how-to-do-it-right</a:t>
            </a:r>
          </a:p>
        </p:txBody>
      </p:sp>
    </p:spTree>
    <p:extLst>
      <p:ext uri="{BB962C8B-B14F-4D97-AF65-F5344CB8AC3E}">
        <p14:creationId xmlns:p14="http://schemas.microsoft.com/office/powerpoint/2010/main" val="895041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>
          <a:extLst>
            <a:ext uri="{FF2B5EF4-FFF2-40B4-BE49-F238E27FC236}">
              <a16:creationId xmlns:a16="http://schemas.microsoft.com/office/drawing/2014/main" id="{8321599E-EC27-26EF-E4AF-22DE1269B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68AE3065-AAD0-8FCE-A65B-F57A88A9A9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3898" y="697769"/>
            <a:ext cx="8812878" cy="387860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Hold-out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K-folds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Leave-one-out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Leave-p-out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Stratified K-folds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Repeated K-folds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Nested K-folds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IBM Plex Sans" panose="020B0503050203000203" pitchFamily="34" charset="0"/>
              </a:rPr>
              <a:t>Time series CV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70305E1F-904C-2E02-A23C-9B7603D025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0037" y="205357"/>
            <a:ext cx="8520600" cy="4924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>
              <a:lnSpc>
                <a:spcPts val="1800"/>
              </a:lnSpc>
              <a:spcAft>
                <a:spcPts val="600"/>
              </a:spcAft>
            </a:pPr>
            <a:r>
              <a:rPr lang="en-US" b="1" i="0" dirty="0">
                <a:solidFill>
                  <a:srgbClr val="24242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Types of Cross Validation</a:t>
            </a:r>
          </a:p>
        </p:txBody>
      </p:sp>
      <p:pic>
        <p:nvPicPr>
          <p:cNvPr id="79" name="Google Shape;79;p15" title="Primary Logo_horizontal-01.png">
            <a:extLst>
              <a:ext uri="{FF2B5EF4-FFF2-40B4-BE49-F238E27FC236}">
                <a16:creationId xmlns:a16="http://schemas.microsoft.com/office/drawing/2014/main" id="{DF9C2E7F-7FE8-3477-0310-F5149FB012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3EDEF3-C3AF-50C8-60E7-409B4772C9C3}"/>
              </a:ext>
            </a:extLst>
          </p:cNvPr>
          <p:cNvSpPr txBox="1"/>
          <p:nvPr/>
        </p:nvSpPr>
        <p:spPr>
          <a:xfrm>
            <a:off x="2039256" y="4576372"/>
            <a:ext cx="5747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 https://neptune.ai/blog/cross-validation-in-machine-learning-how-to-do-it-right</a:t>
            </a:r>
          </a:p>
        </p:txBody>
      </p:sp>
    </p:spTree>
    <p:extLst>
      <p:ext uri="{BB962C8B-B14F-4D97-AF65-F5344CB8AC3E}">
        <p14:creationId xmlns:p14="http://schemas.microsoft.com/office/powerpoint/2010/main" val="2384831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530675" y="394600"/>
            <a:ext cx="8096400" cy="37965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E1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2880900" y="1116475"/>
            <a:ext cx="33822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45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8" title="Primary Logo_horizontal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1496</Words>
  <Application>Microsoft Office PowerPoint</Application>
  <PresentationFormat>On-screen Show (16:9)</PresentationFormat>
  <Paragraphs>184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Poppins Medium</vt:lpstr>
      <vt:lpstr>Arial</vt:lpstr>
      <vt:lpstr>Poppins</vt:lpstr>
      <vt:lpstr>Poppins SemiBold</vt:lpstr>
      <vt:lpstr>Times New Roman</vt:lpstr>
      <vt:lpstr>IBM Plex Sans</vt:lpstr>
      <vt:lpstr>Simple Light</vt:lpstr>
      <vt:lpstr>Generalization in ML: Bias-Variance Tradeoff, Validation and Model Performance</vt:lpstr>
      <vt:lpstr>PowerPoint Presentation</vt:lpstr>
      <vt:lpstr>Bias – Variance Tradeoff</vt:lpstr>
      <vt:lpstr>Bias</vt:lpstr>
      <vt:lpstr>Bias</vt:lpstr>
      <vt:lpstr>Variance</vt:lpstr>
      <vt:lpstr>Bias and Variance Trade-off</vt:lpstr>
      <vt:lpstr>Regularization</vt:lpstr>
      <vt:lpstr>Types of Regularization (L1 and L2)</vt:lpstr>
      <vt:lpstr>General Form</vt:lpstr>
      <vt:lpstr>L1 Regularization (Lasso)  Mathematical Formulation</vt:lpstr>
      <vt:lpstr>Key Characteristics of L1</vt:lpstr>
      <vt:lpstr>L2 Regularization (Ridge)  Mathematical Formulation</vt:lpstr>
      <vt:lpstr>Pros and Cons of L2</vt:lpstr>
      <vt:lpstr>Cross Validation</vt:lpstr>
      <vt:lpstr>Cross Validation</vt:lpstr>
      <vt:lpstr>Objectives of Cross Validation</vt:lpstr>
      <vt:lpstr>Types of Cross Validation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Nwe Nwe</cp:lastModifiedBy>
  <cp:revision>39</cp:revision>
  <dcterms:modified xsi:type="dcterms:W3CDTF">2026-01-26T04:36:15Z</dcterms:modified>
</cp:coreProperties>
</file>