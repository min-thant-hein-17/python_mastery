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311" r:id="rId2"/>
    <p:sldId id="324" r:id="rId3"/>
    <p:sldId id="325" r:id="rId4"/>
    <p:sldId id="326" r:id="rId5"/>
    <p:sldId id="327" r:id="rId6"/>
    <p:sldId id="328" r:id="rId7"/>
    <p:sldId id="330" r:id="rId8"/>
    <p:sldId id="331" r:id="rId9"/>
    <p:sldId id="332" r:id="rId10"/>
    <p:sldId id="333" r:id="rId11"/>
    <p:sldId id="329" r:id="rId12"/>
    <p:sldId id="334" r:id="rId13"/>
    <p:sldId id="336" r:id="rId14"/>
    <p:sldId id="337" r:id="rId15"/>
    <p:sldId id="338" r:id="rId16"/>
    <p:sldId id="339" r:id="rId17"/>
    <p:sldId id="340" r:id="rId18"/>
    <p:sldId id="341" r:id="rId19"/>
    <p:sldId id="335" r:id="rId20"/>
    <p:sldId id="26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546" autoAdjust="0"/>
  </p:normalViewPr>
  <p:slideViewPr>
    <p:cSldViewPr snapToGrid="0">
      <p:cViewPr varScale="1">
        <p:scale>
          <a:sx n="67" d="100"/>
          <a:sy n="67" d="100"/>
        </p:scale>
        <p:origin x="121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FFCF9-AFC2-4A61-80FB-F628B51C2EDF}" type="datetimeFigureOut">
              <a:rPr lang="en-US" smtClean="0"/>
              <a:t>01-Feb-26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EA552-5BEB-4EAC-B9C7-6962425A1BF8}" type="slidenum">
              <a:rPr lang="en-US" smtClean="0"/>
              <a:t>‹#›</a:t>
            </a:fld>
            <a:endParaRPr lang="en-US"/>
          </a:p>
        </p:txBody>
      </p:sp>
    </p:spTree>
    <p:extLst>
      <p:ext uri="{BB962C8B-B14F-4D97-AF65-F5344CB8AC3E}">
        <p14:creationId xmlns:p14="http://schemas.microsoft.com/office/powerpoint/2010/main" val="208948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FEA552-5BEB-4EAC-B9C7-6962425A1BF8}" type="slidenum">
              <a:rPr lang="en-US" smtClean="0"/>
              <a:t>3</a:t>
            </a:fld>
            <a:endParaRPr lang="en-US"/>
          </a:p>
        </p:txBody>
      </p:sp>
    </p:spTree>
    <p:extLst>
      <p:ext uri="{BB962C8B-B14F-4D97-AF65-F5344CB8AC3E}">
        <p14:creationId xmlns:p14="http://schemas.microsoft.com/office/powerpoint/2010/main" val="3615258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D3F8791-F5D1-4068-95B9-2D8392E3D39C}" type="slidenum">
              <a:rPr lang="en-US" smtClean="0"/>
              <a:t>‹#›</a:t>
            </a:fld>
            <a:endParaRPr lang="en-US"/>
          </a:p>
        </p:txBody>
      </p:sp>
      <p:sp>
        <p:nvSpPr>
          <p:cNvPr id="10" name="TextBox 9">
            <a:extLst>
              <a:ext uri="{FF2B5EF4-FFF2-40B4-BE49-F238E27FC236}">
                <a16:creationId xmlns:a16="http://schemas.microsoft.com/office/drawing/2014/main" id="{2D095371-01EC-4B01-520B-B4291FB65544}"/>
              </a:ext>
            </a:extLst>
          </p:cNvPr>
          <p:cNvSpPr txBox="1"/>
          <p:nvPr/>
        </p:nvSpPr>
        <p:spPr>
          <a:xfrm>
            <a:off x="10547677" y="768987"/>
            <a:ext cx="1644323" cy="307777"/>
          </a:xfrm>
          <a:prstGeom prst="rect">
            <a:avLst/>
          </a:prstGeom>
          <a:solidFill>
            <a:schemeClr val="accent1">
              <a:lumMod val="60000"/>
              <a:lumOff val="40000"/>
            </a:schemeClr>
          </a:solidFill>
        </p:spPr>
        <p:txBody>
          <a:bodyPr wrap="square" rtlCol="0">
            <a:spAutoFit/>
          </a:bodyPr>
          <a:lstStyle/>
          <a:p>
            <a:pPr algn="ctr"/>
            <a:r>
              <a:rPr lang="en-US" sz="1400" dirty="0" err="1"/>
              <a:t>Parami</a:t>
            </a:r>
            <a:r>
              <a:rPr lang="en-US" sz="1400" dirty="0"/>
              <a:t> University</a:t>
            </a:r>
          </a:p>
        </p:txBody>
      </p:sp>
      <p:sp>
        <p:nvSpPr>
          <p:cNvPr id="11" name="Flowchart: Connector 10">
            <a:extLst>
              <a:ext uri="{FF2B5EF4-FFF2-40B4-BE49-F238E27FC236}">
                <a16:creationId xmlns:a16="http://schemas.microsoft.com/office/drawing/2014/main" id="{41E8FB5C-44C4-FF9B-19A8-722FFAF8C967}"/>
              </a:ext>
            </a:extLst>
          </p:cNvPr>
          <p:cNvSpPr/>
          <p:nvPr/>
        </p:nvSpPr>
        <p:spPr>
          <a:xfrm>
            <a:off x="11036290" y="14980"/>
            <a:ext cx="667096" cy="684374"/>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9928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82542" y="357167"/>
            <a:ext cx="9508098"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129867" y="1762125"/>
            <a:ext cx="10538257" cy="4288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6" name="Slide Number Placeholder 5"/>
          <p:cNvSpPr>
            <a:spLocks noGrp="1"/>
          </p:cNvSpPr>
          <p:nvPr>
            <p:ph type="sldNum" sz="quarter" idx="12"/>
          </p:nvPr>
        </p:nvSpPr>
        <p:spPr>
          <a:xfrm>
            <a:off x="262142" y="443177"/>
            <a:ext cx="779767" cy="365125"/>
          </a:xfrm>
        </p:spPr>
        <p:txBody>
          <a:bodyPr/>
          <a:lstStyle/>
          <a:p>
            <a:fld id="{8D3F8791-F5D1-4068-95B9-2D8392E3D39C}" type="slidenum">
              <a:rPr lang="en-US" smtClean="0"/>
              <a:t>‹#›</a:t>
            </a:fld>
            <a:endParaRPr lang="en-US"/>
          </a:p>
        </p:txBody>
      </p:sp>
      <p:grpSp>
        <p:nvGrpSpPr>
          <p:cNvPr id="10" name="Group 9">
            <a:extLst>
              <a:ext uri="{FF2B5EF4-FFF2-40B4-BE49-F238E27FC236}">
                <a16:creationId xmlns:a16="http://schemas.microsoft.com/office/drawing/2014/main" id="{D5937347-A92F-44CC-0B6E-8C9AAAB09328}"/>
              </a:ext>
            </a:extLst>
          </p:cNvPr>
          <p:cNvGrpSpPr/>
          <p:nvPr/>
        </p:nvGrpSpPr>
        <p:grpSpPr>
          <a:xfrm>
            <a:off x="10890640" y="38322"/>
            <a:ext cx="1277633" cy="714376"/>
            <a:chOff x="484246" y="1977664"/>
            <a:chExt cx="1656026" cy="1118890"/>
          </a:xfrm>
        </p:grpSpPr>
        <p:sp>
          <p:nvSpPr>
            <p:cNvPr id="7" name="TextBox 6">
              <a:extLst>
                <a:ext uri="{FF2B5EF4-FFF2-40B4-BE49-F238E27FC236}">
                  <a16:creationId xmlns:a16="http://schemas.microsoft.com/office/drawing/2014/main" id="{23FA6463-91D9-030A-6D12-683B9163D66D}"/>
                </a:ext>
              </a:extLst>
            </p:cNvPr>
            <p:cNvSpPr txBox="1"/>
            <p:nvPr userDrawn="1"/>
          </p:nvSpPr>
          <p:spPr>
            <a:xfrm>
              <a:off x="484246" y="2698859"/>
              <a:ext cx="1656026" cy="397695"/>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9" name="Flowchart: Connector 8">
              <a:extLst>
                <a:ext uri="{FF2B5EF4-FFF2-40B4-BE49-F238E27FC236}">
                  <a16:creationId xmlns:a16="http://schemas.microsoft.com/office/drawing/2014/main" id="{9A099F39-04BF-723C-2317-A9E56DE30984}"/>
                </a:ext>
              </a:extLst>
            </p:cNvPr>
            <p:cNvSpPr/>
            <p:nvPr userDrawn="1"/>
          </p:nvSpPr>
          <p:spPr>
            <a:xfrm>
              <a:off x="935289" y="1977664"/>
              <a:ext cx="646524" cy="721193"/>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497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1199" y="157217"/>
            <a:ext cx="9202499" cy="86040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351199" y="1817677"/>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5" name="Footer Placeholder 4"/>
          <p:cNvSpPr>
            <a:spLocks noGrp="1"/>
          </p:cNvSpPr>
          <p:nvPr>
            <p:ph type="ftr" sz="quarter" idx="11"/>
          </p:nvPr>
        </p:nvSpPr>
        <p:spPr>
          <a:xfrm>
            <a:off x="1638299" y="6147432"/>
            <a:ext cx="7619999" cy="365125"/>
          </a:xfrm>
        </p:spPr>
        <p:txBody>
          <a:bodyPr/>
          <a:lstStyle/>
          <a:p>
            <a:endParaRPr lang="en-US"/>
          </a:p>
        </p:txBody>
      </p:sp>
      <p:sp>
        <p:nvSpPr>
          <p:cNvPr id="7" name="TextBox 6">
            <a:extLst>
              <a:ext uri="{FF2B5EF4-FFF2-40B4-BE49-F238E27FC236}">
                <a16:creationId xmlns:a16="http://schemas.microsoft.com/office/drawing/2014/main" id="{57060EF0-1AEA-441C-46EF-C195906B087B}"/>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8" name="Flowchart: Connector 7">
            <a:extLst>
              <a:ext uri="{FF2B5EF4-FFF2-40B4-BE49-F238E27FC236}">
                <a16:creationId xmlns:a16="http://schemas.microsoft.com/office/drawing/2014/main" id="{23F49662-6FE7-3E02-A68B-4EA249B068B5}"/>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3962965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257348" y="366256"/>
            <a:ext cx="9916084" cy="103391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236102" y="1664634"/>
            <a:ext cx="4859898" cy="425991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5390" y="1664633"/>
            <a:ext cx="4859898" cy="420661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B83156-3BD6-475C-A5AB-0B563C322ED0}" type="datetimeFigureOut">
              <a:rPr lang="en-US" smtClean="0"/>
              <a:t>01-Feb-26</a:t>
            </a:fld>
            <a:endParaRPr lang="en-US"/>
          </a:p>
        </p:txBody>
      </p:sp>
      <p:sp>
        <p:nvSpPr>
          <p:cNvPr id="6" name="Footer Placeholder 5"/>
          <p:cNvSpPr>
            <a:spLocks noGrp="1"/>
          </p:cNvSpPr>
          <p:nvPr>
            <p:ph type="ftr" sz="quarter" idx="11"/>
          </p:nvPr>
        </p:nvSpPr>
        <p:spPr>
          <a:xfrm>
            <a:off x="1588527" y="6135708"/>
            <a:ext cx="8374623" cy="365125"/>
          </a:xfrm>
        </p:spPr>
        <p:txBody>
          <a:bodyPr/>
          <a:lstStyle/>
          <a:p>
            <a:endParaRPr lang="en-US"/>
          </a:p>
        </p:txBody>
      </p:sp>
      <p:sp>
        <p:nvSpPr>
          <p:cNvPr id="11" name="Slide Number Placeholder 5"/>
          <p:cNvSpPr>
            <a:spLocks noGrp="1"/>
          </p:cNvSpPr>
          <p:nvPr>
            <p:ph type="sldNum" sz="quarter" idx="12"/>
          </p:nvPr>
        </p:nvSpPr>
        <p:spPr>
          <a:xfrm>
            <a:off x="379140" y="460586"/>
            <a:ext cx="779767" cy="365125"/>
          </a:xfrm>
        </p:spPr>
        <p:txBody>
          <a:bodyPr/>
          <a:lstStyle/>
          <a:p>
            <a:fld id="{8D3F8791-F5D1-4068-95B9-2D8392E3D39C}" type="slidenum">
              <a:rPr lang="en-US" smtClean="0"/>
              <a:t>‹#›</a:t>
            </a:fld>
            <a:endParaRPr lang="en-US"/>
          </a:p>
        </p:txBody>
      </p:sp>
      <p:sp>
        <p:nvSpPr>
          <p:cNvPr id="2" name="TextBox 1">
            <a:extLst>
              <a:ext uri="{FF2B5EF4-FFF2-40B4-BE49-F238E27FC236}">
                <a16:creationId xmlns:a16="http://schemas.microsoft.com/office/drawing/2014/main" id="{24CA5F0F-7869-4414-86B4-048FDFAA320A}"/>
              </a:ext>
            </a:extLst>
          </p:cNvPr>
          <p:cNvSpPr txBox="1"/>
          <p:nvPr/>
        </p:nvSpPr>
        <p:spPr>
          <a:xfrm>
            <a:off x="10914367" y="489035"/>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7" name="Flowchart: Connector 6">
            <a:extLst>
              <a:ext uri="{FF2B5EF4-FFF2-40B4-BE49-F238E27FC236}">
                <a16:creationId xmlns:a16="http://schemas.microsoft.com/office/drawing/2014/main" id="{B7778619-2549-45E1-0CCA-523028551372}"/>
              </a:ext>
            </a:extLst>
          </p:cNvPr>
          <p:cNvSpPr/>
          <p:nvPr/>
        </p:nvSpPr>
        <p:spPr>
          <a:xfrm>
            <a:off x="11271874" y="28575"/>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4172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454114" y="317434"/>
            <a:ext cx="9149358" cy="918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54113" y="1452101"/>
            <a:ext cx="434289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54114" y="2242660"/>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0686" y="1465136"/>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6000" y="2242660"/>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030331" y="6151095"/>
            <a:ext cx="1146283" cy="370396"/>
          </a:xfrm>
        </p:spPr>
        <p:txBody>
          <a:bodyPr/>
          <a:lstStyle/>
          <a:p>
            <a:fld id="{83B83156-3BD6-475C-A5AB-0B563C322ED0}" type="datetimeFigureOut">
              <a:rPr lang="en-US" smtClean="0"/>
              <a:t>01-Feb-26</a:t>
            </a:fld>
            <a:endParaRPr lang="en-US"/>
          </a:p>
        </p:txBody>
      </p:sp>
      <p:sp>
        <p:nvSpPr>
          <p:cNvPr id="8" name="Footer Placeholder 7"/>
          <p:cNvSpPr>
            <a:spLocks noGrp="1"/>
          </p:cNvSpPr>
          <p:nvPr>
            <p:ph type="ftr" sz="quarter" idx="11"/>
          </p:nvPr>
        </p:nvSpPr>
        <p:spPr>
          <a:xfrm>
            <a:off x="1454113" y="5826404"/>
            <a:ext cx="8289962" cy="365125"/>
          </a:xfrm>
        </p:spPr>
        <p:txBody>
          <a:bodyPr/>
          <a:lstStyle/>
          <a:p>
            <a:endParaRPr lang="en-US"/>
          </a:p>
        </p:txBody>
      </p:sp>
      <p:sp>
        <p:nvSpPr>
          <p:cNvPr id="11" name="TextBox 10">
            <a:extLst>
              <a:ext uri="{FF2B5EF4-FFF2-40B4-BE49-F238E27FC236}">
                <a16:creationId xmlns:a16="http://schemas.microsoft.com/office/drawing/2014/main" id="{EE2D6CF6-1224-99C2-C259-1759C76AEF85}"/>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14" name="Flowchart: Connector 13">
            <a:extLst>
              <a:ext uri="{FF2B5EF4-FFF2-40B4-BE49-F238E27FC236}">
                <a16:creationId xmlns:a16="http://schemas.microsoft.com/office/drawing/2014/main" id="{D169D23F-BD0C-EB67-7B58-E2E606EFAB89}"/>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5E75C15A-6CEE-1EA6-19ED-7F04DB21764A}"/>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2948199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49925" y="319269"/>
            <a:ext cx="8911687"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B83156-3BD6-475C-A5AB-0B563C322ED0}" type="datetimeFigureOut">
              <a:rPr lang="en-US" smtClean="0"/>
              <a:t>01-Feb-26</a:t>
            </a:fld>
            <a:endParaRPr lang="en-US"/>
          </a:p>
        </p:txBody>
      </p:sp>
      <p:sp>
        <p:nvSpPr>
          <p:cNvPr id="4" name="Footer Placeholder 3"/>
          <p:cNvSpPr>
            <a:spLocks noGrp="1"/>
          </p:cNvSpPr>
          <p:nvPr>
            <p:ph type="ftr" sz="quarter" idx="11"/>
          </p:nvPr>
        </p:nvSpPr>
        <p:spPr>
          <a:xfrm>
            <a:off x="1684337" y="6130437"/>
            <a:ext cx="7619999" cy="365125"/>
          </a:xfrm>
        </p:spPr>
        <p:txBody>
          <a:bodyPr/>
          <a:lstStyle/>
          <a:p>
            <a:endParaRPr lang="en-US"/>
          </a:p>
        </p:txBody>
      </p:sp>
      <p:sp>
        <p:nvSpPr>
          <p:cNvPr id="6" name="TextBox 5">
            <a:extLst>
              <a:ext uri="{FF2B5EF4-FFF2-40B4-BE49-F238E27FC236}">
                <a16:creationId xmlns:a16="http://schemas.microsoft.com/office/drawing/2014/main" id="{224BF19B-C077-A294-183E-CC76AE84EF83}"/>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8" name="Flowchart: Connector 7">
            <a:extLst>
              <a:ext uri="{FF2B5EF4-FFF2-40B4-BE49-F238E27FC236}">
                <a16:creationId xmlns:a16="http://schemas.microsoft.com/office/drawing/2014/main" id="{6C0AFC15-2C4A-2F72-7657-04B6ED5B567E}"/>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2BCDF6B4-42FD-2080-D7DA-D8E5895DE3A3}"/>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278311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B83156-3BD6-475C-A5AB-0B563C322ED0}" type="datetimeFigureOut">
              <a:rPr lang="en-US" smtClean="0"/>
              <a:t>01-Feb-26</a:t>
            </a:fld>
            <a:endParaRPr lang="en-US"/>
          </a:p>
        </p:txBody>
      </p:sp>
      <p:sp>
        <p:nvSpPr>
          <p:cNvPr id="3" name="Footer Placeholder 2"/>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7136C9DB-AC16-AA52-1CC1-C1789100EA9C}"/>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7" name="Flowchart: Connector 6">
            <a:extLst>
              <a:ext uri="{FF2B5EF4-FFF2-40B4-BE49-F238E27FC236}">
                <a16:creationId xmlns:a16="http://schemas.microsoft.com/office/drawing/2014/main" id="{B3A6A9A0-F393-F488-686F-7C9DF81F3921}"/>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50569224-446A-7E61-7439-44A9E196701E}"/>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9893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41487" y="347542"/>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462576" y="347542"/>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41487" y="1598611"/>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B83156-3BD6-475C-A5AB-0B563C322ED0}" type="datetimeFigureOut">
              <a:rPr lang="en-US" smtClean="0"/>
              <a:t>01-Feb-26</a:t>
            </a:fld>
            <a:endParaRPr lang="en-US"/>
          </a:p>
        </p:txBody>
      </p:sp>
      <p:sp>
        <p:nvSpPr>
          <p:cNvPr id="6" name="Footer Placeholder 5"/>
          <p:cNvSpPr>
            <a:spLocks noGrp="1"/>
          </p:cNvSpPr>
          <p:nvPr>
            <p:ph type="ftr" sz="quarter" idx="11"/>
          </p:nvPr>
        </p:nvSpPr>
        <p:spPr>
          <a:xfrm>
            <a:off x="1741487" y="6145333"/>
            <a:ext cx="7619999" cy="365125"/>
          </a:xfrm>
        </p:spPr>
        <p:txBody>
          <a:bodyPr/>
          <a:lstStyle/>
          <a:p>
            <a:endParaRPr lang="en-US"/>
          </a:p>
        </p:txBody>
      </p:sp>
      <p:sp>
        <p:nvSpPr>
          <p:cNvPr id="8" name="TextBox 7">
            <a:extLst>
              <a:ext uri="{FF2B5EF4-FFF2-40B4-BE49-F238E27FC236}">
                <a16:creationId xmlns:a16="http://schemas.microsoft.com/office/drawing/2014/main" id="{49FF9CEA-B945-DA93-D2B7-6BE83810EC43}"/>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10" name="Flowchart: Connector 9">
            <a:extLst>
              <a:ext uri="{FF2B5EF4-FFF2-40B4-BE49-F238E27FC236}">
                <a16:creationId xmlns:a16="http://schemas.microsoft.com/office/drawing/2014/main" id="{0B5CD430-D07F-BC8E-BF03-248EBA65F76D}"/>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5">
            <a:extLst>
              <a:ext uri="{FF2B5EF4-FFF2-40B4-BE49-F238E27FC236}">
                <a16:creationId xmlns:a16="http://schemas.microsoft.com/office/drawing/2014/main" id="{6DE1B59D-0FF1-4EA5-2D6F-B5B14579FEBA}"/>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2902689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1"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1511" y="56139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1511"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B83156-3BD6-475C-A5AB-0B563C322ED0}" type="datetimeFigureOut">
              <a:rPr lang="en-US" smtClean="0"/>
              <a:t>01-Feb-26</a:t>
            </a:fld>
            <a:endParaRPr lang="en-US"/>
          </a:p>
        </p:txBody>
      </p:sp>
      <p:sp>
        <p:nvSpPr>
          <p:cNvPr id="6" name="Footer Placeholder 5"/>
          <p:cNvSpPr>
            <a:spLocks noGrp="1"/>
          </p:cNvSpPr>
          <p:nvPr>
            <p:ph type="ftr" sz="quarter" idx="11"/>
          </p:nvPr>
        </p:nvSpPr>
        <p:spPr>
          <a:xfrm>
            <a:off x="1941511" y="6114042"/>
            <a:ext cx="7619999" cy="365125"/>
          </a:xfrm>
        </p:spPr>
        <p:txBody>
          <a:bodyPr/>
          <a:lstStyle/>
          <a:p>
            <a:endParaRPr lang="en-US"/>
          </a:p>
        </p:txBody>
      </p:sp>
      <p:sp>
        <p:nvSpPr>
          <p:cNvPr id="8" name="TextBox 7">
            <a:extLst>
              <a:ext uri="{FF2B5EF4-FFF2-40B4-BE49-F238E27FC236}">
                <a16:creationId xmlns:a16="http://schemas.microsoft.com/office/drawing/2014/main" id="{D0AF430D-8C87-9B04-2787-DC1C701EADDE}"/>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10" name="Flowchart: Connector 9">
            <a:extLst>
              <a:ext uri="{FF2B5EF4-FFF2-40B4-BE49-F238E27FC236}">
                <a16:creationId xmlns:a16="http://schemas.microsoft.com/office/drawing/2014/main" id="{9105B525-AA4B-02EE-A048-70E4234BA064}"/>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2BB6DECA-09A6-5971-E04E-81646D548518}"/>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2589140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847580" y="568432"/>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847579" y="437309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5" name="Footer Placeholder 4"/>
          <p:cNvSpPr>
            <a:spLocks noGrp="1"/>
          </p:cNvSpPr>
          <p:nvPr>
            <p:ph type="ftr" sz="quarter" idx="11"/>
          </p:nvPr>
        </p:nvSpPr>
        <p:spPr>
          <a:xfrm>
            <a:off x="1847579" y="6179670"/>
            <a:ext cx="7619999" cy="365125"/>
          </a:xfrm>
        </p:spPr>
        <p:txBody>
          <a:bodyPr/>
          <a:lstStyle/>
          <a:p>
            <a:endParaRPr lang="en-US"/>
          </a:p>
        </p:txBody>
      </p:sp>
      <p:sp>
        <p:nvSpPr>
          <p:cNvPr id="7" name="TextBox 6">
            <a:extLst>
              <a:ext uri="{FF2B5EF4-FFF2-40B4-BE49-F238E27FC236}">
                <a16:creationId xmlns:a16="http://schemas.microsoft.com/office/drawing/2014/main" id="{03F668AC-A4A0-E8F4-A89D-61D913B490DE}"/>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8" name="Flowchart: Connector 7">
            <a:extLst>
              <a:ext uri="{FF2B5EF4-FFF2-40B4-BE49-F238E27FC236}">
                <a16:creationId xmlns:a16="http://schemas.microsoft.com/office/drawing/2014/main" id="{1DA36E57-B5D1-1271-DC8D-A171B2F34685}"/>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5">
            <a:extLst>
              <a:ext uri="{FF2B5EF4-FFF2-40B4-BE49-F238E27FC236}">
                <a16:creationId xmlns:a16="http://schemas.microsoft.com/office/drawing/2014/main" id="{7923E730-769C-5898-AAD4-3610D607E1E8}"/>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302463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1228"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91268" y="3495675"/>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13828" y="475309"/>
            <a:ext cx="779767" cy="365125"/>
          </a:xfrm>
        </p:spPr>
        <p:txBody>
          <a:bodyPr/>
          <a:lstStyle/>
          <a:p>
            <a:fld id="{8D3F8791-F5D1-4068-95B9-2D8392E3D39C}" type="slidenum">
              <a:rPr lang="en-US" smtClean="0"/>
              <a:t>‹#›</a:t>
            </a:fld>
            <a:endParaRPr lang="en-US"/>
          </a:p>
        </p:txBody>
      </p:sp>
      <p:sp>
        <p:nvSpPr>
          <p:cNvPr id="14" name="TextBox 13"/>
          <p:cNvSpPr txBox="1"/>
          <p:nvPr/>
        </p:nvSpPr>
        <p:spPr>
          <a:xfrm>
            <a:off x="1979612" y="460459"/>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0934753" y="328192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7" name="TextBox 6">
            <a:extLst>
              <a:ext uri="{FF2B5EF4-FFF2-40B4-BE49-F238E27FC236}">
                <a16:creationId xmlns:a16="http://schemas.microsoft.com/office/drawing/2014/main" id="{B8A76A67-C7D6-C0EE-B9DB-F92296C94729}"/>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8" name="Flowchart: Connector 7">
            <a:extLst>
              <a:ext uri="{FF2B5EF4-FFF2-40B4-BE49-F238E27FC236}">
                <a16:creationId xmlns:a16="http://schemas.microsoft.com/office/drawing/2014/main" id="{D2A562EB-71D9-215A-6551-7A2A0B2E4E7E}"/>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747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B83156-3BD6-475C-A5AB-0B563C322ED0}" type="datetimeFigureOut">
              <a:rPr lang="en-US" smtClean="0"/>
              <a:t>01-Feb-26</a:t>
            </a:fld>
            <a:endParaRPr lang="en-US"/>
          </a:p>
        </p:txBody>
      </p:sp>
      <p:sp>
        <p:nvSpPr>
          <p:cNvPr id="6" name="Footer Placeholder 5"/>
          <p:cNvSpPr>
            <a:spLocks noGrp="1"/>
          </p:cNvSpPr>
          <p:nvPr>
            <p:ph type="ftr" sz="quarter" idx="11"/>
          </p:nvPr>
        </p:nvSpPr>
        <p:spPr/>
        <p:txBody>
          <a:bodyPr/>
          <a:lstStyle/>
          <a:p>
            <a:endParaRPr lang="en-US"/>
          </a:p>
        </p:txBody>
      </p:sp>
      <p:sp>
        <p:nvSpPr>
          <p:cNvPr id="3" name="TextBox 2">
            <a:extLst>
              <a:ext uri="{FF2B5EF4-FFF2-40B4-BE49-F238E27FC236}">
                <a16:creationId xmlns:a16="http://schemas.microsoft.com/office/drawing/2014/main" id="{C529CFF6-129C-E5C2-AB29-5BECC136D643}"/>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8" name="Flowchart: Connector 7">
            <a:extLst>
              <a:ext uri="{FF2B5EF4-FFF2-40B4-BE49-F238E27FC236}">
                <a16:creationId xmlns:a16="http://schemas.microsoft.com/office/drawing/2014/main" id="{C61D7754-EF91-8581-C2F3-CE3DF9FC85F2}"/>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512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B83156-3BD6-475C-A5AB-0B563C322ED0}" type="datetimeFigureOut">
              <a:rPr lang="en-US" smtClean="0"/>
              <a:t>01-Feb-26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97202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432660" y="225135"/>
            <a:ext cx="8911687" cy="128089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428947" y="1943782"/>
            <a:ext cx="8915400" cy="38862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5" name="Footer Placeholder 4"/>
          <p:cNvSpPr>
            <a:spLocks noGrp="1"/>
          </p:cNvSpPr>
          <p:nvPr>
            <p:ph type="ftr" sz="quarter" idx="11"/>
          </p:nvPr>
        </p:nvSpPr>
        <p:spPr>
          <a:xfrm>
            <a:off x="1428947" y="6214978"/>
            <a:ext cx="7619999" cy="365125"/>
          </a:xfrm>
        </p:spPr>
        <p:txBody>
          <a:bodyPr/>
          <a:lstStyle/>
          <a:p>
            <a:endParaRPr lang="en-US"/>
          </a:p>
        </p:txBody>
      </p:sp>
      <p:sp>
        <p:nvSpPr>
          <p:cNvPr id="7" name="TextBox 6">
            <a:extLst>
              <a:ext uri="{FF2B5EF4-FFF2-40B4-BE49-F238E27FC236}">
                <a16:creationId xmlns:a16="http://schemas.microsoft.com/office/drawing/2014/main" id="{0D10BDD3-9FA2-0A8D-6CBE-0F6CBF44E113}"/>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9" name="Flowchart: Connector 8">
            <a:extLst>
              <a:ext uri="{FF2B5EF4-FFF2-40B4-BE49-F238E27FC236}">
                <a16:creationId xmlns:a16="http://schemas.microsoft.com/office/drawing/2014/main" id="{207C5B93-172A-9769-CF61-1C25071F20D9}"/>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5">
            <a:extLst>
              <a:ext uri="{FF2B5EF4-FFF2-40B4-BE49-F238E27FC236}">
                <a16:creationId xmlns:a16="http://schemas.microsoft.com/office/drawing/2014/main" id="{A422B51E-07C7-2207-3B37-477E569F676F}"/>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2183572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2836" y="76075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70087" y="71437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B83156-3BD6-475C-A5AB-0B563C322ED0}" type="datetimeFigureOut">
              <a:rPr lang="en-US" smtClean="0"/>
              <a:t>01-Feb-26</a:t>
            </a:fld>
            <a:endParaRPr lang="en-US"/>
          </a:p>
        </p:txBody>
      </p:sp>
      <p:sp>
        <p:nvSpPr>
          <p:cNvPr id="5" name="Footer Placeholder 4"/>
          <p:cNvSpPr>
            <a:spLocks noGrp="1"/>
          </p:cNvSpPr>
          <p:nvPr>
            <p:ph type="ftr" sz="quarter" idx="11"/>
          </p:nvPr>
        </p:nvSpPr>
        <p:spPr/>
        <p:txBody>
          <a:bodyPr/>
          <a:lstStyle/>
          <a:p>
            <a:endParaRPr lang="en-US"/>
          </a:p>
        </p:txBody>
      </p:sp>
      <p:sp>
        <p:nvSpPr>
          <p:cNvPr id="7" name="TextBox 6">
            <a:extLst>
              <a:ext uri="{FF2B5EF4-FFF2-40B4-BE49-F238E27FC236}">
                <a16:creationId xmlns:a16="http://schemas.microsoft.com/office/drawing/2014/main" id="{2BD5E19B-285C-99FF-F824-39C56B19FDF2}"/>
              </a:ext>
            </a:extLst>
          </p:cNvPr>
          <p:cNvSpPr txBox="1"/>
          <p:nvPr/>
        </p:nvSpPr>
        <p:spPr>
          <a:xfrm>
            <a:off x="10865154" y="460460"/>
            <a:ext cx="1277633" cy="253916"/>
          </a:xfrm>
          <a:prstGeom prst="rect">
            <a:avLst/>
          </a:prstGeom>
          <a:solidFill>
            <a:schemeClr val="accent1">
              <a:lumMod val="60000"/>
              <a:lumOff val="40000"/>
            </a:schemeClr>
          </a:solidFill>
        </p:spPr>
        <p:txBody>
          <a:bodyPr wrap="square" rtlCol="0">
            <a:spAutoFit/>
          </a:bodyPr>
          <a:lstStyle/>
          <a:p>
            <a:pPr algn="ctr"/>
            <a:r>
              <a:rPr lang="en-US" sz="1050" dirty="0" err="1"/>
              <a:t>Parami</a:t>
            </a:r>
            <a:r>
              <a:rPr lang="en-US" sz="1050" dirty="0"/>
              <a:t> University</a:t>
            </a:r>
          </a:p>
        </p:txBody>
      </p:sp>
      <p:sp>
        <p:nvSpPr>
          <p:cNvPr id="9" name="Flowchart: Connector 8">
            <a:extLst>
              <a:ext uri="{FF2B5EF4-FFF2-40B4-BE49-F238E27FC236}">
                <a16:creationId xmlns:a16="http://schemas.microsoft.com/office/drawing/2014/main" id="{D0F9F944-95A4-9399-A85B-67446DACE1E7}"/>
              </a:ext>
            </a:extLst>
          </p:cNvPr>
          <p:cNvSpPr/>
          <p:nvPr/>
        </p:nvSpPr>
        <p:spPr>
          <a:xfrm>
            <a:off x="11213136" y="0"/>
            <a:ext cx="498797" cy="460459"/>
          </a:xfrm>
          <a:prstGeom prst="flowChartConnector">
            <a:avLst/>
          </a:prstGeom>
          <a:solidFill>
            <a:srgbClr val="F4EE00"/>
          </a:solidFill>
          <a:ln>
            <a:solidFill>
              <a:srgbClr val="F4EE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5">
            <a:extLst>
              <a:ext uri="{FF2B5EF4-FFF2-40B4-BE49-F238E27FC236}">
                <a16:creationId xmlns:a16="http://schemas.microsoft.com/office/drawing/2014/main" id="{75933EAF-3DD6-C5E5-E1AD-38E33C3EE7C8}"/>
              </a:ext>
            </a:extLst>
          </p:cNvPr>
          <p:cNvSpPr>
            <a:spLocks noGrp="1"/>
          </p:cNvSpPr>
          <p:nvPr>
            <p:ph type="sldNum" sz="quarter" idx="12"/>
          </p:nvPr>
        </p:nvSpPr>
        <p:spPr>
          <a:xfrm>
            <a:off x="480067" y="460459"/>
            <a:ext cx="779767" cy="365125"/>
          </a:xfrm>
        </p:spPr>
        <p:txBody>
          <a:bodyPr/>
          <a:lstStyle/>
          <a:p>
            <a:fld id="{8D3F8791-F5D1-4068-95B9-2D8392E3D39C}" type="slidenum">
              <a:rPr lang="en-US" smtClean="0"/>
              <a:t>‹#›</a:t>
            </a:fld>
            <a:endParaRPr lang="en-US"/>
          </a:p>
        </p:txBody>
      </p:sp>
    </p:spTree>
    <p:extLst>
      <p:ext uri="{BB962C8B-B14F-4D97-AF65-F5344CB8AC3E}">
        <p14:creationId xmlns:p14="http://schemas.microsoft.com/office/powerpoint/2010/main" val="146996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392878" y="362052"/>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887" y="1940904"/>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3B83156-3BD6-475C-A5AB-0B563C322ED0}" type="datetimeFigureOut">
              <a:rPr lang="en-US" smtClean="0"/>
              <a:t>01-Feb-26</a:t>
            </a:fld>
            <a:endParaRPr lang="en-US"/>
          </a:p>
        </p:txBody>
      </p:sp>
      <p:sp>
        <p:nvSpPr>
          <p:cNvPr id="5" name="Footer Placeholder 4"/>
          <p:cNvSpPr>
            <a:spLocks noGrp="1"/>
          </p:cNvSpPr>
          <p:nvPr>
            <p:ph type="ftr" sz="quarter" idx="3"/>
          </p:nvPr>
        </p:nvSpPr>
        <p:spPr>
          <a:xfrm>
            <a:off x="1371887" y="6222762"/>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8" name="Freeform 11">
            <a:extLst>
              <a:ext uri="{FF2B5EF4-FFF2-40B4-BE49-F238E27FC236}">
                <a16:creationId xmlns:a16="http://schemas.microsoft.com/office/drawing/2014/main" id="{0D68FD19-4A01-5F7B-22D4-D554EDAF112F}"/>
              </a:ext>
            </a:extLst>
          </p:cNvPr>
          <p:cNvSpPr/>
          <p:nvPr/>
        </p:nvSpPr>
        <p:spPr bwMode="auto">
          <a:xfrm flipV="1">
            <a:off x="149591" y="497219"/>
            <a:ext cx="1222296" cy="36512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4"/>
          </p:nvPr>
        </p:nvSpPr>
        <p:spPr bwMode="gray">
          <a:xfrm>
            <a:off x="338344" y="509704"/>
            <a:ext cx="779767" cy="365125"/>
          </a:xfrm>
          <a:prstGeom prst="rect">
            <a:avLst/>
          </a:prstGeom>
        </p:spPr>
        <p:txBody>
          <a:bodyPr vert="horz" lIns="91440" tIns="45720" rIns="91440" bIns="45720" rtlCol="0" anchor="ctr"/>
          <a:lstStyle>
            <a:lvl1pPr algn="r">
              <a:defRPr sz="2000">
                <a:solidFill>
                  <a:srgbClr val="FEFFFF"/>
                </a:solidFill>
              </a:defRPr>
            </a:lvl1pPr>
          </a:lstStyle>
          <a:p>
            <a:fld id="{8D3F8791-F5D1-4068-95B9-2D8392E3D39C}" type="slidenum">
              <a:rPr lang="en-US" smtClean="0"/>
              <a:t>‹#›</a:t>
            </a:fld>
            <a:endParaRPr lang="en-US"/>
          </a:p>
        </p:txBody>
      </p:sp>
    </p:spTree>
    <p:extLst>
      <p:ext uri="{BB962C8B-B14F-4D97-AF65-F5344CB8AC3E}">
        <p14:creationId xmlns:p14="http://schemas.microsoft.com/office/powerpoint/2010/main" val="333358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wenwehtaywin@parami.edu.m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28BC3-F140-5104-BFA4-E3D22659562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982A19E-2DD5-28D7-3E37-AE48ECC74524}"/>
              </a:ext>
            </a:extLst>
          </p:cNvPr>
          <p:cNvSpPr txBox="1">
            <a:spLocks/>
          </p:cNvSpPr>
          <p:nvPr/>
        </p:nvSpPr>
        <p:spPr>
          <a:xfrm>
            <a:off x="1942289" y="1328384"/>
            <a:ext cx="9144000" cy="102086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dirty="0"/>
              <a:t>Unsupervised Learning</a:t>
            </a:r>
          </a:p>
        </p:txBody>
      </p:sp>
      <p:sp>
        <p:nvSpPr>
          <p:cNvPr id="10" name="Subtitle 2">
            <a:extLst>
              <a:ext uri="{FF2B5EF4-FFF2-40B4-BE49-F238E27FC236}">
                <a16:creationId xmlns:a16="http://schemas.microsoft.com/office/drawing/2014/main" id="{13D520F0-423B-7A15-711B-6C9880820BBA}"/>
              </a:ext>
            </a:extLst>
          </p:cNvPr>
          <p:cNvSpPr txBox="1">
            <a:spLocks/>
          </p:cNvSpPr>
          <p:nvPr/>
        </p:nvSpPr>
        <p:spPr>
          <a:xfrm>
            <a:off x="2049293" y="4684427"/>
            <a:ext cx="9144000" cy="16557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r">
              <a:buNone/>
            </a:pPr>
            <a:r>
              <a:rPr lang="en-US" dirty="0"/>
              <a:t>Dr. Nwe </a:t>
            </a:r>
            <a:r>
              <a:rPr lang="en-US" dirty="0" err="1"/>
              <a:t>Nwe</a:t>
            </a:r>
            <a:r>
              <a:rPr lang="en-US" dirty="0"/>
              <a:t> </a:t>
            </a:r>
            <a:r>
              <a:rPr lang="en-US" dirty="0" err="1"/>
              <a:t>Htay</a:t>
            </a:r>
            <a:r>
              <a:rPr lang="en-US" dirty="0"/>
              <a:t> Win </a:t>
            </a:r>
          </a:p>
          <a:p>
            <a:pPr marL="0" indent="0" algn="r">
              <a:buNone/>
            </a:pPr>
            <a:r>
              <a:rPr lang="en-US" dirty="0">
                <a:hlinkClick r:id="rId2"/>
              </a:rPr>
              <a:t>nwenwehtaywin@parami.edu.mm</a:t>
            </a:r>
            <a:endParaRPr lang="en-US" dirty="0"/>
          </a:p>
          <a:p>
            <a:pPr marL="0" indent="0" algn="r">
              <a:buNone/>
            </a:pPr>
            <a:r>
              <a:rPr lang="en-US" dirty="0"/>
              <a:t>Faculty of Mathematics and Science</a:t>
            </a:r>
          </a:p>
        </p:txBody>
      </p:sp>
    </p:spTree>
    <p:extLst>
      <p:ext uri="{BB962C8B-B14F-4D97-AF65-F5344CB8AC3E}">
        <p14:creationId xmlns:p14="http://schemas.microsoft.com/office/powerpoint/2010/main" val="901955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80BFF-8C6F-37BD-743E-BC4F056F42C6}"/>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02A2D567-B8F5-A0A5-A125-C90DF1FF4FDE}"/>
              </a:ext>
            </a:extLst>
          </p:cNvPr>
          <p:cNvSpPr>
            <a:spLocks noGrp="1"/>
          </p:cNvSpPr>
          <p:nvPr>
            <p:ph idx="1"/>
          </p:nvPr>
        </p:nvSpPr>
        <p:spPr/>
        <p:txBody>
          <a:bodyPr/>
          <a:lstStyle/>
          <a:p>
            <a:r>
              <a:rPr lang="en-US" dirty="0"/>
              <a:t>Hierarchical Agglomerative Clustering (HAC)</a:t>
            </a:r>
          </a:p>
          <a:p>
            <a:r>
              <a:rPr lang="en-US" dirty="0" err="1"/>
              <a:t>DBScan</a:t>
            </a:r>
            <a:endParaRPr lang="en-US" dirty="0"/>
          </a:p>
        </p:txBody>
      </p:sp>
    </p:spTree>
    <p:extLst>
      <p:ext uri="{BB962C8B-B14F-4D97-AF65-F5344CB8AC3E}">
        <p14:creationId xmlns:p14="http://schemas.microsoft.com/office/powerpoint/2010/main" val="1698906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ECF48-6AD4-911E-492E-613A0FED8942}"/>
              </a:ext>
            </a:extLst>
          </p:cNvPr>
          <p:cNvSpPr>
            <a:spLocks noGrp="1"/>
          </p:cNvSpPr>
          <p:nvPr>
            <p:ph type="title"/>
          </p:nvPr>
        </p:nvSpPr>
        <p:spPr/>
        <p:txBody>
          <a:bodyPr/>
          <a:lstStyle/>
          <a:p>
            <a:r>
              <a:rPr lang="en-US" dirty="0"/>
              <a:t>Hierarchical Clustering</a:t>
            </a:r>
            <a:br>
              <a:rPr lang="en-US" dirty="0"/>
            </a:br>
            <a:endParaRPr lang="en-US" dirty="0"/>
          </a:p>
        </p:txBody>
      </p:sp>
      <p:sp>
        <p:nvSpPr>
          <p:cNvPr id="3" name="Content Placeholder 2">
            <a:extLst>
              <a:ext uri="{FF2B5EF4-FFF2-40B4-BE49-F238E27FC236}">
                <a16:creationId xmlns:a16="http://schemas.microsoft.com/office/drawing/2014/main" id="{63C8CFC0-A087-B900-6FC0-6904B9D1DB3D}"/>
              </a:ext>
            </a:extLst>
          </p:cNvPr>
          <p:cNvSpPr>
            <a:spLocks noGrp="1"/>
          </p:cNvSpPr>
          <p:nvPr>
            <p:ph idx="1"/>
          </p:nvPr>
        </p:nvSpPr>
        <p:spPr>
          <a:xfrm>
            <a:off x="1129867" y="1299411"/>
            <a:ext cx="10538257" cy="4751603"/>
          </a:xfrm>
        </p:spPr>
        <p:txBody>
          <a:bodyPr/>
          <a:lstStyle/>
          <a:p>
            <a:r>
              <a:rPr lang="en-US" dirty="0"/>
              <a:t>Hierarchical clustering is a machine learning technique used to organize data into a nested cluster structure, resembling a tree.</a:t>
            </a:r>
          </a:p>
          <a:p>
            <a:r>
              <a:rPr lang="en-US" dirty="0"/>
              <a:t>It builds a hierarchy of clusters by either </a:t>
            </a:r>
            <a:r>
              <a:rPr lang="en-US" b="1" dirty="0"/>
              <a:t>agglomerating (merging small clusters into larger ones)</a:t>
            </a:r>
            <a:r>
              <a:rPr lang="en-US" dirty="0"/>
              <a:t> or </a:t>
            </a:r>
            <a:r>
              <a:rPr lang="en-US" b="1" dirty="0"/>
              <a:t>divisively splitting larger clusters into smaller ones</a:t>
            </a:r>
            <a:r>
              <a:rPr lang="en-US" dirty="0"/>
              <a:t> based on their similarity.</a:t>
            </a:r>
          </a:p>
        </p:txBody>
      </p:sp>
      <p:pic>
        <p:nvPicPr>
          <p:cNvPr id="1026" name="Picture 2" descr="UntitledDiagram7">
            <a:extLst>
              <a:ext uri="{FF2B5EF4-FFF2-40B4-BE49-F238E27FC236}">
                <a16:creationId xmlns:a16="http://schemas.microsoft.com/office/drawing/2014/main" id="{BE5C8677-2C58-6211-7204-51FBB580F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8663" y="3154550"/>
            <a:ext cx="5874419" cy="2548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966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03314-0CFE-CD0F-2161-2127C434D055}"/>
              </a:ext>
            </a:extLst>
          </p:cNvPr>
          <p:cNvSpPr>
            <a:spLocks noGrp="1"/>
          </p:cNvSpPr>
          <p:nvPr>
            <p:ph type="title"/>
          </p:nvPr>
        </p:nvSpPr>
        <p:spPr/>
        <p:txBody>
          <a:bodyPr>
            <a:normAutofit fontScale="90000"/>
          </a:bodyPr>
          <a:lstStyle/>
          <a:p>
            <a:r>
              <a:rPr lang="en-US" dirty="0"/>
              <a:t>Types of Hierarchical Clustering</a:t>
            </a:r>
            <a:br>
              <a:rPr lang="en-US" dirty="0"/>
            </a:br>
            <a:r>
              <a:rPr lang="en-US" dirty="0"/>
              <a:t>Agglomerative vs. Divisive Clustering</a:t>
            </a:r>
            <a:br>
              <a:rPr lang="en-US" dirty="0"/>
            </a:br>
            <a:endParaRPr lang="en-US" dirty="0"/>
          </a:p>
        </p:txBody>
      </p:sp>
      <p:sp>
        <p:nvSpPr>
          <p:cNvPr id="3" name="Content Placeholder 2">
            <a:extLst>
              <a:ext uri="{FF2B5EF4-FFF2-40B4-BE49-F238E27FC236}">
                <a16:creationId xmlns:a16="http://schemas.microsoft.com/office/drawing/2014/main" id="{79A0E689-C53D-AEA4-4543-FBC0723A37C7}"/>
              </a:ext>
            </a:extLst>
          </p:cNvPr>
          <p:cNvSpPr>
            <a:spLocks noGrp="1"/>
          </p:cNvSpPr>
          <p:nvPr>
            <p:ph idx="1"/>
          </p:nvPr>
        </p:nvSpPr>
        <p:spPr/>
        <p:txBody>
          <a:bodyPr>
            <a:normAutofit/>
          </a:bodyPr>
          <a:lstStyle/>
          <a:p>
            <a:r>
              <a:rPr lang="en-US" sz="2200" dirty="0"/>
              <a:t>Hierarchical Agglomerative Clustering (HAC) – Bottom-Up Approach</a:t>
            </a:r>
          </a:p>
          <a:p>
            <a:pPr lvl="1"/>
            <a:r>
              <a:rPr lang="en-US" sz="2200" dirty="0"/>
              <a:t>Hierarchical clustering is a method that groups data into a structured hierarchy. Unlike flat clustering methods (like k-means), hierarchical clustering does </a:t>
            </a:r>
            <a:r>
              <a:rPr lang="en-US" sz="2200" b="1" dirty="0"/>
              <a:t>not require</a:t>
            </a:r>
            <a:r>
              <a:rPr lang="en-US" sz="2200" dirty="0"/>
              <a:t> predefining the number of clusters.</a:t>
            </a:r>
          </a:p>
          <a:p>
            <a:pPr lvl="1"/>
            <a:endParaRPr lang="en-US" sz="2200" dirty="0"/>
          </a:p>
          <a:p>
            <a:r>
              <a:rPr lang="en-US" sz="2200" dirty="0"/>
              <a:t>Divisive Clustering (Top-Down Hierarchical Clustering)</a:t>
            </a:r>
          </a:p>
          <a:p>
            <a:pPr lvl="1"/>
            <a:r>
              <a:rPr lang="en-US" sz="2200" dirty="0"/>
              <a:t>Divisive clustering is a </a:t>
            </a:r>
            <a:r>
              <a:rPr lang="en-US" sz="2200" b="1" dirty="0"/>
              <a:t>top-down</a:t>
            </a:r>
            <a:r>
              <a:rPr lang="en-US" sz="2200" dirty="0"/>
              <a:t> hierarchical clustering approach that starts with </a:t>
            </a:r>
            <a:r>
              <a:rPr lang="en-US" sz="2200" b="1" dirty="0"/>
              <a:t>all data points in a single cluster</a:t>
            </a:r>
            <a:r>
              <a:rPr lang="en-US" sz="2200" dirty="0"/>
              <a:t> and then </a:t>
            </a:r>
            <a:r>
              <a:rPr lang="en-US" sz="2200" b="1" dirty="0"/>
              <a:t>recursively splits</a:t>
            </a:r>
            <a:r>
              <a:rPr lang="en-US" sz="2200" dirty="0"/>
              <a:t> them into smaller subclusters until each data point is its own cluster.</a:t>
            </a:r>
          </a:p>
        </p:txBody>
      </p:sp>
    </p:spTree>
    <p:extLst>
      <p:ext uri="{BB962C8B-B14F-4D97-AF65-F5344CB8AC3E}">
        <p14:creationId xmlns:p14="http://schemas.microsoft.com/office/powerpoint/2010/main" val="11109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96855-17EF-43B8-6B17-5D0D8B4FD1C7}"/>
              </a:ext>
            </a:extLst>
          </p:cNvPr>
          <p:cNvSpPr>
            <a:spLocks noGrp="1"/>
          </p:cNvSpPr>
          <p:nvPr>
            <p:ph type="title"/>
          </p:nvPr>
        </p:nvSpPr>
        <p:spPr/>
        <p:txBody>
          <a:bodyPr/>
          <a:lstStyle/>
          <a:p>
            <a:r>
              <a:rPr lang="en-US" dirty="0"/>
              <a:t>HAC algorithms</a:t>
            </a:r>
          </a:p>
        </p:txBody>
      </p:sp>
      <p:sp>
        <p:nvSpPr>
          <p:cNvPr id="3" name="Content Placeholder 2">
            <a:extLst>
              <a:ext uri="{FF2B5EF4-FFF2-40B4-BE49-F238E27FC236}">
                <a16:creationId xmlns:a16="http://schemas.microsoft.com/office/drawing/2014/main" id="{3D0F95F7-A142-F296-FC59-62E8E372B20E}"/>
              </a:ext>
            </a:extLst>
          </p:cNvPr>
          <p:cNvSpPr>
            <a:spLocks noGrp="1"/>
          </p:cNvSpPr>
          <p:nvPr>
            <p:ph idx="1"/>
          </p:nvPr>
        </p:nvSpPr>
        <p:spPr/>
        <p:txBody>
          <a:bodyPr/>
          <a:lstStyle/>
          <a:p>
            <a:pPr algn="l"/>
            <a:r>
              <a:rPr lang="en-US" b="0" i="0" dirty="0">
                <a:solidFill>
                  <a:srgbClr val="3A3B41"/>
                </a:solidFill>
                <a:effectLst/>
                <a:latin typeface="Georgia" panose="02040502050405020303" pitchFamily="18" charset="0"/>
              </a:rPr>
              <a:t>The steps for agglomerative clustering are:</a:t>
            </a:r>
          </a:p>
          <a:p>
            <a:pPr lvl="1">
              <a:buFont typeface="+mj-lt"/>
              <a:buAutoNum type="arabicPeriod"/>
            </a:pPr>
            <a:r>
              <a:rPr lang="en-US" b="0" i="0" dirty="0">
                <a:solidFill>
                  <a:srgbClr val="3A3B41"/>
                </a:solidFill>
                <a:effectLst/>
                <a:latin typeface="Georgia" panose="02040502050405020303" pitchFamily="18" charset="0"/>
              </a:rPr>
              <a:t>Compute the proximity matrix using a distance metric.</a:t>
            </a:r>
          </a:p>
          <a:p>
            <a:pPr lvl="1">
              <a:buFont typeface="+mj-lt"/>
              <a:buAutoNum type="arabicPeriod"/>
            </a:pPr>
            <a:r>
              <a:rPr lang="en-US" b="0" i="0" dirty="0">
                <a:solidFill>
                  <a:srgbClr val="3A3B41"/>
                </a:solidFill>
                <a:effectLst/>
                <a:latin typeface="Georgia" panose="02040502050405020303" pitchFamily="18" charset="0"/>
              </a:rPr>
              <a:t>Use a linkage function to group objects into a hierarchical cluster tree based on the computed distance matrix from the above step. </a:t>
            </a:r>
          </a:p>
          <a:p>
            <a:pPr lvl="1">
              <a:buFont typeface="+mj-lt"/>
              <a:buAutoNum type="arabicPeriod"/>
            </a:pPr>
            <a:r>
              <a:rPr lang="en-US" b="0" i="0" dirty="0">
                <a:solidFill>
                  <a:srgbClr val="3A3B41"/>
                </a:solidFill>
                <a:effectLst/>
                <a:latin typeface="Georgia" panose="02040502050405020303" pitchFamily="18" charset="0"/>
              </a:rPr>
              <a:t>Data points with close proximity are merged together to form a cluster.</a:t>
            </a:r>
          </a:p>
          <a:p>
            <a:pPr lvl="1">
              <a:buFont typeface="+mj-lt"/>
              <a:buAutoNum type="arabicPeriod"/>
            </a:pPr>
            <a:r>
              <a:rPr lang="en-US" b="0" i="0" dirty="0">
                <a:solidFill>
                  <a:srgbClr val="3A3B41"/>
                </a:solidFill>
                <a:effectLst/>
                <a:latin typeface="Georgia" panose="02040502050405020303" pitchFamily="18" charset="0"/>
              </a:rPr>
              <a:t>Repeat steps 2 and 3 until a single cluster remains.</a:t>
            </a:r>
          </a:p>
          <a:p>
            <a:endParaRPr lang="en-US" dirty="0"/>
          </a:p>
        </p:txBody>
      </p:sp>
    </p:spTree>
    <p:extLst>
      <p:ext uri="{BB962C8B-B14F-4D97-AF65-F5344CB8AC3E}">
        <p14:creationId xmlns:p14="http://schemas.microsoft.com/office/powerpoint/2010/main" val="749301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90-3C84-61CE-856E-E1EFE5F13788}"/>
              </a:ext>
            </a:extLst>
          </p:cNvPr>
          <p:cNvSpPr>
            <a:spLocks noGrp="1"/>
          </p:cNvSpPr>
          <p:nvPr>
            <p:ph type="title"/>
          </p:nvPr>
        </p:nvSpPr>
        <p:spPr/>
        <p:txBody>
          <a:bodyPr/>
          <a:lstStyle/>
          <a:p>
            <a:r>
              <a:rPr lang="en-US" dirty="0"/>
              <a:t>HAC: Calculation Steps</a:t>
            </a:r>
          </a:p>
        </p:txBody>
      </p:sp>
      <p:sp>
        <p:nvSpPr>
          <p:cNvPr id="3" name="Content Placeholder 2">
            <a:extLst>
              <a:ext uri="{FF2B5EF4-FFF2-40B4-BE49-F238E27FC236}">
                <a16:creationId xmlns:a16="http://schemas.microsoft.com/office/drawing/2014/main" id="{1A4E0717-9FA4-0641-EEB8-D8F77F7D306C}"/>
              </a:ext>
            </a:extLst>
          </p:cNvPr>
          <p:cNvSpPr>
            <a:spLocks noGrp="1"/>
          </p:cNvSpPr>
          <p:nvPr>
            <p:ph idx="1"/>
          </p:nvPr>
        </p:nvSpPr>
        <p:spPr>
          <a:xfrm>
            <a:off x="1045646" y="1284555"/>
            <a:ext cx="10538257" cy="4288889"/>
          </a:xfrm>
        </p:spPr>
        <p:txBody>
          <a:bodyPr/>
          <a:lstStyle/>
          <a:p>
            <a:pPr marL="0" indent="0">
              <a:buNone/>
            </a:pPr>
            <a:r>
              <a:rPr lang="en-US" b="1" dirty="0"/>
              <a:t>Step 1: </a:t>
            </a:r>
            <a:r>
              <a:rPr lang="en-US" dirty="0"/>
              <a:t>We calculate the </a:t>
            </a:r>
            <a:r>
              <a:rPr lang="en-US" b="1" dirty="0"/>
              <a:t>Euclidean distance</a:t>
            </a:r>
            <a:r>
              <a:rPr lang="en-US" dirty="0"/>
              <a:t> between all pairs of points using the formula:</a:t>
            </a:r>
          </a:p>
        </p:txBody>
      </p:sp>
      <p:graphicFrame>
        <p:nvGraphicFramePr>
          <p:cNvPr id="4" name="Table 3">
            <a:extLst>
              <a:ext uri="{FF2B5EF4-FFF2-40B4-BE49-F238E27FC236}">
                <a16:creationId xmlns:a16="http://schemas.microsoft.com/office/drawing/2014/main" id="{1A9762BF-4346-3165-D7E9-01E5E361E96E}"/>
              </a:ext>
            </a:extLst>
          </p:cNvPr>
          <p:cNvGraphicFramePr>
            <a:graphicFrameLocks noGrp="1"/>
          </p:cNvGraphicFramePr>
          <p:nvPr>
            <p:extLst>
              <p:ext uri="{D42A27DB-BD31-4B8C-83A1-F6EECF244321}">
                <p14:modId xmlns:p14="http://schemas.microsoft.com/office/powerpoint/2010/main" val="2588634730"/>
              </p:ext>
            </p:extLst>
          </p:nvPr>
        </p:nvGraphicFramePr>
        <p:xfrm>
          <a:off x="1045646" y="2375270"/>
          <a:ext cx="4958110" cy="1828800"/>
        </p:xfrm>
        <a:graphic>
          <a:graphicData uri="http://schemas.openxmlformats.org/drawingml/2006/table">
            <a:tbl>
              <a:tblPr firstRow="1" bandRow="1">
                <a:tableStyleId>{5C22544A-7EE6-4342-B048-85BDC9FD1C3A}</a:tableStyleId>
              </a:tblPr>
              <a:tblGrid>
                <a:gridCol w="529102">
                  <a:extLst>
                    <a:ext uri="{9D8B030D-6E8A-4147-A177-3AD203B41FA5}">
                      <a16:colId xmlns:a16="http://schemas.microsoft.com/office/drawing/2014/main" val="2010684195"/>
                    </a:ext>
                  </a:extLst>
                </a:gridCol>
                <a:gridCol w="971778">
                  <a:extLst>
                    <a:ext uri="{9D8B030D-6E8A-4147-A177-3AD203B41FA5}">
                      <a16:colId xmlns:a16="http://schemas.microsoft.com/office/drawing/2014/main" val="3542596219"/>
                    </a:ext>
                  </a:extLst>
                </a:gridCol>
                <a:gridCol w="989300">
                  <a:extLst>
                    <a:ext uri="{9D8B030D-6E8A-4147-A177-3AD203B41FA5}">
                      <a16:colId xmlns:a16="http://schemas.microsoft.com/office/drawing/2014/main" val="2129851197"/>
                    </a:ext>
                  </a:extLst>
                </a:gridCol>
                <a:gridCol w="946749">
                  <a:extLst>
                    <a:ext uri="{9D8B030D-6E8A-4147-A177-3AD203B41FA5}">
                      <a16:colId xmlns:a16="http://schemas.microsoft.com/office/drawing/2014/main" val="2556936414"/>
                    </a:ext>
                  </a:extLst>
                </a:gridCol>
                <a:gridCol w="1521181">
                  <a:extLst>
                    <a:ext uri="{9D8B030D-6E8A-4147-A177-3AD203B41FA5}">
                      <a16:colId xmlns:a16="http://schemas.microsoft.com/office/drawing/2014/main" val="3399970985"/>
                    </a:ext>
                  </a:extLst>
                </a:gridCol>
              </a:tblGrid>
              <a:tr h="250078">
                <a:tc>
                  <a:txBody>
                    <a:bodyPr/>
                    <a:lstStyle/>
                    <a:p>
                      <a:endParaRPr lang="en-US"/>
                    </a:p>
                  </a:txBody>
                  <a:tcPr/>
                </a:tc>
                <a:tc>
                  <a:txBody>
                    <a:bodyPr/>
                    <a:lstStyle/>
                    <a:p>
                      <a:r>
                        <a:rPr lang="en-US" dirty="0"/>
                        <a:t>A</a:t>
                      </a:r>
                    </a:p>
                  </a:txBody>
                  <a:tcPr/>
                </a:tc>
                <a:tc>
                  <a:txBody>
                    <a:bodyPr/>
                    <a:lstStyle/>
                    <a:p>
                      <a:r>
                        <a:rPr lang="en-US" dirty="0"/>
                        <a:t>B</a:t>
                      </a:r>
                    </a:p>
                  </a:txBody>
                  <a:tcPr/>
                </a:tc>
                <a:tc>
                  <a:txBody>
                    <a:bodyPr/>
                    <a:lstStyle/>
                    <a:p>
                      <a:r>
                        <a:rPr lang="en-US" dirty="0"/>
                        <a:t>C</a:t>
                      </a:r>
                    </a:p>
                  </a:txBody>
                  <a:tcPr/>
                </a:tc>
                <a:tc>
                  <a:txBody>
                    <a:bodyPr/>
                    <a:lstStyle/>
                    <a:p>
                      <a:r>
                        <a:rPr lang="en-US" dirty="0"/>
                        <a:t>D</a:t>
                      </a:r>
                    </a:p>
                  </a:txBody>
                  <a:tcPr/>
                </a:tc>
                <a:extLst>
                  <a:ext uri="{0D108BD9-81ED-4DB2-BD59-A6C34878D82A}">
                    <a16:rowId xmlns:a16="http://schemas.microsoft.com/office/drawing/2014/main" val="4068342881"/>
                  </a:ext>
                </a:extLst>
              </a:tr>
              <a:tr h="250078">
                <a:tc>
                  <a:txBody>
                    <a:bodyPr/>
                    <a:lstStyle/>
                    <a:p>
                      <a:r>
                        <a:rPr lang="en-US" dirty="0"/>
                        <a:t>A</a:t>
                      </a:r>
                    </a:p>
                  </a:txBody>
                  <a:tcPr/>
                </a:tc>
                <a:tc>
                  <a:txBody>
                    <a:bodyPr/>
                    <a:lstStyle/>
                    <a:p>
                      <a:r>
                        <a:rPr lang="en-US"/>
                        <a:t>0</a:t>
                      </a:r>
                    </a:p>
                  </a:txBody>
                  <a:tcPr anchor="ctr"/>
                </a:tc>
                <a:tc>
                  <a:txBody>
                    <a:bodyPr/>
                    <a:lstStyle/>
                    <a:p>
                      <a:r>
                        <a:rPr lang="en-US" dirty="0"/>
                        <a:t>3.16</a:t>
                      </a:r>
                    </a:p>
                  </a:txBody>
                  <a:tcPr anchor="ctr"/>
                </a:tc>
                <a:tc>
                  <a:txBody>
                    <a:bodyPr/>
                    <a:lstStyle/>
                    <a:p>
                      <a:r>
                        <a:rPr lang="en-US" dirty="0"/>
                        <a:t>5.10</a:t>
                      </a:r>
                    </a:p>
                  </a:txBody>
                  <a:tcPr anchor="ctr"/>
                </a:tc>
                <a:tc>
                  <a:txBody>
                    <a:bodyPr/>
                    <a:lstStyle/>
                    <a:p>
                      <a:r>
                        <a:rPr lang="en-US" dirty="0"/>
                        <a:t>7.81</a:t>
                      </a:r>
                    </a:p>
                  </a:txBody>
                  <a:tcPr anchor="ctr"/>
                </a:tc>
                <a:extLst>
                  <a:ext uri="{0D108BD9-81ED-4DB2-BD59-A6C34878D82A}">
                    <a16:rowId xmlns:a16="http://schemas.microsoft.com/office/drawing/2014/main" val="820150109"/>
                  </a:ext>
                </a:extLst>
              </a:tr>
              <a:tr h="250078">
                <a:tc>
                  <a:txBody>
                    <a:bodyPr/>
                    <a:lstStyle/>
                    <a:p>
                      <a:r>
                        <a:rPr lang="en-US" dirty="0"/>
                        <a:t>B</a:t>
                      </a:r>
                    </a:p>
                  </a:txBody>
                  <a:tcPr/>
                </a:tc>
                <a:tc>
                  <a:txBody>
                    <a:bodyPr/>
                    <a:lstStyle/>
                    <a:p>
                      <a:r>
                        <a:rPr lang="en-US" dirty="0"/>
                        <a:t>3.16</a:t>
                      </a:r>
                    </a:p>
                  </a:txBody>
                  <a:tcPr/>
                </a:tc>
                <a:tc>
                  <a:txBody>
                    <a:bodyPr/>
                    <a:lstStyle/>
                    <a:p>
                      <a:r>
                        <a:rPr lang="en-US" dirty="0"/>
                        <a:t>0</a:t>
                      </a:r>
                    </a:p>
                  </a:txBody>
                  <a:tcPr/>
                </a:tc>
                <a:tc>
                  <a:txBody>
                    <a:bodyPr/>
                    <a:lstStyle/>
                    <a:p>
                      <a:r>
                        <a:rPr lang="en-US" dirty="0"/>
                        <a:t>4.47</a:t>
                      </a:r>
                    </a:p>
                  </a:txBody>
                  <a:tcPr/>
                </a:tc>
                <a:tc>
                  <a:txBody>
                    <a:bodyPr/>
                    <a:lstStyle/>
                    <a:p>
                      <a:r>
                        <a:rPr lang="en-US" dirty="0"/>
                        <a:t>3.61</a:t>
                      </a:r>
                    </a:p>
                  </a:txBody>
                  <a:tcPr/>
                </a:tc>
                <a:extLst>
                  <a:ext uri="{0D108BD9-81ED-4DB2-BD59-A6C34878D82A}">
                    <a16:rowId xmlns:a16="http://schemas.microsoft.com/office/drawing/2014/main" val="673323995"/>
                  </a:ext>
                </a:extLst>
              </a:tr>
              <a:tr h="250078">
                <a:tc>
                  <a:txBody>
                    <a:bodyPr/>
                    <a:lstStyle/>
                    <a:p>
                      <a:r>
                        <a:rPr lang="en-US" dirty="0"/>
                        <a:t>C</a:t>
                      </a:r>
                    </a:p>
                  </a:txBody>
                  <a:tcPr/>
                </a:tc>
                <a:tc>
                  <a:txBody>
                    <a:bodyPr/>
                    <a:lstStyle/>
                    <a:p>
                      <a:r>
                        <a:rPr lang="en-US" dirty="0"/>
                        <a:t>5.10</a:t>
                      </a:r>
                    </a:p>
                  </a:txBody>
                  <a:tcPr/>
                </a:tc>
                <a:tc>
                  <a:txBody>
                    <a:bodyPr/>
                    <a:lstStyle/>
                    <a:p>
                      <a:r>
                        <a:rPr lang="en-US" dirty="0"/>
                        <a:t>4.47</a:t>
                      </a:r>
                    </a:p>
                  </a:txBody>
                  <a:tcPr/>
                </a:tc>
                <a:tc>
                  <a:txBody>
                    <a:bodyPr/>
                    <a:lstStyle/>
                    <a:p>
                      <a:r>
                        <a:rPr lang="en-US" dirty="0"/>
                        <a:t>0</a:t>
                      </a:r>
                    </a:p>
                  </a:txBody>
                  <a:tcPr/>
                </a:tc>
                <a:tc>
                  <a:txBody>
                    <a:bodyPr/>
                    <a:lstStyle/>
                    <a:p>
                      <a:r>
                        <a:rPr lang="en-US" dirty="0"/>
                        <a:t>5.10</a:t>
                      </a:r>
                    </a:p>
                  </a:txBody>
                  <a:tcPr/>
                </a:tc>
                <a:extLst>
                  <a:ext uri="{0D108BD9-81ED-4DB2-BD59-A6C34878D82A}">
                    <a16:rowId xmlns:a16="http://schemas.microsoft.com/office/drawing/2014/main" val="1553599011"/>
                  </a:ext>
                </a:extLst>
              </a:tr>
              <a:tr h="250078">
                <a:tc>
                  <a:txBody>
                    <a:bodyPr/>
                    <a:lstStyle/>
                    <a:p>
                      <a:r>
                        <a:rPr lang="en-US" dirty="0"/>
                        <a:t>D</a:t>
                      </a:r>
                    </a:p>
                  </a:txBody>
                  <a:tcPr/>
                </a:tc>
                <a:tc>
                  <a:txBody>
                    <a:bodyPr/>
                    <a:lstStyle/>
                    <a:p>
                      <a:r>
                        <a:rPr lang="en-US" dirty="0"/>
                        <a:t>7.81</a:t>
                      </a:r>
                    </a:p>
                  </a:txBody>
                  <a:tcPr/>
                </a:tc>
                <a:tc>
                  <a:txBody>
                    <a:bodyPr/>
                    <a:lstStyle/>
                    <a:p>
                      <a:r>
                        <a:rPr lang="en-US" dirty="0"/>
                        <a:t>3.61</a:t>
                      </a:r>
                    </a:p>
                  </a:txBody>
                  <a:tcPr/>
                </a:tc>
                <a:tc>
                  <a:txBody>
                    <a:bodyPr/>
                    <a:lstStyle/>
                    <a:p>
                      <a:r>
                        <a:rPr lang="en-US" dirty="0"/>
                        <a:t>5.10</a:t>
                      </a:r>
                    </a:p>
                  </a:txBody>
                  <a:tcPr/>
                </a:tc>
                <a:tc>
                  <a:txBody>
                    <a:bodyPr/>
                    <a:lstStyle/>
                    <a:p>
                      <a:r>
                        <a:rPr lang="en-US" dirty="0"/>
                        <a:t>0</a:t>
                      </a:r>
                    </a:p>
                  </a:txBody>
                  <a:tcPr/>
                </a:tc>
                <a:extLst>
                  <a:ext uri="{0D108BD9-81ED-4DB2-BD59-A6C34878D82A}">
                    <a16:rowId xmlns:a16="http://schemas.microsoft.com/office/drawing/2014/main" val="1373113340"/>
                  </a:ext>
                </a:extLst>
              </a:tr>
            </a:tbl>
          </a:graphicData>
        </a:graphic>
      </p:graphicFrame>
      <p:pic>
        <p:nvPicPr>
          <p:cNvPr id="6" name="Picture 5">
            <a:extLst>
              <a:ext uri="{FF2B5EF4-FFF2-40B4-BE49-F238E27FC236}">
                <a16:creationId xmlns:a16="http://schemas.microsoft.com/office/drawing/2014/main" id="{2F78F2AE-A9F1-F897-A8D2-18B3D8B7EB0F}"/>
              </a:ext>
            </a:extLst>
          </p:cNvPr>
          <p:cNvPicPr>
            <a:picLocks noChangeAspect="1"/>
          </p:cNvPicPr>
          <p:nvPr/>
        </p:nvPicPr>
        <p:blipFill>
          <a:blip r:embed="rId2"/>
          <a:stretch>
            <a:fillRect/>
          </a:stretch>
        </p:blipFill>
        <p:spPr>
          <a:xfrm>
            <a:off x="1490855" y="1689184"/>
            <a:ext cx="3299746" cy="510584"/>
          </a:xfrm>
          <a:prstGeom prst="rect">
            <a:avLst/>
          </a:prstGeom>
        </p:spPr>
      </p:pic>
      <p:sp>
        <p:nvSpPr>
          <p:cNvPr id="8" name="TextBox 7">
            <a:extLst>
              <a:ext uri="{FF2B5EF4-FFF2-40B4-BE49-F238E27FC236}">
                <a16:creationId xmlns:a16="http://schemas.microsoft.com/office/drawing/2014/main" id="{737C977C-767D-DDE5-E9DE-C1EEE3E279A7}"/>
              </a:ext>
            </a:extLst>
          </p:cNvPr>
          <p:cNvSpPr txBox="1"/>
          <p:nvPr/>
        </p:nvSpPr>
        <p:spPr>
          <a:xfrm>
            <a:off x="947993" y="4336540"/>
            <a:ext cx="6573225" cy="923330"/>
          </a:xfrm>
          <a:prstGeom prst="rect">
            <a:avLst/>
          </a:prstGeom>
          <a:noFill/>
        </p:spPr>
        <p:txBody>
          <a:bodyPr wrap="square">
            <a:spAutoFit/>
          </a:bodyPr>
          <a:lstStyle/>
          <a:p>
            <a:r>
              <a:rPr lang="en-US" b="1" dirty="0"/>
              <a:t>Step 2: </a:t>
            </a:r>
            <a:r>
              <a:rPr lang="en-US" dirty="0"/>
              <a:t>Find the Closest Points and Merge</a:t>
            </a:r>
          </a:p>
          <a:p>
            <a:pPr>
              <a:buFont typeface="Arial" panose="020B0604020202020204" pitchFamily="34" charset="0"/>
              <a:buChar char="•"/>
            </a:pPr>
            <a:r>
              <a:rPr lang="en-US" dirty="0"/>
              <a:t>The smallest distance is </a:t>
            </a:r>
            <a:r>
              <a:rPr lang="en-US" b="1" dirty="0"/>
              <a:t>3.16</a:t>
            </a:r>
            <a:r>
              <a:rPr lang="en-US" dirty="0"/>
              <a:t> (between A and B).</a:t>
            </a:r>
          </a:p>
          <a:p>
            <a:pPr>
              <a:buFont typeface="Arial" panose="020B0604020202020204" pitchFamily="34" charset="0"/>
              <a:buChar char="•"/>
            </a:pPr>
            <a:r>
              <a:rPr lang="en-US" dirty="0"/>
              <a:t>Merge </a:t>
            </a:r>
            <a:r>
              <a:rPr lang="en-US" b="1" dirty="0"/>
              <a:t>A and B</a:t>
            </a:r>
            <a:r>
              <a:rPr lang="en-US" dirty="0"/>
              <a:t> into a single cluster </a:t>
            </a:r>
            <a:r>
              <a:rPr lang="en-US" b="1" dirty="0"/>
              <a:t>(AB)</a:t>
            </a:r>
            <a:r>
              <a:rPr lang="en-US" dirty="0"/>
              <a:t>.</a:t>
            </a:r>
          </a:p>
        </p:txBody>
      </p:sp>
      <p:sp>
        <p:nvSpPr>
          <p:cNvPr id="10" name="TextBox 9">
            <a:extLst>
              <a:ext uri="{FF2B5EF4-FFF2-40B4-BE49-F238E27FC236}">
                <a16:creationId xmlns:a16="http://schemas.microsoft.com/office/drawing/2014/main" id="{F1684F2F-8147-CC07-CA5F-4E2349F66DCA}"/>
              </a:ext>
            </a:extLst>
          </p:cNvPr>
          <p:cNvSpPr txBox="1"/>
          <p:nvPr/>
        </p:nvSpPr>
        <p:spPr>
          <a:xfrm>
            <a:off x="6017261" y="1861263"/>
            <a:ext cx="6174739" cy="830997"/>
          </a:xfrm>
          <a:prstGeom prst="rect">
            <a:avLst/>
          </a:prstGeom>
          <a:noFill/>
        </p:spPr>
        <p:txBody>
          <a:bodyPr wrap="square">
            <a:spAutoFit/>
          </a:bodyPr>
          <a:lstStyle/>
          <a:p>
            <a:r>
              <a:rPr lang="en-US" sz="1600" b="1" dirty="0"/>
              <a:t>Step 3: </a:t>
            </a:r>
            <a:r>
              <a:rPr lang="en-US" sz="1600" dirty="0"/>
              <a:t>Update the Distance Matrix (Using Single Linkage)</a:t>
            </a:r>
          </a:p>
          <a:p>
            <a:pPr>
              <a:buFont typeface="Arial" panose="020B0604020202020204" pitchFamily="34" charset="0"/>
              <a:buChar char="•"/>
            </a:pPr>
            <a:r>
              <a:rPr lang="en-US" sz="1600" dirty="0"/>
              <a:t>The distance between the new cluster </a:t>
            </a:r>
            <a:r>
              <a:rPr lang="en-US" sz="1600" b="1" dirty="0"/>
              <a:t>(AB)</a:t>
            </a:r>
            <a:r>
              <a:rPr lang="en-US" sz="1600" dirty="0"/>
              <a:t> and the remaining points is computed using the </a:t>
            </a:r>
            <a:r>
              <a:rPr lang="en-US" sz="1600" b="1" dirty="0"/>
              <a:t>minimum distance</a:t>
            </a:r>
            <a:r>
              <a:rPr lang="en-US" sz="1600" dirty="0"/>
              <a:t>:</a:t>
            </a:r>
          </a:p>
        </p:txBody>
      </p:sp>
      <p:graphicFrame>
        <p:nvGraphicFramePr>
          <p:cNvPr id="11" name="Table 10">
            <a:extLst>
              <a:ext uri="{FF2B5EF4-FFF2-40B4-BE49-F238E27FC236}">
                <a16:creationId xmlns:a16="http://schemas.microsoft.com/office/drawing/2014/main" id="{95A0EA47-5F82-FD0D-ED0E-31159957B6B9}"/>
              </a:ext>
            </a:extLst>
          </p:cNvPr>
          <p:cNvGraphicFramePr>
            <a:graphicFrameLocks noGrp="1"/>
          </p:cNvGraphicFramePr>
          <p:nvPr>
            <p:extLst>
              <p:ext uri="{D42A27DB-BD31-4B8C-83A1-F6EECF244321}">
                <p14:modId xmlns:p14="http://schemas.microsoft.com/office/powerpoint/2010/main" val="3366139777"/>
              </p:ext>
            </p:extLst>
          </p:nvPr>
        </p:nvGraphicFramePr>
        <p:xfrm>
          <a:off x="7378700" y="2918945"/>
          <a:ext cx="3968810" cy="1463040"/>
        </p:xfrm>
        <a:graphic>
          <a:graphicData uri="http://schemas.openxmlformats.org/drawingml/2006/table">
            <a:tbl>
              <a:tblPr firstRow="1" bandRow="1">
                <a:tableStyleId>{5C22544A-7EE6-4342-B048-85BDC9FD1C3A}</a:tableStyleId>
              </a:tblPr>
              <a:tblGrid>
                <a:gridCol w="529102">
                  <a:extLst>
                    <a:ext uri="{9D8B030D-6E8A-4147-A177-3AD203B41FA5}">
                      <a16:colId xmlns:a16="http://schemas.microsoft.com/office/drawing/2014/main" val="2010684195"/>
                    </a:ext>
                  </a:extLst>
                </a:gridCol>
                <a:gridCol w="971778">
                  <a:extLst>
                    <a:ext uri="{9D8B030D-6E8A-4147-A177-3AD203B41FA5}">
                      <a16:colId xmlns:a16="http://schemas.microsoft.com/office/drawing/2014/main" val="3542596219"/>
                    </a:ext>
                  </a:extLst>
                </a:gridCol>
                <a:gridCol w="946749">
                  <a:extLst>
                    <a:ext uri="{9D8B030D-6E8A-4147-A177-3AD203B41FA5}">
                      <a16:colId xmlns:a16="http://schemas.microsoft.com/office/drawing/2014/main" val="2556936414"/>
                    </a:ext>
                  </a:extLst>
                </a:gridCol>
                <a:gridCol w="1521181">
                  <a:extLst>
                    <a:ext uri="{9D8B030D-6E8A-4147-A177-3AD203B41FA5}">
                      <a16:colId xmlns:a16="http://schemas.microsoft.com/office/drawing/2014/main" val="3399970985"/>
                    </a:ext>
                  </a:extLst>
                </a:gridCol>
              </a:tblGrid>
              <a:tr h="250078">
                <a:tc>
                  <a:txBody>
                    <a:bodyPr/>
                    <a:lstStyle/>
                    <a:p>
                      <a:endParaRPr lang="en-US"/>
                    </a:p>
                  </a:txBody>
                  <a:tcPr/>
                </a:tc>
                <a:tc>
                  <a:txBody>
                    <a:bodyPr/>
                    <a:lstStyle/>
                    <a:p>
                      <a:r>
                        <a:rPr lang="en-US" dirty="0"/>
                        <a:t>AB</a:t>
                      </a:r>
                    </a:p>
                  </a:txBody>
                  <a:tcPr/>
                </a:tc>
                <a:tc>
                  <a:txBody>
                    <a:bodyPr/>
                    <a:lstStyle/>
                    <a:p>
                      <a:r>
                        <a:rPr lang="en-US" dirty="0"/>
                        <a:t>C</a:t>
                      </a:r>
                    </a:p>
                  </a:txBody>
                  <a:tcPr/>
                </a:tc>
                <a:tc>
                  <a:txBody>
                    <a:bodyPr/>
                    <a:lstStyle/>
                    <a:p>
                      <a:r>
                        <a:rPr lang="en-US" dirty="0"/>
                        <a:t>D</a:t>
                      </a:r>
                    </a:p>
                  </a:txBody>
                  <a:tcPr/>
                </a:tc>
                <a:extLst>
                  <a:ext uri="{0D108BD9-81ED-4DB2-BD59-A6C34878D82A}">
                    <a16:rowId xmlns:a16="http://schemas.microsoft.com/office/drawing/2014/main" val="4068342881"/>
                  </a:ext>
                </a:extLst>
              </a:tr>
              <a:tr h="250078">
                <a:tc>
                  <a:txBody>
                    <a:bodyPr/>
                    <a:lstStyle/>
                    <a:p>
                      <a:r>
                        <a:rPr lang="en-US" dirty="0"/>
                        <a:t>A</a:t>
                      </a:r>
                    </a:p>
                  </a:txBody>
                  <a:tcPr/>
                </a:tc>
                <a:tc>
                  <a:txBody>
                    <a:bodyPr/>
                    <a:lstStyle/>
                    <a:p>
                      <a:r>
                        <a:rPr lang="en-US"/>
                        <a:t>0</a:t>
                      </a:r>
                    </a:p>
                  </a:txBody>
                  <a:tcPr anchor="ctr"/>
                </a:tc>
                <a:tc>
                  <a:txBody>
                    <a:bodyPr/>
                    <a:lstStyle/>
                    <a:p>
                      <a:r>
                        <a:rPr lang="en-US" dirty="0"/>
                        <a:t>4.47</a:t>
                      </a:r>
                    </a:p>
                  </a:txBody>
                  <a:tcPr anchor="ctr"/>
                </a:tc>
                <a:tc>
                  <a:txBody>
                    <a:bodyPr/>
                    <a:lstStyle/>
                    <a:p>
                      <a:r>
                        <a:rPr lang="en-US" dirty="0"/>
                        <a:t>3.61</a:t>
                      </a:r>
                    </a:p>
                  </a:txBody>
                  <a:tcPr anchor="ctr"/>
                </a:tc>
                <a:extLst>
                  <a:ext uri="{0D108BD9-81ED-4DB2-BD59-A6C34878D82A}">
                    <a16:rowId xmlns:a16="http://schemas.microsoft.com/office/drawing/2014/main" val="820150109"/>
                  </a:ext>
                </a:extLst>
              </a:tr>
              <a:tr h="250078">
                <a:tc>
                  <a:txBody>
                    <a:bodyPr/>
                    <a:lstStyle/>
                    <a:p>
                      <a:r>
                        <a:rPr lang="en-US" dirty="0"/>
                        <a:t>C</a:t>
                      </a:r>
                    </a:p>
                  </a:txBody>
                  <a:tcPr/>
                </a:tc>
                <a:tc>
                  <a:txBody>
                    <a:bodyPr/>
                    <a:lstStyle/>
                    <a:p>
                      <a:r>
                        <a:rPr lang="en-US" dirty="0"/>
                        <a:t>4.47</a:t>
                      </a:r>
                    </a:p>
                  </a:txBody>
                  <a:tcPr/>
                </a:tc>
                <a:tc>
                  <a:txBody>
                    <a:bodyPr/>
                    <a:lstStyle/>
                    <a:p>
                      <a:r>
                        <a:rPr lang="en-US" dirty="0"/>
                        <a:t>0</a:t>
                      </a:r>
                    </a:p>
                  </a:txBody>
                  <a:tcPr/>
                </a:tc>
                <a:tc>
                  <a:txBody>
                    <a:bodyPr/>
                    <a:lstStyle/>
                    <a:p>
                      <a:r>
                        <a:rPr lang="en-US" dirty="0"/>
                        <a:t>5.10</a:t>
                      </a:r>
                    </a:p>
                  </a:txBody>
                  <a:tcPr/>
                </a:tc>
                <a:extLst>
                  <a:ext uri="{0D108BD9-81ED-4DB2-BD59-A6C34878D82A}">
                    <a16:rowId xmlns:a16="http://schemas.microsoft.com/office/drawing/2014/main" val="1553599011"/>
                  </a:ext>
                </a:extLst>
              </a:tr>
              <a:tr h="250078">
                <a:tc>
                  <a:txBody>
                    <a:bodyPr/>
                    <a:lstStyle/>
                    <a:p>
                      <a:r>
                        <a:rPr lang="en-US" dirty="0"/>
                        <a:t>D</a:t>
                      </a:r>
                    </a:p>
                  </a:txBody>
                  <a:tcPr/>
                </a:tc>
                <a:tc>
                  <a:txBody>
                    <a:bodyPr/>
                    <a:lstStyle/>
                    <a:p>
                      <a:r>
                        <a:rPr lang="en-US" dirty="0"/>
                        <a:t>3.61</a:t>
                      </a:r>
                    </a:p>
                  </a:txBody>
                  <a:tcPr/>
                </a:tc>
                <a:tc>
                  <a:txBody>
                    <a:bodyPr/>
                    <a:lstStyle/>
                    <a:p>
                      <a:r>
                        <a:rPr lang="en-US" dirty="0"/>
                        <a:t>5.10</a:t>
                      </a:r>
                    </a:p>
                  </a:txBody>
                  <a:tcPr/>
                </a:tc>
                <a:tc>
                  <a:txBody>
                    <a:bodyPr/>
                    <a:lstStyle/>
                    <a:p>
                      <a:r>
                        <a:rPr lang="en-US" dirty="0"/>
                        <a:t>0</a:t>
                      </a:r>
                    </a:p>
                  </a:txBody>
                  <a:tcPr/>
                </a:tc>
                <a:extLst>
                  <a:ext uri="{0D108BD9-81ED-4DB2-BD59-A6C34878D82A}">
                    <a16:rowId xmlns:a16="http://schemas.microsoft.com/office/drawing/2014/main" val="1373113340"/>
                  </a:ext>
                </a:extLst>
              </a:tr>
            </a:tbl>
          </a:graphicData>
        </a:graphic>
      </p:graphicFrame>
      <p:sp>
        <p:nvSpPr>
          <p:cNvPr id="13" name="TextBox 12">
            <a:extLst>
              <a:ext uri="{FF2B5EF4-FFF2-40B4-BE49-F238E27FC236}">
                <a16:creationId xmlns:a16="http://schemas.microsoft.com/office/drawing/2014/main" id="{07DFAE17-C5F2-FF05-D4FB-7BCAC2AE5023}"/>
              </a:ext>
            </a:extLst>
          </p:cNvPr>
          <p:cNvSpPr txBox="1"/>
          <p:nvPr/>
        </p:nvSpPr>
        <p:spPr>
          <a:xfrm>
            <a:off x="6387367" y="4799712"/>
            <a:ext cx="6093994" cy="830997"/>
          </a:xfrm>
          <a:prstGeom prst="rect">
            <a:avLst/>
          </a:prstGeom>
          <a:noFill/>
        </p:spPr>
        <p:txBody>
          <a:bodyPr wrap="square">
            <a:spAutoFit/>
          </a:bodyPr>
          <a:lstStyle/>
          <a:p>
            <a:r>
              <a:rPr lang="en-US" sz="1600" b="1" dirty="0"/>
              <a:t>Step 4: </a:t>
            </a:r>
            <a:r>
              <a:rPr lang="en-US" sz="1600" dirty="0"/>
              <a:t>Merge the Next Closest Cluster</a:t>
            </a:r>
          </a:p>
          <a:p>
            <a:pPr>
              <a:buFont typeface="Arial" panose="020B0604020202020204" pitchFamily="34" charset="0"/>
              <a:buChar char="•"/>
            </a:pPr>
            <a:r>
              <a:rPr lang="en-US" sz="1600" dirty="0"/>
              <a:t>The next smallest distance is </a:t>
            </a:r>
            <a:r>
              <a:rPr lang="en-US" sz="1600" b="1" dirty="0"/>
              <a:t>3.61</a:t>
            </a:r>
            <a:r>
              <a:rPr lang="en-US" sz="1600" dirty="0"/>
              <a:t> (between AB and D).</a:t>
            </a:r>
          </a:p>
          <a:p>
            <a:pPr>
              <a:buFont typeface="Arial" panose="020B0604020202020204" pitchFamily="34" charset="0"/>
              <a:buChar char="•"/>
            </a:pPr>
            <a:r>
              <a:rPr lang="en-US" sz="1600" dirty="0"/>
              <a:t>Merge </a:t>
            </a:r>
            <a:r>
              <a:rPr lang="en-US" sz="1600" b="1" dirty="0"/>
              <a:t>(AB) and D</a:t>
            </a:r>
            <a:r>
              <a:rPr lang="en-US" sz="1600" dirty="0"/>
              <a:t> into a new cluster </a:t>
            </a:r>
            <a:r>
              <a:rPr lang="en-US" sz="1600" b="1" dirty="0"/>
              <a:t>(ABD)</a:t>
            </a:r>
            <a:r>
              <a:rPr lang="en-US" sz="1600" dirty="0"/>
              <a:t>.</a:t>
            </a:r>
          </a:p>
        </p:txBody>
      </p:sp>
      <p:sp>
        <p:nvSpPr>
          <p:cNvPr id="15" name="TextBox 14">
            <a:extLst>
              <a:ext uri="{FF2B5EF4-FFF2-40B4-BE49-F238E27FC236}">
                <a16:creationId xmlns:a16="http://schemas.microsoft.com/office/drawing/2014/main" id="{65CC2696-41B0-7DBC-9F17-53AEF15260B7}"/>
              </a:ext>
            </a:extLst>
          </p:cNvPr>
          <p:cNvSpPr txBox="1"/>
          <p:nvPr/>
        </p:nvSpPr>
        <p:spPr>
          <a:xfrm>
            <a:off x="6316108" y="5810808"/>
            <a:ext cx="6093994" cy="584775"/>
          </a:xfrm>
          <a:prstGeom prst="rect">
            <a:avLst/>
          </a:prstGeom>
          <a:noFill/>
        </p:spPr>
        <p:txBody>
          <a:bodyPr wrap="square">
            <a:spAutoFit/>
          </a:bodyPr>
          <a:lstStyle/>
          <a:p>
            <a:r>
              <a:rPr lang="en-US" sz="1600" b="1" dirty="0"/>
              <a:t>Step 5: </a:t>
            </a:r>
            <a:r>
              <a:rPr lang="en-US" sz="1600" dirty="0"/>
              <a:t>Repeat the steps until all are merged into a single final cluster (ABCD)</a:t>
            </a:r>
          </a:p>
        </p:txBody>
      </p:sp>
    </p:spTree>
    <p:extLst>
      <p:ext uri="{BB962C8B-B14F-4D97-AF65-F5344CB8AC3E}">
        <p14:creationId xmlns:p14="http://schemas.microsoft.com/office/powerpoint/2010/main" val="544087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F3281-FB77-F8BD-A13B-9C57902A2D74}"/>
              </a:ext>
            </a:extLst>
          </p:cNvPr>
          <p:cNvSpPr>
            <a:spLocks noGrp="1"/>
          </p:cNvSpPr>
          <p:nvPr>
            <p:ph type="title"/>
          </p:nvPr>
        </p:nvSpPr>
        <p:spPr/>
        <p:txBody>
          <a:bodyPr/>
          <a:lstStyle/>
          <a:p>
            <a:r>
              <a:rPr lang="en-US" dirty="0"/>
              <a:t>Final Dendrogram </a:t>
            </a:r>
          </a:p>
        </p:txBody>
      </p:sp>
      <p:sp>
        <p:nvSpPr>
          <p:cNvPr id="3" name="Content Placeholder 2">
            <a:extLst>
              <a:ext uri="{FF2B5EF4-FFF2-40B4-BE49-F238E27FC236}">
                <a16:creationId xmlns:a16="http://schemas.microsoft.com/office/drawing/2014/main" id="{364F7D31-9AD5-9BD9-F1BD-4EA812738B16}"/>
              </a:ext>
            </a:extLst>
          </p:cNvPr>
          <p:cNvSpPr>
            <a:spLocks noGrp="1"/>
          </p:cNvSpPr>
          <p:nvPr>
            <p:ph idx="1"/>
          </p:nvPr>
        </p:nvSpPr>
        <p:spPr/>
        <p:txBody>
          <a:bodyPr>
            <a:normAutofit lnSpcReduction="10000"/>
          </a:bodyPr>
          <a:lstStyle/>
          <a:p>
            <a:r>
              <a:rPr lang="en-US" dirty="0"/>
              <a:t>The hierarchical clustering process can be visualized as:</a:t>
            </a:r>
          </a:p>
          <a:p>
            <a:endParaRPr lang="en-US" dirty="0"/>
          </a:p>
          <a:p>
            <a:endParaRPr lang="en-US" dirty="0"/>
          </a:p>
          <a:p>
            <a:endParaRPr lang="en-US" dirty="0"/>
          </a:p>
          <a:p>
            <a:endParaRPr lang="en-US" dirty="0"/>
          </a:p>
          <a:p>
            <a:endParaRPr lang="en-US" dirty="0"/>
          </a:p>
          <a:p>
            <a:endParaRPr lang="en-US" dirty="0"/>
          </a:p>
          <a:p>
            <a:pPr algn="just"/>
            <a:r>
              <a:rPr lang="en-US" dirty="0"/>
              <a:t>A dendrogram is a tree-like diagram that visualizes the process of hierarchical clustering, showing how data points or clusters merge (or split) step-by-step.</a:t>
            </a:r>
          </a:p>
          <a:p>
            <a:pPr algn="just"/>
            <a:r>
              <a:rPr lang="en-US" dirty="0"/>
              <a:t>The Ward method (also called Ward’s minimum variance method) is a specific linkage criterion used in Agglomerative Hierarchical Clustering to determine which clusters to merge at each step.</a:t>
            </a:r>
          </a:p>
          <a:p>
            <a:endParaRPr lang="en-US" dirty="0"/>
          </a:p>
        </p:txBody>
      </p:sp>
      <p:sp>
        <p:nvSpPr>
          <p:cNvPr id="5" name="TextBox 4">
            <a:extLst>
              <a:ext uri="{FF2B5EF4-FFF2-40B4-BE49-F238E27FC236}">
                <a16:creationId xmlns:a16="http://schemas.microsoft.com/office/drawing/2014/main" id="{2D0307B0-1BB6-2C09-56C3-45C7F886E304}"/>
              </a:ext>
            </a:extLst>
          </p:cNvPr>
          <p:cNvSpPr txBox="1"/>
          <p:nvPr/>
        </p:nvSpPr>
        <p:spPr>
          <a:xfrm>
            <a:off x="3046997" y="2419354"/>
            <a:ext cx="6093994" cy="2031325"/>
          </a:xfrm>
          <a:prstGeom prst="rect">
            <a:avLst/>
          </a:prstGeom>
          <a:noFill/>
        </p:spPr>
        <p:txBody>
          <a:bodyPr wrap="square">
            <a:spAutoFit/>
          </a:bodyPr>
          <a:lstStyle/>
          <a:p>
            <a:r>
              <a:rPr lang="en-US" dirty="0"/>
              <a:t> ┌─────(ABCD)</a:t>
            </a:r>
          </a:p>
          <a:p>
            <a:r>
              <a:rPr lang="en-US" dirty="0"/>
              <a:t>   │</a:t>
            </a:r>
          </a:p>
          <a:p>
            <a:r>
              <a:rPr lang="en-US" dirty="0"/>
              <a:t>   ├──(ABD)──────C</a:t>
            </a:r>
          </a:p>
          <a:p>
            <a:r>
              <a:rPr lang="en-US" dirty="0"/>
              <a:t>   │</a:t>
            </a:r>
          </a:p>
          <a:p>
            <a:r>
              <a:rPr lang="en-US" dirty="0"/>
              <a:t>   ├──(AB)──────D</a:t>
            </a:r>
          </a:p>
          <a:p>
            <a:r>
              <a:rPr lang="en-US" dirty="0"/>
              <a:t>   │</a:t>
            </a:r>
          </a:p>
          <a:p>
            <a:r>
              <a:rPr lang="en-US" dirty="0"/>
              <a:t>   A──────B</a:t>
            </a:r>
          </a:p>
        </p:txBody>
      </p:sp>
    </p:spTree>
    <p:extLst>
      <p:ext uri="{BB962C8B-B14F-4D97-AF65-F5344CB8AC3E}">
        <p14:creationId xmlns:p14="http://schemas.microsoft.com/office/powerpoint/2010/main" val="2901940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1343-DB0A-BDB4-3A03-419B22D2D712}"/>
              </a:ext>
            </a:extLst>
          </p:cNvPr>
          <p:cNvSpPr>
            <a:spLocks noGrp="1"/>
          </p:cNvSpPr>
          <p:nvPr>
            <p:ph type="title"/>
          </p:nvPr>
        </p:nvSpPr>
        <p:spPr/>
        <p:txBody>
          <a:bodyPr/>
          <a:lstStyle/>
          <a:p>
            <a:r>
              <a:rPr lang="en-US" dirty="0">
                <a:solidFill>
                  <a:srgbClr val="000000"/>
                </a:solidFill>
                <a:effectLst/>
                <a:latin typeface="Arial" panose="020B0604020202020204" pitchFamily="34" charset="0"/>
              </a:rPr>
              <a:t>Ward Method</a:t>
            </a:r>
            <a:br>
              <a:rPr lang="en-US" dirty="0">
                <a:solidFill>
                  <a:srgbClr val="000000"/>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458AA5D6-FC9F-FABA-924B-EEA83437C2AF}"/>
              </a:ext>
            </a:extLst>
          </p:cNvPr>
          <p:cNvSpPr>
            <a:spLocks noGrp="1"/>
          </p:cNvSpPr>
          <p:nvPr>
            <p:ph idx="1"/>
          </p:nvPr>
        </p:nvSpPr>
        <p:spPr/>
        <p:txBody>
          <a:bodyPr>
            <a:normAutofit/>
          </a:bodyPr>
          <a:lstStyle/>
          <a:p>
            <a:pPr algn="just"/>
            <a:r>
              <a:rPr lang="en-US" sz="2200" dirty="0">
                <a:solidFill>
                  <a:srgbClr val="000000"/>
                </a:solidFill>
                <a:effectLst/>
                <a:latin typeface="Arial" panose="020B0604020202020204" pitchFamily="34" charset="0"/>
              </a:rPr>
              <a:t>Goal: Minimize the increase in within-cluster variance when merging two clusters.</a:t>
            </a:r>
          </a:p>
          <a:p>
            <a:pPr algn="just"/>
            <a:r>
              <a:rPr lang="en-US" sz="2200" dirty="0">
                <a:solidFill>
                  <a:srgbClr val="000000"/>
                </a:solidFill>
                <a:effectLst/>
                <a:latin typeface="Arial" panose="020B0604020202020204" pitchFamily="34" charset="0"/>
              </a:rPr>
              <a:t>Dendrogram with Ward Method</a:t>
            </a:r>
          </a:p>
          <a:p>
            <a:pPr lvl="1" algn="just"/>
            <a:r>
              <a:rPr lang="en-US" sz="2200" dirty="0">
                <a:solidFill>
                  <a:srgbClr val="000000"/>
                </a:solidFill>
                <a:effectLst/>
                <a:latin typeface="Arial" panose="020B0604020202020204" pitchFamily="34" charset="0"/>
              </a:rPr>
              <a:t>Structure:</a:t>
            </a:r>
          </a:p>
          <a:p>
            <a:pPr lvl="2" algn="just">
              <a:buFont typeface="Arial" panose="020B0604020202020204" pitchFamily="34" charset="0"/>
              <a:buChar char="•"/>
            </a:pPr>
            <a:r>
              <a:rPr lang="en-US" sz="2200" dirty="0">
                <a:solidFill>
                  <a:srgbClr val="000000"/>
                </a:solidFill>
                <a:effectLst/>
                <a:latin typeface="Arial" panose="020B0604020202020204" pitchFamily="34" charset="0"/>
              </a:rPr>
              <a:t>Leaves: Individual data points (bottom of the tree).</a:t>
            </a:r>
          </a:p>
          <a:p>
            <a:pPr lvl="2" algn="just">
              <a:buFont typeface="Arial" panose="020B0604020202020204" pitchFamily="34" charset="0"/>
              <a:buChar char="•"/>
            </a:pPr>
            <a:r>
              <a:rPr lang="en-US" sz="2200" dirty="0">
                <a:solidFill>
                  <a:srgbClr val="000000"/>
                </a:solidFill>
                <a:effectLst/>
                <a:latin typeface="Arial" panose="020B0604020202020204" pitchFamily="34" charset="0"/>
              </a:rPr>
              <a:t>Branches: Merges of clusters as you move up.</a:t>
            </a:r>
          </a:p>
          <a:p>
            <a:pPr lvl="2" algn="just">
              <a:buFont typeface="Arial" panose="020B0604020202020204" pitchFamily="34" charset="0"/>
              <a:buChar char="•"/>
            </a:pPr>
            <a:r>
              <a:rPr lang="en-US" sz="2200" dirty="0">
                <a:solidFill>
                  <a:srgbClr val="000000"/>
                </a:solidFill>
                <a:effectLst/>
                <a:latin typeface="Arial" panose="020B0604020202020204" pitchFamily="34" charset="0"/>
              </a:rPr>
              <a:t>Height: Represents the "distance" (increase in variance) when two clusters are merged using the Ward method.</a:t>
            </a:r>
          </a:p>
          <a:p>
            <a:pPr lvl="1" algn="just"/>
            <a:r>
              <a:rPr lang="en-US" sz="2200" dirty="0">
                <a:solidFill>
                  <a:srgbClr val="000000"/>
                </a:solidFill>
                <a:effectLst/>
                <a:latin typeface="Courier New" panose="02070309020205020404" pitchFamily="49" charset="0"/>
              </a:rPr>
              <a:t>linkage(</a:t>
            </a:r>
            <a:r>
              <a:rPr lang="en-US" sz="2200" dirty="0" err="1">
                <a:solidFill>
                  <a:srgbClr val="000000"/>
                </a:solidFill>
                <a:effectLst/>
                <a:latin typeface="Courier New" panose="02070309020205020404" pitchFamily="49" charset="0"/>
              </a:rPr>
              <a:t>X_scaled</a:t>
            </a:r>
            <a:r>
              <a:rPr lang="en-US" sz="2200" dirty="0">
                <a:solidFill>
                  <a:srgbClr val="000000"/>
                </a:solidFill>
                <a:effectLst/>
                <a:latin typeface="Courier New" panose="02070309020205020404" pitchFamily="49" charset="0"/>
              </a:rPr>
              <a:t>, method='ward')</a:t>
            </a:r>
            <a:r>
              <a:rPr lang="en-US" sz="2200" dirty="0">
                <a:solidFill>
                  <a:srgbClr val="000000"/>
                </a:solidFill>
                <a:effectLst/>
                <a:latin typeface="Arial" panose="020B0604020202020204" pitchFamily="34" charset="0"/>
              </a:rPr>
              <a:t> computes the merges using Ward’s method.</a:t>
            </a:r>
          </a:p>
          <a:p>
            <a:pPr marL="457200" lvl="1" indent="0" algn="just">
              <a:buNone/>
            </a:pPr>
            <a:endParaRPr lang="en-US" sz="2200" dirty="0"/>
          </a:p>
        </p:txBody>
      </p:sp>
    </p:spTree>
    <p:extLst>
      <p:ext uri="{BB962C8B-B14F-4D97-AF65-F5344CB8AC3E}">
        <p14:creationId xmlns:p14="http://schemas.microsoft.com/office/powerpoint/2010/main" val="2042319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A9FD-22F9-90ED-88CD-A82F36D699E8}"/>
              </a:ext>
            </a:extLst>
          </p:cNvPr>
          <p:cNvSpPr>
            <a:spLocks noGrp="1"/>
          </p:cNvSpPr>
          <p:nvPr>
            <p:ph type="title"/>
          </p:nvPr>
        </p:nvSpPr>
        <p:spPr/>
        <p:txBody>
          <a:bodyPr/>
          <a:lstStyle/>
          <a:p>
            <a:r>
              <a:rPr lang="en-US" dirty="0"/>
              <a:t>Computing Distance Matrix</a:t>
            </a:r>
            <a:br>
              <a:rPr lang="en-US" dirty="0"/>
            </a:br>
            <a:endParaRPr lang="en-US" dirty="0"/>
          </a:p>
        </p:txBody>
      </p:sp>
      <p:sp>
        <p:nvSpPr>
          <p:cNvPr id="3" name="Content Placeholder 2">
            <a:extLst>
              <a:ext uri="{FF2B5EF4-FFF2-40B4-BE49-F238E27FC236}">
                <a16:creationId xmlns:a16="http://schemas.microsoft.com/office/drawing/2014/main" id="{2A84AEA4-3564-317F-1709-4F63479BAC02}"/>
              </a:ext>
            </a:extLst>
          </p:cNvPr>
          <p:cNvSpPr>
            <a:spLocks noGrp="1"/>
          </p:cNvSpPr>
          <p:nvPr>
            <p:ph idx="1"/>
          </p:nvPr>
        </p:nvSpPr>
        <p:spPr>
          <a:xfrm>
            <a:off x="613611" y="1132155"/>
            <a:ext cx="11369842" cy="4288889"/>
          </a:xfrm>
        </p:spPr>
        <p:txBody>
          <a:bodyPr/>
          <a:lstStyle/>
          <a:p>
            <a:pPr algn="just"/>
            <a:r>
              <a:rPr lang="en-US" dirty="0"/>
              <a:t>While merging two clusters we check the distance between two every pair of clusters and merge the pair with the least distance/most similarity. But the question is how is that distance determined. There are different ways of defining Inter Cluster distance/similarity. Some of them are:</a:t>
            </a:r>
          </a:p>
          <a:p>
            <a:pPr lvl="1" algn="just"/>
            <a:r>
              <a:rPr lang="en-US" dirty="0"/>
              <a:t>Min Distance: Find the minimum distance between any two points of the cluster.</a:t>
            </a:r>
          </a:p>
          <a:p>
            <a:pPr lvl="1" algn="just"/>
            <a:r>
              <a:rPr lang="en-US" dirty="0"/>
              <a:t>Max Distance: Find the maximum distance between any two points of the cluster.</a:t>
            </a:r>
          </a:p>
          <a:p>
            <a:pPr lvl="1" algn="just"/>
            <a:r>
              <a:rPr lang="en-US" dirty="0"/>
              <a:t>Group Average: Find the average distance between every two points of the clusters.</a:t>
            </a:r>
          </a:p>
          <a:p>
            <a:pPr lvl="1" algn="just"/>
            <a:r>
              <a:rPr lang="en-US" dirty="0"/>
              <a:t>Ward’s Method: The similarity of two clusters is based on the increase in squared error when two clusters are merged.</a:t>
            </a:r>
          </a:p>
        </p:txBody>
      </p:sp>
      <p:sp>
        <p:nvSpPr>
          <p:cNvPr id="4" name="AutoShape 2" descr="Distance Matrix Comparision in Hierarchical Clustering - Geeksforgeeks">
            <a:extLst>
              <a:ext uri="{FF2B5EF4-FFF2-40B4-BE49-F238E27FC236}">
                <a16:creationId xmlns:a16="http://schemas.microsoft.com/office/drawing/2014/main" id="{8FDCCB40-EF03-E0B4-81AD-1CB0710BA95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4B2646D9-D787-0D04-9788-1D691B4DE29E}"/>
              </a:ext>
            </a:extLst>
          </p:cNvPr>
          <p:cNvPicPr>
            <a:picLocks noChangeAspect="1"/>
          </p:cNvPicPr>
          <p:nvPr/>
        </p:nvPicPr>
        <p:blipFill>
          <a:blip r:embed="rId2"/>
          <a:stretch>
            <a:fillRect/>
          </a:stretch>
        </p:blipFill>
        <p:spPr>
          <a:xfrm>
            <a:off x="3355050" y="4136962"/>
            <a:ext cx="5563082" cy="2568163"/>
          </a:xfrm>
          <a:prstGeom prst="rect">
            <a:avLst/>
          </a:prstGeom>
        </p:spPr>
      </p:pic>
    </p:spTree>
    <p:extLst>
      <p:ext uri="{BB962C8B-B14F-4D97-AF65-F5344CB8AC3E}">
        <p14:creationId xmlns:p14="http://schemas.microsoft.com/office/powerpoint/2010/main" val="88690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975BD-D62E-4B1F-175A-D6D4713731AA}"/>
              </a:ext>
            </a:extLst>
          </p:cNvPr>
          <p:cNvSpPr>
            <a:spLocks noGrp="1"/>
          </p:cNvSpPr>
          <p:nvPr>
            <p:ph type="title"/>
          </p:nvPr>
        </p:nvSpPr>
        <p:spPr/>
        <p:txBody>
          <a:bodyPr>
            <a:normAutofit fontScale="90000"/>
          </a:bodyPr>
          <a:lstStyle/>
          <a:p>
            <a:r>
              <a:rPr lang="en-US" dirty="0"/>
              <a:t>How do I choose the right method for hierarchical clustering?</a:t>
            </a:r>
            <a:br>
              <a:rPr lang="en-US" dirty="0"/>
            </a:br>
            <a:endParaRPr lang="en-US" dirty="0"/>
          </a:p>
        </p:txBody>
      </p:sp>
      <p:sp>
        <p:nvSpPr>
          <p:cNvPr id="3" name="Content Placeholder 2">
            <a:extLst>
              <a:ext uri="{FF2B5EF4-FFF2-40B4-BE49-F238E27FC236}">
                <a16:creationId xmlns:a16="http://schemas.microsoft.com/office/drawing/2014/main" id="{1B5FF36C-B382-C12F-8B03-4053F2D5DDF4}"/>
              </a:ext>
            </a:extLst>
          </p:cNvPr>
          <p:cNvSpPr>
            <a:spLocks noGrp="1"/>
          </p:cNvSpPr>
          <p:nvPr>
            <p:ph idx="1"/>
          </p:nvPr>
        </p:nvSpPr>
        <p:spPr/>
        <p:txBody>
          <a:bodyPr>
            <a:normAutofit/>
          </a:bodyPr>
          <a:lstStyle/>
          <a:p>
            <a:pPr algn="just"/>
            <a:r>
              <a:rPr lang="en-US" sz="2400" dirty="0"/>
              <a:t>The choice of method depends on the structure of your data. For example:</a:t>
            </a:r>
          </a:p>
          <a:p>
            <a:pPr lvl="1" algn="just"/>
            <a:r>
              <a:rPr lang="en-US" sz="2400" dirty="0"/>
              <a:t>Min Distance works well for elongated clusters.</a:t>
            </a:r>
          </a:p>
          <a:p>
            <a:pPr lvl="1" algn="just"/>
            <a:r>
              <a:rPr lang="en-US" sz="2400" dirty="0"/>
              <a:t>Max Distance creates compact, well-separated clusters.</a:t>
            </a:r>
          </a:p>
          <a:p>
            <a:pPr lvl="1" algn="just"/>
            <a:r>
              <a:rPr lang="en-US" sz="2400" dirty="0"/>
              <a:t>Group Average offers a balanced approach.</a:t>
            </a:r>
          </a:p>
          <a:p>
            <a:pPr lvl="1" algn="just"/>
            <a:r>
              <a:rPr lang="en-US" sz="2400" dirty="0"/>
              <a:t>Ward’s Method tries to minimize the increase in squared error and maintains compact clusters.</a:t>
            </a:r>
          </a:p>
        </p:txBody>
      </p:sp>
    </p:spTree>
    <p:extLst>
      <p:ext uri="{BB962C8B-B14F-4D97-AF65-F5344CB8AC3E}">
        <p14:creationId xmlns:p14="http://schemas.microsoft.com/office/powerpoint/2010/main" val="49460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E7EE5-6B50-F273-2962-8A99F05497CF}"/>
              </a:ext>
            </a:extLst>
          </p:cNvPr>
          <p:cNvSpPr>
            <a:spLocks noGrp="1"/>
          </p:cNvSpPr>
          <p:nvPr>
            <p:ph type="title"/>
          </p:nvPr>
        </p:nvSpPr>
        <p:spPr/>
        <p:txBody>
          <a:bodyPr/>
          <a:lstStyle/>
          <a:p>
            <a:r>
              <a:rPr lang="en-US" dirty="0"/>
              <a:t>Density based Clustering - DBSCAN</a:t>
            </a:r>
          </a:p>
        </p:txBody>
      </p:sp>
      <p:sp>
        <p:nvSpPr>
          <p:cNvPr id="3" name="Content Placeholder 2">
            <a:extLst>
              <a:ext uri="{FF2B5EF4-FFF2-40B4-BE49-F238E27FC236}">
                <a16:creationId xmlns:a16="http://schemas.microsoft.com/office/drawing/2014/main" id="{2852A363-B17B-9F59-6B89-9D807B84AACD}"/>
              </a:ext>
            </a:extLst>
          </p:cNvPr>
          <p:cNvSpPr>
            <a:spLocks noGrp="1"/>
          </p:cNvSpPr>
          <p:nvPr>
            <p:ph idx="1"/>
          </p:nvPr>
        </p:nvSpPr>
        <p:spPr/>
        <p:txBody>
          <a:bodyPr>
            <a:normAutofit/>
          </a:bodyPr>
          <a:lstStyle/>
          <a:p>
            <a:pPr algn="just"/>
            <a:r>
              <a:rPr lang="en-US" sz="2200" dirty="0"/>
              <a:t>DBSCAN is a density-based clustering algorithm that groups data points that are closely packed together and marks outliers as noise based on their density in the feature space. It  identifies clusters as dense regions in the data space, separated by areas of lower density.</a:t>
            </a:r>
          </a:p>
          <a:p>
            <a:pPr algn="just"/>
            <a:r>
              <a:rPr lang="en-US" sz="2200" dirty="0"/>
              <a:t>Unlike K-Means or hierarchical clustering, which assume clusters are compact and spherical, DBSCAN excels in handling real-world data irregularities such as:</a:t>
            </a:r>
          </a:p>
          <a:p>
            <a:pPr lvl="1" algn="just"/>
            <a:r>
              <a:rPr lang="en-US" sz="2200" dirty="0"/>
              <a:t>Arbitrary-Shaped Clusters: Clusters can take any shape, not just circular or convex.</a:t>
            </a:r>
          </a:p>
          <a:p>
            <a:pPr lvl="1" algn="just"/>
            <a:r>
              <a:rPr lang="en-US" sz="2200" dirty="0"/>
              <a:t>Noise and Outliers: It effectively identifies and handles noise points without assigning them to any cluster.</a:t>
            </a:r>
          </a:p>
        </p:txBody>
      </p:sp>
    </p:spTree>
    <p:extLst>
      <p:ext uri="{BB962C8B-B14F-4D97-AF65-F5344CB8AC3E}">
        <p14:creationId xmlns:p14="http://schemas.microsoft.com/office/powerpoint/2010/main" val="306623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F6665-4200-631F-2365-52137BCE9D0D}"/>
              </a:ext>
            </a:extLst>
          </p:cNvPr>
          <p:cNvSpPr>
            <a:spLocks noGrp="1"/>
          </p:cNvSpPr>
          <p:nvPr>
            <p:ph type="title"/>
          </p:nvPr>
        </p:nvSpPr>
        <p:spPr/>
        <p:txBody>
          <a:bodyPr/>
          <a:lstStyle/>
          <a:p>
            <a:r>
              <a:rPr lang="en-US" dirty="0"/>
              <a:t>DBSCAN</a:t>
            </a:r>
          </a:p>
        </p:txBody>
      </p:sp>
      <p:sp>
        <p:nvSpPr>
          <p:cNvPr id="3" name="Content Placeholder 2">
            <a:extLst>
              <a:ext uri="{FF2B5EF4-FFF2-40B4-BE49-F238E27FC236}">
                <a16:creationId xmlns:a16="http://schemas.microsoft.com/office/drawing/2014/main" id="{CC759DAF-47E8-A19A-673D-19A25FDDD416}"/>
              </a:ext>
            </a:extLst>
          </p:cNvPr>
          <p:cNvSpPr>
            <a:spLocks noGrp="1"/>
          </p:cNvSpPr>
          <p:nvPr>
            <p:ph idx="1"/>
          </p:nvPr>
        </p:nvSpPr>
        <p:spPr>
          <a:xfrm>
            <a:off x="826871" y="1251285"/>
            <a:ext cx="11084392" cy="5100519"/>
          </a:xfrm>
        </p:spPr>
        <p:txBody>
          <a:bodyPr>
            <a:normAutofit/>
          </a:bodyPr>
          <a:lstStyle/>
          <a:p>
            <a:r>
              <a:rPr lang="en-US" dirty="0"/>
              <a:t>Density-based clustering algorithm.</a:t>
            </a:r>
          </a:p>
          <a:p>
            <a:r>
              <a:rPr lang="en-US" dirty="0"/>
              <a:t>Groups points in dense regions, identifies noise.</a:t>
            </a:r>
          </a:p>
          <a:p>
            <a:r>
              <a:rPr lang="en-US" dirty="0"/>
              <a:t>No need to specify number of clusters (unlike K-means).</a:t>
            </a:r>
          </a:p>
          <a:p>
            <a:endParaRPr lang="en-US" dirty="0"/>
          </a:p>
          <a:p>
            <a:pPr algn="l">
              <a:lnSpc>
                <a:spcPts val="2700"/>
              </a:lnSpc>
            </a:pPr>
            <a:r>
              <a:rPr lang="en-US" sz="2200" b="0" i="0" dirty="0">
                <a:solidFill>
                  <a:srgbClr val="383838"/>
                </a:solidFill>
                <a:effectLst/>
                <a:latin typeface="Inter"/>
              </a:rPr>
              <a:t>The DBSCAN algorithm relies on two main parameters to identify clusters in your data:</a:t>
            </a:r>
          </a:p>
          <a:p>
            <a:pPr lvl="1" algn="just">
              <a:lnSpc>
                <a:spcPts val="2700"/>
              </a:lnSpc>
              <a:buFont typeface="+mj-lt"/>
              <a:buAutoNum type="arabicPeriod"/>
            </a:pPr>
            <a:r>
              <a:rPr lang="en-US" sz="2200" b="1" i="0" dirty="0">
                <a:solidFill>
                  <a:srgbClr val="383838"/>
                </a:solidFill>
                <a:effectLst/>
                <a:latin typeface="Inter"/>
              </a:rPr>
              <a:t>eps (ε):</a:t>
            </a:r>
            <a:r>
              <a:rPr lang="en-US" sz="2200" b="0" i="0" dirty="0">
                <a:solidFill>
                  <a:srgbClr val="383838"/>
                </a:solidFill>
                <a:effectLst/>
                <a:latin typeface="Inter"/>
              </a:rPr>
              <a:t> This parameter defines the radius of a neighborhood around a data point. Points within this distance are considered neighbors of the central point.</a:t>
            </a:r>
          </a:p>
          <a:p>
            <a:pPr lvl="1" algn="just">
              <a:lnSpc>
                <a:spcPts val="2700"/>
              </a:lnSpc>
              <a:buFont typeface="+mj-lt"/>
              <a:buAutoNum type="arabicPeriod"/>
            </a:pPr>
            <a:r>
              <a:rPr lang="en-US" sz="2200" b="1" i="0" dirty="0" err="1">
                <a:solidFill>
                  <a:srgbClr val="383838"/>
                </a:solidFill>
                <a:effectLst/>
                <a:latin typeface="Inter"/>
              </a:rPr>
              <a:t>minPts</a:t>
            </a:r>
            <a:r>
              <a:rPr lang="en-US" sz="2200" b="1" i="0" dirty="0">
                <a:solidFill>
                  <a:srgbClr val="383838"/>
                </a:solidFill>
                <a:effectLst/>
                <a:latin typeface="Inter"/>
              </a:rPr>
              <a:t>:</a:t>
            </a:r>
            <a:r>
              <a:rPr lang="en-US" sz="2200" b="0" i="0" dirty="0">
                <a:solidFill>
                  <a:srgbClr val="383838"/>
                </a:solidFill>
                <a:effectLst/>
                <a:latin typeface="Inter"/>
              </a:rPr>
              <a:t> This parameter represents the minimum number of points required within the ε-neighborhood of a point to classify it as a core point. A core point is considered to be dense enough to be part of a cluster.</a:t>
            </a:r>
          </a:p>
          <a:p>
            <a:pPr marL="457200" lvl="1" indent="0" algn="just">
              <a:lnSpc>
                <a:spcPts val="2700"/>
              </a:lnSpc>
              <a:buNone/>
            </a:pPr>
            <a:r>
              <a:rPr lang="en-US" sz="2200" b="0" i="0" dirty="0">
                <a:solidFill>
                  <a:srgbClr val="383838"/>
                </a:solidFill>
                <a:effectLst/>
                <a:latin typeface="Inter"/>
              </a:rPr>
              <a:t>In higher dimensions, the circle becomes a hypersphere, </a:t>
            </a:r>
            <a:r>
              <a:rPr lang="en-US" sz="2200" b="0" i="1" dirty="0">
                <a:solidFill>
                  <a:srgbClr val="383838"/>
                </a:solidFill>
                <a:effectLst/>
                <a:latin typeface="Inter"/>
              </a:rPr>
              <a:t>epsilon</a:t>
            </a:r>
            <a:r>
              <a:rPr lang="en-US" sz="2200" b="0" i="0" dirty="0">
                <a:solidFill>
                  <a:srgbClr val="383838"/>
                </a:solidFill>
                <a:effectLst/>
                <a:latin typeface="Inter"/>
              </a:rPr>
              <a:t> becomes its radius, and </a:t>
            </a:r>
            <a:r>
              <a:rPr lang="en-US" sz="2200" b="0" i="1" dirty="0" err="1">
                <a:solidFill>
                  <a:srgbClr val="383838"/>
                </a:solidFill>
                <a:effectLst/>
                <a:latin typeface="Inter"/>
              </a:rPr>
              <a:t>minPoints</a:t>
            </a:r>
            <a:r>
              <a:rPr lang="en-US" sz="2200" b="0" i="0" dirty="0">
                <a:solidFill>
                  <a:srgbClr val="383838"/>
                </a:solidFill>
                <a:effectLst/>
                <a:latin typeface="Inter"/>
              </a:rPr>
              <a:t> is the minimum number of data points required inside it.</a:t>
            </a:r>
          </a:p>
          <a:p>
            <a:endParaRPr lang="en-US" dirty="0"/>
          </a:p>
        </p:txBody>
      </p:sp>
      <p:sp>
        <p:nvSpPr>
          <p:cNvPr id="4" name="AutoShape 2" descr="Databases">
            <a:extLst>
              <a:ext uri="{FF2B5EF4-FFF2-40B4-BE49-F238E27FC236}">
                <a16:creationId xmlns:a16="http://schemas.microsoft.com/office/drawing/2014/main" id="{3E3861E5-A7C4-0482-9417-0139A8B1DE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42431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1CEE5-85B4-F173-6FA5-990E53375383}"/>
              </a:ext>
            </a:extLst>
          </p:cNvPr>
          <p:cNvSpPr>
            <a:spLocks noGrp="1"/>
          </p:cNvSpPr>
          <p:nvPr>
            <p:ph type="title"/>
          </p:nvPr>
        </p:nvSpPr>
        <p:spPr/>
        <p:txBody>
          <a:bodyPr/>
          <a:lstStyle/>
          <a:p>
            <a:r>
              <a:rPr lang="en-US" dirty="0"/>
              <a:t>How DBSCAN Works?</a:t>
            </a:r>
          </a:p>
        </p:txBody>
      </p:sp>
      <p:sp>
        <p:nvSpPr>
          <p:cNvPr id="4" name="Rectangle 1">
            <a:extLst>
              <a:ext uri="{FF2B5EF4-FFF2-40B4-BE49-F238E27FC236}">
                <a16:creationId xmlns:a16="http://schemas.microsoft.com/office/drawing/2014/main" id="{F8E78AB0-7E9F-AB0A-6F66-BEEB338F10E4}"/>
              </a:ext>
            </a:extLst>
          </p:cNvPr>
          <p:cNvSpPr>
            <a:spLocks noGrp="1" noChangeArrowheads="1"/>
          </p:cNvSpPr>
          <p:nvPr>
            <p:ph idx="1"/>
          </p:nvPr>
        </p:nvSpPr>
        <p:spPr bwMode="auto">
          <a:xfrm>
            <a:off x="726421" y="1209390"/>
            <a:ext cx="11008379"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DBSCAN uses two key parameters:</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eps (epsilon): The maximum distance between two points for them to be considered neighbors.</a:t>
            </a:r>
          </a:p>
          <a:p>
            <a:pPr lvl="1" defTabSz="914400" eaLnBrk="0" fontAlgn="base" hangingPunct="0">
              <a:spcBef>
                <a:spcPct val="0"/>
              </a:spcBef>
              <a:spcAft>
                <a:spcPct val="0"/>
              </a:spcAft>
              <a:buClrTx/>
            </a:pPr>
            <a:r>
              <a:rPr kumimoji="0" lang="en-US" altLang="en-US" sz="2200" b="0" i="0" u="none" strike="noStrike" cap="none" normalizeH="0" baseline="0" dirty="0" err="1">
                <a:ln>
                  <a:noFill/>
                </a:ln>
                <a:solidFill>
                  <a:schemeClr val="tx1"/>
                </a:solidFill>
                <a:effectLst/>
                <a:latin typeface="Arial" panose="020B0604020202020204" pitchFamily="34" charset="0"/>
              </a:rPr>
              <a:t>minPts</a:t>
            </a:r>
            <a:r>
              <a:rPr kumimoji="0" lang="en-US" altLang="en-US" sz="2200" b="0" i="0" u="none" strike="noStrike" cap="none" normalizeH="0" baseline="0" dirty="0">
                <a:ln>
                  <a:noFill/>
                </a:ln>
                <a:solidFill>
                  <a:schemeClr val="tx1"/>
                </a:solidFill>
                <a:effectLst/>
                <a:latin typeface="Arial" panose="020B0604020202020204" pitchFamily="34" charset="0"/>
              </a:rPr>
              <a:t>: The minimum number of points required to form a dense region (cluster).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Steps:</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Start with a random point and find all points within its eps radius.</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If the point has at least </a:t>
            </a:r>
            <a:r>
              <a:rPr kumimoji="0" lang="en-US" altLang="en-US" sz="2200" b="0" i="0" u="none" strike="noStrike" cap="none" normalizeH="0" baseline="0" dirty="0" err="1">
                <a:ln>
                  <a:noFill/>
                </a:ln>
                <a:solidFill>
                  <a:schemeClr val="tx1"/>
                </a:solidFill>
                <a:effectLst/>
                <a:latin typeface="Arial" panose="020B0604020202020204" pitchFamily="34" charset="0"/>
              </a:rPr>
              <a:t>minPts</a:t>
            </a:r>
            <a:r>
              <a:rPr kumimoji="0" lang="en-US" altLang="en-US" sz="2200" b="0" i="0" u="none" strike="noStrike" cap="none" normalizeH="0" baseline="0" dirty="0">
                <a:ln>
                  <a:noFill/>
                </a:ln>
                <a:solidFill>
                  <a:schemeClr val="tx1"/>
                </a:solidFill>
                <a:effectLst/>
                <a:latin typeface="Arial" panose="020B0604020202020204" pitchFamily="34" charset="0"/>
              </a:rPr>
              <a:t> neighbors, it’s a core point, and a new cluster is formed.</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Expand the cluster by adding all reachable points within the eps radius of the core point.</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Repeat for all points in the cluster.</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If a point doesn’t have enough neighbors, it’s marked as noise.</a:t>
            </a:r>
          </a:p>
          <a:p>
            <a:pPr lvl="1" defTabSz="914400" eaLnBrk="0" fontAlgn="base" hangingPunct="0">
              <a:spcBef>
                <a:spcPct val="0"/>
              </a:spcBef>
              <a:spcAft>
                <a:spcPct val="0"/>
              </a:spcAft>
              <a:buClrTx/>
            </a:pPr>
            <a:r>
              <a:rPr kumimoji="0" lang="en-US" altLang="en-US" sz="2200" b="0" i="0" u="none" strike="noStrike" cap="none" normalizeH="0" baseline="0" dirty="0">
                <a:ln>
                  <a:noFill/>
                </a:ln>
                <a:solidFill>
                  <a:schemeClr val="tx1"/>
                </a:solidFill>
                <a:effectLst/>
                <a:latin typeface="Arial" panose="020B0604020202020204" pitchFamily="34" charset="0"/>
              </a:rPr>
              <a:t>Continue until all points are processed.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5274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1170-8EF8-8536-48C5-2799F2432BE1}"/>
              </a:ext>
            </a:extLst>
          </p:cNvPr>
          <p:cNvSpPr>
            <a:spLocks noGrp="1"/>
          </p:cNvSpPr>
          <p:nvPr>
            <p:ph type="title"/>
          </p:nvPr>
        </p:nvSpPr>
        <p:spPr/>
        <p:txBody>
          <a:bodyPr/>
          <a:lstStyle/>
          <a:p>
            <a:r>
              <a:rPr lang="en-US" dirty="0"/>
              <a:t>Calculation of DBSCAN</a:t>
            </a:r>
          </a:p>
        </p:txBody>
      </p:sp>
      <p:graphicFrame>
        <p:nvGraphicFramePr>
          <p:cNvPr id="4" name="Content Placeholder 3">
            <a:extLst>
              <a:ext uri="{FF2B5EF4-FFF2-40B4-BE49-F238E27FC236}">
                <a16:creationId xmlns:a16="http://schemas.microsoft.com/office/drawing/2014/main" id="{A59E70A0-9E28-C07F-C8B6-2BA24D392DB8}"/>
              </a:ext>
            </a:extLst>
          </p:cNvPr>
          <p:cNvGraphicFramePr>
            <a:graphicFrameLocks noGrp="1"/>
          </p:cNvGraphicFramePr>
          <p:nvPr>
            <p:ph idx="1"/>
            <p:extLst>
              <p:ext uri="{D42A27DB-BD31-4B8C-83A1-F6EECF244321}">
                <p14:modId xmlns:p14="http://schemas.microsoft.com/office/powerpoint/2010/main" val="2073517921"/>
              </p:ext>
            </p:extLst>
          </p:nvPr>
        </p:nvGraphicFramePr>
        <p:xfrm>
          <a:off x="916941" y="1638057"/>
          <a:ext cx="2618739" cy="3402960"/>
        </p:xfrm>
        <a:graphic>
          <a:graphicData uri="http://schemas.openxmlformats.org/drawingml/2006/table">
            <a:tbl>
              <a:tblPr firstRow="1" bandRow="1">
                <a:tableStyleId>{5C22544A-7EE6-4342-B048-85BDC9FD1C3A}</a:tableStyleId>
              </a:tblPr>
              <a:tblGrid>
                <a:gridCol w="872913">
                  <a:extLst>
                    <a:ext uri="{9D8B030D-6E8A-4147-A177-3AD203B41FA5}">
                      <a16:colId xmlns:a16="http://schemas.microsoft.com/office/drawing/2014/main" val="763372666"/>
                    </a:ext>
                  </a:extLst>
                </a:gridCol>
                <a:gridCol w="872913">
                  <a:extLst>
                    <a:ext uri="{9D8B030D-6E8A-4147-A177-3AD203B41FA5}">
                      <a16:colId xmlns:a16="http://schemas.microsoft.com/office/drawing/2014/main" val="2369916538"/>
                    </a:ext>
                  </a:extLst>
                </a:gridCol>
                <a:gridCol w="872913">
                  <a:extLst>
                    <a:ext uri="{9D8B030D-6E8A-4147-A177-3AD203B41FA5}">
                      <a16:colId xmlns:a16="http://schemas.microsoft.com/office/drawing/2014/main" val="694878504"/>
                    </a:ext>
                  </a:extLst>
                </a:gridCol>
              </a:tblGrid>
              <a:tr h="425370">
                <a:tc>
                  <a:txBody>
                    <a:bodyPr/>
                    <a:lstStyle/>
                    <a:p>
                      <a:r>
                        <a:rPr lang="en-US" dirty="0"/>
                        <a:t>Point</a:t>
                      </a:r>
                    </a:p>
                  </a:txBody>
                  <a:tcPr/>
                </a:tc>
                <a:tc>
                  <a:txBody>
                    <a:bodyPr/>
                    <a:lstStyle/>
                    <a:p>
                      <a:r>
                        <a:rPr lang="en-US" dirty="0"/>
                        <a:t>X</a:t>
                      </a:r>
                    </a:p>
                  </a:txBody>
                  <a:tcPr/>
                </a:tc>
                <a:tc>
                  <a:txBody>
                    <a:bodyPr/>
                    <a:lstStyle/>
                    <a:p>
                      <a:r>
                        <a:rPr lang="en-US" dirty="0"/>
                        <a:t>Y</a:t>
                      </a:r>
                    </a:p>
                  </a:txBody>
                  <a:tcPr/>
                </a:tc>
                <a:extLst>
                  <a:ext uri="{0D108BD9-81ED-4DB2-BD59-A6C34878D82A}">
                    <a16:rowId xmlns:a16="http://schemas.microsoft.com/office/drawing/2014/main" val="946773880"/>
                  </a:ext>
                </a:extLst>
              </a:tr>
              <a:tr h="425370">
                <a:tc>
                  <a:txBody>
                    <a:bodyPr/>
                    <a:lstStyle/>
                    <a:p>
                      <a:r>
                        <a:rPr lang="en-US" dirty="0"/>
                        <a:t>A</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63179021"/>
                  </a:ext>
                </a:extLst>
              </a:tr>
              <a:tr h="425370">
                <a:tc>
                  <a:txBody>
                    <a:bodyPr/>
                    <a:lstStyle/>
                    <a:p>
                      <a:r>
                        <a:rPr lang="en-US" dirty="0"/>
                        <a:t>B</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177786580"/>
                  </a:ext>
                </a:extLst>
              </a:tr>
              <a:tr h="425370">
                <a:tc>
                  <a:txBody>
                    <a:bodyPr/>
                    <a:lstStyle/>
                    <a:p>
                      <a:r>
                        <a:rPr lang="en-US" dirty="0"/>
                        <a:t>C</a:t>
                      </a:r>
                    </a:p>
                  </a:txBody>
                  <a:tcPr/>
                </a:tc>
                <a:tc>
                  <a:txBody>
                    <a:bodyPr/>
                    <a:lstStyle/>
                    <a:p>
                      <a:r>
                        <a:rPr lang="en-US" dirty="0"/>
                        <a:t>2</a:t>
                      </a:r>
                    </a:p>
                  </a:txBody>
                  <a:tcPr/>
                </a:tc>
                <a:tc>
                  <a:txBody>
                    <a:bodyPr/>
                    <a:lstStyle/>
                    <a:p>
                      <a:r>
                        <a:rPr lang="en-US" dirty="0"/>
                        <a:t>2</a:t>
                      </a:r>
                    </a:p>
                  </a:txBody>
                  <a:tcPr/>
                </a:tc>
                <a:extLst>
                  <a:ext uri="{0D108BD9-81ED-4DB2-BD59-A6C34878D82A}">
                    <a16:rowId xmlns:a16="http://schemas.microsoft.com/office/drawing/2014/main" val="807825805"/>
                  </a:ext>
                </a:extLst>
              </a:tr>
              <a:tr h="425370">
                <a:tc>
                  <a:txBody>
                    <a:bodyPr/>
                    <a:lstStyle/>
                    <a:p>
                      <a:r>
                        <a:rPr lang="en-US" dirty="0"/>
                        <a:t>D</a:t>
                      </a:r>
                    </a:p>
                  </a:txBody>
                  <a:tcPr/>
                </a:tc>
                <a:tc>
                  <a:txBody>
                    <a:bodyPr/>
                    <a:lstStyle/>
                    <a:p>
                      <a:r>
                        <a:rPr lang="en-US" dirty="0"/>
                        <a:t>8</a:t>
                      </a:r>
                    </a:p>
                  </a:txBody>
                  <a:tcPr/>
                </a:tc>
                <a:tc>
                  <a:txBody>
                    <a:bodyPr/>
                    <a:lstStyle/>
                    <a:p>
                      <a:r>
                        <a:rPr lang="en-US" dirty="0"/>
                        <a:t>7</a:t>
                      </a:r>
                    </a:p>
                  </a:txBody>
                  <a:tcPr/>
                </a:tc>
                <a:extLst>
                  <a:ext uri="{0D108BD9-81ED-4DB2-BD59-A6C34878D82A}">
                    <a16:rowId xmlns:a16="http://schemas.microsoft.com/office/drawing/2014/main" val="2155697363"/>
                  </a:ext>
                </a:extLst>
              </a:tr>
              <a:tr h="425370">
                <a:tc>
                  <a:txBody>
                    <a:bodyPr/>
                    <a:lstStyle/>
                    <a:p>
                      <a:r>
                        <a:rPr lang="en-US" dirty="0"/>
                        <a:t>E</a:t>
                      </a:r>
                    </a:p>
                  </a:txBody>
                  <a:tcPr/>
                </a:tc>
                <a:tc>
                  <a:txBody>
                    <a:bodyPr/>
                    <a:lstStyle/>
                    <a:p>
                      <a:r>
                        <a:rPr lang="en-US" dirty="0"/>
                        <a:t>7</a:t>
                      </a:r>
                    </a:p>
                  </a:txBody>
                  <a:tcPr/>
                </a:tc>
                <a:tc>
                  <a:txBody>
                    <a:bodyPr/>
                    <a:lstStyle/>
                    <a:p>
                      <a:r>
                        <a:rPr lang="en-US" dirty="0"/>
                        <a:t>7</a:t>
                      </a:r>
                    </a:p>
                  </a:txBody>
                  <a:tcPr/>
                </a:tc>
                <a:extLst>
                  <a:ext uri="{0D108BD9-81ED-4DB2-BD59-A6C34878D82A}">
                    <a16:rowId xmlns:a16="http://schemas.microsoft.com/office/drawing/2014/main" val="1705353085"/>
                  </a:ext>
                </a:extLst>
              </a:tr>
              <a:tr h="425370">
                <a:tc>
                  <a:txBody>
                    <a:bodyPr/>
                    <a:lstStyle/>
                    <a:p>
                      <a:r>
                        <a:rPr lang="en-US" dirty="0"/>
                        <a:t>F</a:t>
                      </a:r>
                    </a:p>
                  </a:txBody>
                  <a:tcPr/>
                </a:tc>
                <a:tc>
                  <a:txBody>
                    <a:bodyPr/>
                    <a:lstStyle/>
                    <a:p>
                      <a:r>
                        <a:rPr lang="en-US" dirty="0"/>
                        <a:t>7</a:t>
                      </a:r>
                    </a:p>
                  </a:txBody>
                  <a:tcPr/>
                </a:tc>
                <a:tc>
                  <a:txBody>
                    <a:bodyPr/>
                    <a:lstStyle/>
                    <a:p>
                      <a:r>
                        <a:rPr lang="en-US" dirty="0"/>
                        <a:t>8</a:t>
                      </a:r>
                    </a:p>
                  </a:txBody>
                  <a:tcPr/>
                </a:tc>
                <a:extLst>
                  <a:ext uri="{0D108BD9-81ED-4DB2-BD59-A6C34878D82A}">
                    <a16:rowId xmlns:a16="http://schemas.microsoft.com/office/drawing/2014/main" val="1791426138"/>
                  </a:ext>
                </a:extLst>
              </a:tr>
              <a:tr h="425370">
                <a:tc>
                  <a:txBody>
                    <a:bodyPr/>
                    <a:lstStyle/>
                    <a:p>
                      <a:r>
                        <a:rPr lang="en-US" dirty="0"/>
                        <a:t>G</a:t>
                      </a:r>
                    </a:p>
                  </a:txBody>
                  <a:tcPr/>
                </a:tc>
                <a:tc>
                  <a:txBody>
                    <a:bodyPr/>
                    <a:lstStyle/>
                    <a:p>
                      <a:r>
                        <a:rPr lang="en-US" dirty="0"/>
                        <a:t>20</a:t>
                      </a:r>
                    </a:p>
                  </a:txBody>
                  <a:tcPr/>
                </a:tc>
                <a:tc>
                  <a:txBody>
                    <a:bodyPr/>
                    <a:lstStyle/>
                    <a:p>
                      <a:r>
                        <a:rPr lang="en-US" dirty="0"/>
                        <a:t>20</a:t>
                      </a:r>
                    </a:p>
                  </a:txBody>
                  <a:tcPr/>
                </a:tc>
                <a:extLst>
                  <a:ext uri="{0D108BD9-81ED-4DB2-BD59-A6C34878D82A}">
                    <a16:rowId xmlns:a16="http://schemas.microsoft.com/office/drawing/2014/main" val="3456075108"/>
                  </a:ext>
                </a:extLst>
              </a:tr>
            </a:tbl>
          </a:graphicData>
        </a:graphic>
      </p:graphicFrame>
      <p:pic>
        <p:nvPicPr>
          <p:cNvPr id="7" name="Picture 6">
            <a:extLst>
              <a:ext uri="{FF2B5EF4-FFF2-40B4-BE49-F238E27FC236}">
                <a16:creationId xmlns:a16="http://schemas.microsoft.com/office/drawing/2014/main" id="{4F03A397-4F8F-0973-26DB-4D7FC3C1AC34}"/>
              </a:ext>
            </a:extLst>
          </p:cNvPr>
          <p:cNvPicPr>
            <a:picLocks noChangeAspect="1"/>
          </p:cNvPicPr>
          <p:nvPr/>
        </p:nvPicPr>
        <p:blipFill>
          <a:blip r:embed="rId2"/>
          <a:stretch>
            <a:fillRect/>
          </a:stretch>
        </p:blipFill>
        <p:spPr>
          <a:xfrm>
            <a:off x="4469359" y="1935481"/>
            <a:ext cx="6805700" cy="4240322"/>
          </a:xfrm>
          <a:prstGeom prst="rect">
            <a:avLst/>
          </a:prstGeom>
        </p:spPr>
      </p:pic>
      <p:sp>
        <p:nvSpPr>
          <p:cNvPr id="9" name="TextBox 8">
            <a:extLst>
              <a:ext uri="{FF2B5EF4-FFF2-40B4-BE49-F238E27FC236}">
                <a16:creationId xmlns:a16="http://schemas.microsoft.com/office/drawing/2014/main" id="{F191876A-08E7-E7D0-5CD8-344B3ABA4C63}"/>
              </a:ext>
            </a:extLst>
          </p:cNvPr>
          <p:cNvSpPr txBox="1"/>
          <p:nvPr/>
        </p:nvSpPr>
        <p:spPr>
          <a:xfrm>
            <a:off x="1382542" y="5509410"/>
            <a:ext cx="6096000" cy="923330"/>
          </a:xfrm>
          <a:prstGeom prst="rect">
            <a:avLst/>
          </a:prstGeom>
          <a:noFill/>
        </p:spPr>
        <p:txBody>
          <a:bodyPr wrap="square">
            <a:spAutoFit/>
          </a:bodyPr>
          <a:lstStyle/>
          <a:p>
            <a:r>
              <a:rPr lang="en-US" dirty="0"/>
              <a:t>eps = 2</a:t>
            </a:r>
          </a:p>
          <a:p>
            <a:endParaRPr lang="en-US" dirty="0"/>
          </a:p>
          <a:p>
            <a:r>
              <a:rPr lang="en-US" dirty="0" err="1"/>
              <a:t>minPts</a:t>
            </a:r>
            <a:r>
              <a:rPr lang="en-US" dirty="0"/>
              <a:t> = 2</a:t>
            </a:r>
          </a:p>
        </p:txBody>
      </p:sp>
      <p:sp>
        <p:nvSpPr>
          <p:cNvPr id="11" name="TextBox 10">
            <a:extLst>
              <a:ext uri="{FF2B5EF4-FFF2-40B4-BE49-F238E27FC236}">
                <a16:creationId xmlns:a16="http://schemas.microsoft.com/office/drawing/2014/main" id="{4E60D930-5C42-F4DF-B5F1-B46AFBA06874}"/>
              </a:ext>
            </a:extLst>
          </p:cNvPr>
          <p:cNvSpPr txBox="1"/>
          <p:nvPr/>
        </p:nvSpPr>
        <p:spPr>
          <a:xfrm>
            <a:off x="4430542" y="1331953"/>
            <a:ext cx="6096000" cy="369332"/>
          </a:xfrm>
          <a:prstGeom prst="rect">
            <a:avLst/>
          </a:prstGeom>
          <a:noFill/>
        </p:spPr>
        <p:txBody>
          <a:bodyPr wrap="square">
            <a:spAutoFit/>
          </a:bodyPr>
          <a:lstStyle/>
          <a:p>
            <a:r>
              <a:rPr lang="en-US" dirty="0"/>
              <a:t>Distance Table (Using Euclidean Distance)</a:t>
            </a:r>
          </a:p>
        </p:txBody>
      </p:sp>
    </p:spTree>
    <p:extLst>
      <p:ext uri="{BB962C8B-B14F-4D97-AF65-F5344CB8AC3E}">
        <p14:creationId xmlns:p14="http://schemas.microsoft.com/office/powerpoint/2010/main" val="947206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A81D-6E67-7C65-17E1-66BC85FEC446}"/>
              </a:ext>
            </a:extLst>
          </p:cNvPr>
          <p:cNvSpPr>
            <a:spLocks noGrp="1"/>
          </p:cNvSpPr>
          <p:nvPr>
            <p:ph type="title"/>
          </p:nvPr>
        </p:nvSpPr>
        <p:spPr/>
        <p:txBody>
          <a:bodyPr/>
          <a:lstStyle/>
          <a:p>
            <a:r>
              <a:rPr lang="en-US" dirty="0"/>
              <a:t>Calculation of DBSCAN, Cont’d</a:t>
            </a:r>
          </a:p>
        </p:txBody>
      </p:sp>
      <p:sp>
        <p:nvSpPr>
          <p:cNvPr id="3" name="Content Placeholder 2">
            <a:extLst>
              <a:ext uri="{FF2B5EF4-FFF2-40B4-BE49-F238E27FC236}">
                <a16:creationId xmlns:a16="http://schemas.microsoft.com/office/drawing/2014/main" id="{57BE2D05-EDBB-F2F0-ED2D-613454DFEFE0}"/>
              </a:ext>
            </a:extLst>
          </p:cNvPr>
          <p:cNvSpPr>
            <a:spLocks noGrp="1"/>
          </p:cNvSpPr>
          <p:nvPr>
            <p:ph idx="1"/>
          </p:nvPr>
        </p:nvSpPr>
        <p:spPr/>
        <p:txBody>
          <a:bodyPr>
            <a:normAutofit/>
          </a:bodyPr>
          <a:lstStyle/>
          <a:p>
            <a:r>
              <a:rPr lang="en-US" sz="2200" dirty="0"/>
              <a:t>For each point, find all points within eps = 2.</a:t>
            </a:r>
          </a:p>
          <a:p>
            <a:r>
              <a:rPr lang="en-US" sz="2200" dirty="0"/>
              <a:t>Neighbors of Each Point</a:t>
            </a:r>
          </a:p>
          <a:p>
            <a:pPr lvl="1"/>
            <a:r>
              <a:rPr lang="en-US" sz="2200" dirty="0"/>
              <a:t>A: B (distance 1), C (distance 1.41) → Neighbors: B, C</a:t>
            </a:r>
          </a:p>
          <a:p>
            <a:pPr lvl="1"/>
            <a:r>
              <a:rPr lang="en-US" sz="2200" dirty="0"/>
              <a:t>B: A (distance 1), C (distance 1) → Neighbors: A, C</a:t>
            </a:r>
          </a:p>
          <a:p>
            <a:pPr lvl="1"/>
            <a:r>
              <a:rPr lang="en-US" sz="2200" dirty="0"/>
              <a:t>C: A (distance 1.41), B (distance 1) → Neighbors: A, B</a:t>
            </a:r>
          </a:p>
          <a:p>
            <a:pPr lvl="1"/>
            <a:r>
              <a:rPr lang="en-US" sz="2200" dirty="0"/>
              <a:t>D: E (distance 1), F (distance 1.41) → Neighbors: E, F</a:t>
            </a:r>
          </a:p>
          <a:p>
            <a:pPr lvl="1"/>
            <a:r>
              <a:rPr lang="en-US" sz="2200" dirty="0"/>
              <a:t>E: D (distance 1), F (distance 1) → Neighbors: D, F</a:t>
            </a:r>
          </a:p>
          <a:p>
            <a:pPr lvl="1"/>
            <a:r>
              <a:rPr lang="en-US" sz="2200" dirty="0"/>
              <a:t>F: D (distance 1.41), E (distance 1) → Neighbors: D, E</a:t>
            </a:r>
          </a:p>
          <a:p>
            <a:pPr lvl="1"/>
            <a:r>
              <a:rPr lang="en-US" sz="2200" dirty="0"/>
              <a:t>G: No neighbors within eps = 2 → Noise</a:t>
            </a:r>
          </a:p>
        </p:txBody>
      </p:sp>
    </p:spTree>
    <p:extLst>
      <p:ext uri="{BB962C8B-B14F-4D97-AF65-F5344CB8AC3E}">
        <p14:creationId xmlns:p14="http://schemas.microsoft.com/office/powerpoint/2010/main" val="1600994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BDB1A-273B-3F83-F56D-CC384AF4A19C}"/>
              </a:ext>
            </a:extLst>
          </p:cNvPr>
          <p:cNvSpPr>
            <a:spLocks noGrp="1"/>
          </p:cNvSpPr>
          <p:nvPr>
            <p:ph type="title"/>
          </p:nvPr>
        </p:nvSpPr>
        <p:spPr>
          <a:xfrm>
            <a:off x="1341951" y="0"/>
            <a:ext cx="9508098" cy="1280890"/>
          </a:xfrm>
        </p:spPr>
        <p:txBody>
          <a:bodyPr/>
          <a:lstStyle/>
          <a:p>
            <a:r>
              <a:rPr lang="en-US" dirty="0"/>
              <a:t>Calculation of DBSCAN, Cont’d</a:t>
            </a:r>
          </a:p>
        </p:txBody>
      </p:sp>
      <p:sp>
        <p:nvSpPr>
          <p:cNvPr id="3" name="Content Placeholder 2">
            <a:extLst>
              <a:ext uri="{FF2B5EF4-FFF2-40B4-BE49-F238E27FC236}">
                <a16:creationId xmlns:a16="http://schemas.microsoft.com/office/drawing/2014/main" id="{273AE8B2-7C2F-E841-87F4-5FB527DD600D}"/>
              </a:ext>
            </a:extLst>
          </p:cNvPr>
          <p:cNvSpPr>
            <a:spLocks noGrp="1"/>
          </p:cNvSpPr>
          <p:nvPr>
            <p:ph idx="1"/>
          </p:nvPr>
        </p:nvSpPr>
        <p:spPr>
          <a:xfrm>
            <a:off x="311792" y="863841"/>
            <a:ext cx="10538257" cy="4288889"/>
          </a:xfrm>
        </p:spPr>
        <p:txBody>
          <a:bodyPr>
            <a:normAutofit/>
          </a:bodyPr>
          <a:lstStyle/>
          <a:p>
            <a:r>
              <a:rPr lang="en-US" b="1" dirty="0"/>
              <a:t>Cluster 1:</a:t>
            </a:r>
          </a:p>
          <a:p>
            <a:pPr lvl="1"/>
            <a:r>
              <a:rPr lang="en-US" dirty="0"/>
              <a:t>Start with point A.</a:t>
            </a:r>
          </a:p>
          <a:p>
            <a:pPr lvl="1"/>
            <a:r>
              <a:rPr lang="en-US" dirty="0"/>
              <a:t>A has 2 neighbors (B, C), which meets </a:t>
            </a:r>
            <a:r>
              <a:rPr lang="en-US" dirty="0" err="1"/>
              <a:t>minPts</a:t>
            </a:r>
            <a:r>
              <a:rPr lang="en-US" dirty="0"/>
              <a:t> = 2. So, A is a core point.</a:t>
            </a:r>
          </a:p>
          <a:p>
            <a:pPr lvl="1"/>
            <a:r>
              <a:rPr lang="en-US" dirty="0"/>
              <a:t>Add A to Cluster 1.</a:t>
            </a:r>
          </a:p>
          <a:p>
            <a:pPr lvl="1"/>
            <a:r>
              <a:rPr lang="en-US" dirty="0"/>
              <a:t>Expand the cluster by adding all reachable points within eps = 2 of A:</a:t>
            </a:r>
          </a:p>
          <a:p>
            <a:pPr lvl="1"/>
            <a:r>
              <a:rPr lang="en-US" dirty="0"/>
              <a:t>B and C are added to Cluster 1.</a:t>
            </a:r>
          </a:p>
          <a:p>
            <a:pPr lvl="1"/>
            <a:r>
              <a:rPr lang="en-US" dirty="0"/>
              <a:t>Cluster 1: {A, B, C}.</a:t>
            </a:r>
          </a:p>
        </p:txBody>
      </p:sp>
      <p:sp>
        <p:nvSpPr>
          <p:cNvPr id="5" name="TextBox 4">
            <a:extLst>
              <a:ext uri="{FF2B5EF4-FFF2-40B4-BE49-F238E27FC236}">
                <a16:creationId xmlns:a16="http://schemas.microsoft.com/office/drawing/2014/main" id="{7B496E12-02CC-8F87-EAA9-045EBDAB9B9A}"/>
              </a:ext>
            </a:extLst>
          </p:cNvPr>
          <p:cNvSpPr txBox="1"/>
          <p:nvPr/>
        </p:nvSpPr>
        <p:spPr>
          <a:xfrm>
            <a:off x="131114" y="3672837"/>
            <a:ext cx="8872799" cy="2959785"/>
          </a:xfrm>
          <a:prstGeom prst="rect">
            <a:avLst/>
          </a:prstGeom>
          <a:noFill/>
        </p:spPr>
        <p:txBody>
          <a:bodyPr wrap="square">
            <a:spAutoFit/>
          </a:bodyPr>
          <a:lstStyle/>
          <a:p>
            <a:pPr marL="742950" lvl="1" indent="-285750">
              <a:spcBef>
                <a:spcPts val="1000"/>
              </a:spcBef>
              <a:buClr>
                <a:schemeClr val="accent1"/>
              </a:buClr>
              <a:buFont typeface="Wingdings 3" charset="2"/>
              <a:buChar char=""/>
            </a:pPr>
            <a:r>
              <a:rPr lang="en-US" sz="1600" b="1" dirty="0">
                <a:solidFill>
                  <a:schemeClr val="tx1">
                    <a:lumMod val="75000"/>
                    <a:lumOff val="25000"/>
                  </a:schemeClr>
                </a:solidFill>
              </a:rPr>
              <a:t>Cluster 2:</a:t>
            </a:r>
          </a:p>
          <a:p>
            <a:pPr marL="1200150" lvl="2" indent="-285750">
              <a:spcBef>
                <a:spcPts val="1000"/>
              </a:spcBef>
              <a:buClr>
                <a:schemeClr val="accent1"/>
              </a:buClr>
              <a:buFont typeface="Wingdings 3" charset="2"/>
              <a:buChar char=""/>
            </a:pPr>
            <a:r>
              <a:rPr lang="en-US" sz="1600" dirty="0">
                <a:solidFill>
                  <a:schemeClr val="tx1">
                    <a:lumMod val="75000"/>
                    <a:lumOff val="25000"/>
                  </a:schemeClr>
                </a:solidFill>
              </a:rPr>
              <a:t>Start with point D.</a:t>
            </a:r>
          </a:p>
          <a:p>
            <a:pPr marL="1200150" lvl="2" indent="-285750">
              <a:spcBef>
                <a:spcPts val="1000"/>
              </a:spcBef>
              <a:buClr>
                <a:schemeClr val="accent1"/>
              </a:buClr>
              <a:buFont typeface="Wingdings 3" charset="2"/>
              <a:buChar char=""/>
            </a:pPr>
            <a:r>
              <a:rPr lang="en-US" sz="1600" dirty="0">
                <a:solidFill>
                  <a:schemeClr val="tx1">
                    <a:lumMod val="75000"/>
                    <a:lumOff val="25000"/>
                  </a:schemeClr>
                </a:solidFill>
              </a:rPr>
              <a:t>D has 2 neighbors (E, F), which meets </a:t>
            </a:r>
            <a:r>
              <a:rPr lang="en-US" sz="1600" dirty="0" err="1">
                <a:solidFill>
                  <a:schemeClr val="tx1">
                    <a:lumMod val="75000"/>
                    <a:lumOff val="25000"/>
                  </a:schemeClr>
                </a:solidFill>
              </a:rPr>
              <a:t>minPts</a:t>
            </a:r>
            <a:r>
              <a:rPr lang="en-US" sz="1600" dirty="0">
                <a:solidFill>
                  <a:schemeClr val="tx1">
                    <a:lumMod val="75000"/>
                    <a:lumOff val="25000"/>
                  </a:schemeClr>
                </a:solidFill>
              </a:rPr>
              <a:t> = 2. So, D is a core point.</a:t>
            </a:r>
          </a:p>
          <a:p>
            <a:pPr marL="1200150" lvl="2" indent="-285750">
              <a:spcBef>
                <a:spcPts val="1000"/>
              </a:spcBef>
              <a:buClr>
                <a:schemeClr val="accent1"/>
              </a:buClr>
              <a:buFont typeface="Wingdings 3" charset="2"/>
              <a:buChar char=""/>
            </a:pPr>
            <a:r>
              <a:rPr lang="en-US" sz="1600" dirty="0">
                <a:solidFill>
                  <a:schemeClr val="tx1">
                    <a:lumMod val="75000"/>
                    <a:lumOff val="25000"/>
                  </a:schemeClr>
                </a:solidFill>
              </a:rPr>
              <a:t>Add D to Cluster 2.</a:t>
            </a:r>
          </a:p>
          <a:p>
            <a:pPr marL="1200150" lvl="2" indent="-285750">
              <a:spcBef>
                <a:spcPts val="1000"/>
              </a:spcBef>
              <a:buClr>
                <a:schemeClr val="accent1"/>
              </a:buClr>
              <a:buFont typeface="Wingdings 3" charset="2"/>
              <a:buChar char=""/>
            </a:pPr>
            <a:r>
              <a:rPr lang="en-US" sz="1600" dirty="0">
                <a:solidFill>
                  <a:schemeClr val="tx1">
                    <a:lumMod val="75000"/>
                    <a:lumOff val="25000"/>
                  </a:schemeClr>
                </a:solidFill>
              </a:rPr>
              <a:t>Expand the cluster by adding all reachable points within eps = 2 of D:</a:t>
            </a:r>
          </a:p>
          <a:p>
            <a:pPr marL="1200150" lvl="2" indent="-285750">
              <a:spcBef>
                <a:spcPts val="1000"/>
              </a:spcBef>
              <a:buClr>
                <a:schemeClr val="accent1"/>
              </a:buClr>
              <a:buFont typeface="Wingdings 3" charset="2"/>
              <a:buChar char=""/>
            </a:pPr>
            <a:r>
              <a:rPr lang="en-US" sz="1600" dirty="0">
                <a:solidFill>
                  <a:schemeClr val="tx1">
                    <a:lumMod val="75000"/>
                    <a:lumOff val="25000"/>
                  </a:schemeClr>
                </a:solidFill>
              </a:rPr>
              <a:t>E and F are added to Cluster 2.</a:t>
            </a:r>
          </a:p>
          <a:p>
            <a:pPr marL="1200150" lvl="2" indent="-285750">
              <a:spcBef>
                <a:spcPts val="1000"/>
              </a:spcBef>
              <a:buClr>
                <a:schemeClr val="accent1"/>
              </a:buClr>
              <a:buFont typeface="Wingdings 3" charset="2"/>
              <a:buChar char=""/>
            </a:pPr>
            <a:r>
              <a:rPr lang="en-US" sz="1600" dirty="0">
                <a:solidFill>
                  <a:schemeClr val="tx1">
                    <a:lumMod val="75000"/>
                    <a:lumOff val="25000"/>
                  </a:schemeClr>
                </a:solidFill>
              </a:rPr>
              <a:t>Cluster 2: {D, E, F}.</a:t>
            </a:r>
          </a:p>
          <a:p>
            <a:pPr marL="742950" lvl="1" indent="-285750">
              <a:spcBef>
                <a:spcPts val="1000"/>
              </a:spcBef>
              <a:buClr>
                <a:schemeClr val="accent1"/>
              </a:buClr>
              <a:buFont typeface="Wingdings 3" charset="2"/>
              <a:buChar char=""/>
            </a:pPr>
            <a:r>
              <a:rPr lang="en-US" sz="1600" dirty="0">
                <a:solidFill>
                  <a:schemeClr val="tx1">
                    <a:lumMod val="75000"/>
                    <a:lumOff val="25000"/>
                  </a:schemeClr>
                </a:solidFill>
              </a:rPr>
              <a:t>Noise: G.</a:t>
            </a:r>
          </a:p>
        </p:txBody>
      </p:sp>
      <p:sp>
        <p:nvSpPr>
          <p:cNvPr id="7" name="TextBox 6">
            <a:extLst>
              <a:ext uri="{FF2B5EF4-FFF2-40B4-BE49-F238E27FC236}">
                <a16:creationId xmlns:a16="http://schemas.microsoft.com/office/drawing/2014/main" id="{E05F64E1-4843-3E4C-C0D5-DA68C74B7107}"/>
              </a:ext>
            </a:extLst>
          </p:cNvPr>
          <p:cNvSpPr txBox="1"/>
          <p:nvPr/>
        </p:nvSpPr>
        <p:spPr>
          <a:xfrm>
            <a:off x="8637898" y="5016297"/>
            <a:ext cx="6484620" cy="1277273"/>
          </a:xfrm>
          <a:prstGeom prst="rect">
            <a:avLst/>
          </a:prstGeom>
          <a:noFill/>
        </p:spPr>
        <p:txBody>
          <a:bodyPr wrap="square">
            <a:spAutoFit/>
          </a:bodyPr>
          <a:lstStyle/>
          <a:p>
            <a:pPr algn="l">
              <a:buFont typeface="Arial" panose="020B0604020202020204" pitchFamily="34" charset="0"/>
              <a:buChar char="•"/>
            </a:pPr>
            <a:r>
              <a:rPr lang="en-US" b="1" i="0" dirty="0">
                <a:solidFill>
                  <a:srgbClr val="404040"/>
                </a:solidFill>
                <a:effectLst/>
                <a:latin typeface="Inter"/>
              </a:rPr>
              <a:t>Final Result: </a:t>
            </a:r>
          </a:p>
          <a:p>
            <a:pPr lvl="1">
              <a:buFont typeface="Arial" panose="020B0604020202020204" pitchFamily="34" charset="0"/>
              <a:buChar char="•"/>
            </a:pPr>
            <a:r>
              <a:rPr lang="en-US" b="1" i="0" dirty="0">
                <a:solidFill>
                  <a:srgbClr val="404040"/>
                </a:solidFill>
                <a:effectLst/>
                <a:latin typeface="Inter"/>
              </a:rPr>
              <a:t>Cluster 1</a:t>
            </a:r>
            <a:r>
              <a:rPr lang="en-US" b="0" i="0" dirty="0">
                <a:solidFill>
                  <a:srgbClr val="404040"/>
                </a:solidFill>
                <a:effectLst/>
                <a:latin typeface="Inter"/>
              </a:rPr>
              <a:t>: {A, B, C}</a:t>
            </a:r>
          </a:p>
          <a:p>
            <a:pPr lvl="1">
              <a:spcBef>
                <a:spcPts val="300"/>
              </a:spcBef>
              <a:buFont typeface="Arial" panose="020B0604020202020204" pitchFamily="34" charset="0"/>
              <a:buChar char="•"/>
            </a:pPr>
            <a:r>
              <a:rPr lang="en-US" b="1" i="0" dirty="0">
                <a:solidFill>
                  <a:srgbClr val="404040"/>
                </a:solidFill>
                <a:effectLst/>
                <a:latin typeface="Inter"/>
              </a:rPr>
              <a:t>Cluster 2</a:t>
            </a:r>
            <a:r>
              <a:rPr lang="en-US" b="0" i="0" dirty="0">
                <a:solidFill>
                  <a:srgbClr val="404040"/>
                </a:solidFill>
                <a:effectLst/>
                <a:latin typeface="Inter"/>
              </a:rPr>
              <a:t>: {D, E, F}</a:t>
            </a:r>
          </a:p>
          <a:p>
            <a:pPr lvl="1">
              <a:spcBef>
                <a:spcPts val="300"/>
              </a:spcBef>
              <a:buFont typeface="Arial" panose="020B0604020202020204" pitchFamily="34" charset="0"/>
              <a:buChar char="•"/>
            </a:pPr>
            <a:r>
              <a:rPr lang="en-US" b="1" i="0" dirty="0">
                <a:solidFill>
                  <a:srgbClr val="404040"/>
                </a:solidFill>
                <a:effectLst/>
                <a:latin typeface="Inter"/>
              </a:rPr>
              <a:t>Noise</a:t>
            </a:r>
            <a:r>
              <a:rPr lang="en-US" b="0" i="0" dirty="0">
                <a:solidFill>
                  <a:srgbClr val="404040"/>
                </a:solidFill>
                <a:effectLst/>
                <a:latin typeface="Inter"/>
              </a:rPr>
              <a:t>: G</a:t>
            </a:r>
          </a:p>
        </p:txBody>
      </p:sp>
    </p:spTree>
    <p:extLst>
      <p:ext uri="{BB962C8B-B14F-4D97-AF65-F5344CB8AC3E}">
        <p14:creationId xmlns:p14="http://schemas.microsoft.com/office/powerpoint/2010/main" val="869328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FD624-C923-6441-71D3-2F8EC2FB19EC}"/>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306DED40-B1EE-44B6-7732-4A14BE17FB47}"/>
              </a:ext>
            </a:extLst>
          </p:cNvPr>
          <p:cNvSpPr>
            <a:spLocks noGrp="1"/>
          </p:cNvSpPr>
          <p:nvPr>
            <p:ph idx="1"/>
          </p:nvPr>
        </p:nvSpPr>
        <p:spPr/>
        <p:txBody>
          <a:bodyPr/>
          <a:lstStyle/>
          <a:p>
            <a:r>
              <a:rPr lang="en-US" dirty="0"/>
              <a:t>The choice of eps and </a:t>
            </a:r>
            <a:r>
              <a:rPr lang="en-US" dirty="0" err="1"/>
              <a:t>minPts</a:t>
            </a:r>
            <a:r>
              <a:rPr lang="en-US" dirty="0"/>
              <a:t> is critical. If </a:t>
            </a:r>
            <a:r>
              <a:rPr lang="en-US" dirty="0" err="1"/>
              <a:t>minPts</a:t>
            </a:r>
            <a:r>
              <a:rPr lang="en-US" dirty="0"/>
              <a:t> is too high, no clusters may form.</a:t>
            </a:r>
          </a:p>
          <a:p>
            <a:r>
              <a:rPr lang="en-US" dirty="0"/>
              <a:t>DBSCAN is great for identifying dense regions and separating noise.</a:t>
            </a:r>
          </a:p>
        </p:txBody>
      </p:sp>
    </p:spTree>
    <p:extLst>
      <p:ext uri="{BB962C8B-B14F-4D97-AF65-F5344CB8AC3E}">
        <p14:creationId xmlns:p14="http://schemas.microsoft.com/office/powerpoint/2010/main" val="956325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8413-10D2-D739-4EAB-8785D547AE32}"/>
              </a:ext>
            </a:extLst>
          </p:cNvPr>
          <p:cNvSpPr>
            <a:spLocks noGrp="1"/>
          </p:cNvSpPr>
          <p:nvPr>
            <p:ph type="title"/>
          </p:nvPr>
        </p:nvSpPr>
        <p:spPr/>
        <p:txBody>
          <a:bodyPr/>
          <a:lstStyle/>
          <a:p>
            <a:r>
              <a:rPr lang="en-US" dirty="0"/>
              <a:t>Comparison of Clustering Algorithms</a:t>
            </a:r>
          </a:p>
        </p:txBody>
      </p:sp>
      <p:graphicFrame>
        <p:nvGraphicFramePr>
          <p:cNvPr id="4" name="Content Placeholder 3">
            <a:extLst>
              <a:ext uri="{FF2B5EF4-FFF2-40B4-BE49-F238E27FC236}">
                <a16:creationId xmlns:a16="http://schemas.microsoft.com/office/drawing/2014/main" id="{0EB2018F-1D3F-5EC1-668B-AC4F184007F0}"/>
              </a:ext>
            </a:extLst>
          </p:cNvPr>
          <p:cNvGraphicFramePr>
            <a:graphicFrameLocks noGrp="1"/>
          </p:cNvGraphicFramePr>
          <p:nvPr>
            <p:ph idx="1"/>
            <p:extLst>
              <p:ext uri="{D42A27DB-BD31-4B8C-83A1-F6EECF244321}">
                <p14:modId xmlns:p14="http://schemas.microsoft.com/office/powerpoint/2010/main" val="1944926043"/>
              </p:ext>
            </p:extLst>
          </p:nvPr>
        </p:nvGraphicFramePr>
        <p:xfrm>
          <a:off x="624840" y="1310640"/>
          <a:ext cx="11003280" cy="5120080"/>
        </p:xfrm>
        <a:graphic>
          <a:graphicData uri="http://schemas.openxmlformats.org/drawingml/2006/table">
            <a:tbl>
              <a:tblPr firstRow="1" bandRow="1">
                <a:tableStyleId>{5C22544A-7EE6-4342-B048-85BDC9FD1C3A}</a:tableStyleId>
              </a:tblPr>
              <a:tblGrid>
                <a:gridCol w="1827360">
                  <a:extLst>
                    <a:ext uri="{9D8B030D-6E8A-4147-A177-3AD203B41FA5}">
                      <a16:colId xmlns:a16="http://schemas.microsoft.com/office/drawing/2014/main" val="2043534467"/>
                    </a:ext>
                  </a:extLst>
                </a:gridCol>
                <a:gridCol w="3674280">
                  <a:extLst>
                    <a:ext uri="{9D8B030D-6E8A-4147-A177-3AD203B41FA5}">
                      <a16:colId xmlns:a16="http://schemas.microsoft.com/office/drawing/2014/main" val="822764084"/>
                    </a:ext>
                  </a:extLst>
                </a:gridCol>
                <a:gridCol w="2750820">
                  <a:extLst>
                    <a:ext uri="{9D8B030D-6E8A-4147-A177-3AD203B41FA5}">
                      <a16:colId xmlns:a16="http://schemas.microsoft.com/office/drawing/2014/main" val="71960646"/>
                    </a:ext>
                  </a:extLst>
                </a:gridCol>
                <a:gridCol w="2750820">
                  <a:extLst>
                    <a:ext uri="{9D8B030D-6E8A-4147-A177-3AD203B41FA5}">
                      <a16:colId xmlns:a16="http://schemas.microsoft.com/office/drawing/2014/main" val="1617113933"/>
                    </a:ext>
                  </a:extLst>
                </a:gridCol>
              </a:tblGrid>
              <a:tr h="810376">
                <a:tc>
                  <a:txBody>
                    <a:bodyPr/>
                    <a:lstStyle/>
                    <a:p>
                      <a:r>
                        <a:rPr lang="en-US" dirty="0"/>
                        <a:t>Feature</a:t>
                      </a:r>
                    </a:p>
                  </a:txBody>
                  <a:tcPr/>
                </a:tc>
                <a:tc>
                  <a:txBody>
                    <a:bodyPr/>
                    <a:lstStyle/>
                    <a:p>
                      <a:r>
                        <a:rPr lang="en-US" dirty="0"/>
                        <a:t>K-Means</a:t>
                      </a:r>
                    </a:p>
                  </a:txBody>
                  <a:tcPr/>
                </a:tc>
                <a:tc>
                  <a:txBody>
                    <a:bodyPr/>
                    <a:lstStyle/>
                    <a:p>
                      <a:r>
                        <a:rPr lang="en-US" dirty="0"/>
                        <a:t>Hierarchical Agglomerative</a:t>
                      </a:r>
                    </a:p>
                  </a:txBody>
                  <a:tcPr/>
                </a:tc>
                <a:tc>
                  <a:txBody>
                    <a:bodyPr/>
                    <a:lstStyle/>
                    <a:p>
                      <a:r>
                        <a:rPr lang="en-US" dirty="0"/>
                        <a:t>DBSCAN</a:t>
                      </a:r>
                    </a:p>
                  </a:txBody>
                  <a:tcPr/>
                </a:tc>
                <a:extLst>
                  <a:ext uri="{0D108BD9-81ED-4DB2-BD59-A6C34878D82A}">
                    <a16:rowId xmlns:a16="http://schemas.microsoft.com/office/drawing/2014/main" val="3315000122"/>
                  </a:ext>
                </a:extLst>
              </a:tr>
              <a:tr h="469504">
                <a:tc>
                  <a:txBody>
                    <a:bodyPr/>
                    <a:lstStyle/>
                    <a:p>
                      <a:r>
                        <a:rPr lang="en-US" dirty="0"/>
                        <a:t>Type</a:t>
                      </a:r>
                    </a:p>
                  </a:txBody>
                  <a:tcPr/>
                </a:tc>
                <a:tc>
                  <a:txBody>
                    <a:bodyPr/>
                    <a:lstStyle/>
                    <a:p>
                      <a:r>
                        <a:rPr lang="en-US" dirty="0"/>
                        <a:t>Distance-based</a:t>
                      </a:r>
                    </a:p>
                  </a:txBody>
                  <a:tcPr/>
                </a:tc>
                <a:tc>
                  <a:txBody>
                    <a:bodyPr/>
                    <a:lstStyle/>
                    <a:p>
                      <a:r>
                        <a:rPr lang="en-US" dirty="0"/>
                        <a:t>Hierarchical</a:t>
                      </a:r>
                    </a:p>
                  </a:txBody>
                  <a:tcPr/>
                </a:tc>
                <a:tc>
                  <a:txBody>
                    <a:bodyPr/>
                    <a:lstStyle/>
                    <a:p>
                      <a:r>
                        <a:rPr lang="en-US" dirty="0" err="1"/>
                        <a:t>Densty</a:t>
                      </a:r>
                      <a:r>
                        <a:rPr lang="en-US" dirty="0"/>
                        <a:t>-based</a:t>
                      </a:r>
                    </a:p>
                  </a:txBody>
                  <a:tcPr/>
                </a:tc>
                <a:extLst>
                  <a:ext uri="{0D108BD9-81ED-4DB2-BD59-A6C34878D82A}">
                    <a16:rowId xmlns:a16="http://schemas.microsoft.com/office/drawing/2014/main" val="4183650180"/>
                  </a:ext>
                </a:extLst>
              </a:tr>
              <a:tr h="810376">
                <a:tc>
                  <a:txBody>
                    <a:bodyPr/>
                    <a:lstStyle/>
                    <a:p>
                      <a:r>
                        <a:rPr lang="en-US" dirty="0"/>
                        <a:t>Cluster Shape</a:t>
                      </a:r>
                    </a:p>
                  </a:txBody>
                  <a:tcPr/>
                </a:tc>
                <a:tc>
                  <a:txBody>
                    <a:bodyPr/>
                    <a:lstStyle/>
                    <a:p>
                      <a:r>
                        <a:rPr lang="en-US" dirty="0"/>
                        <a:t>Spherical</a:t>
                      </a:r>
                    </a:p>
                  </a:txBody>
                  <a:tcPr/>
                </a:tc>
                <a:tc>
                  <a:txBody>
                    <a:bodyPr/>
                    <a:lstStyle/>
                    <a:p>
                      <a:r>
                        <a:rPr lang="en-US" dirty="0"/>
                        <a:t>Any (depends on linkage)</a:t>
                      </a:r>
                    </a:p>
                  </a:txBody>
                  <a:tcPr/>
                </a:tc>
                <a:tc>
                  <a:txBody>
                    <a:bodyPr/>
                    <a:lstStyle/>
                    <a:p>
                      <a:r>
                        <a:rPr lang="en-US" dirty="0"/>
                        <a:t>Arbitrary</a:t>
                      </a:r>
                    </a:p>
                  </a:txBody>
                  <a:tcPr/>
                </a:tc>
                <a:extLst>
                  <a:ext uri="{0D108BD9-81ED-4DB2-BD59-A6C34878D82A}">
                    <a16:rowId xmlns:a16="http://schemas.microsoft.com/office/drawing/2014/main" val="1870580048"/>
                  </a:ext>
                </a:extLst>
              </a:tr>
              <a:tr h="469504">
                <a:tc>
                  <a:txBody>
                    <a:bodyPr/>
                    <a:lstStyle/>
                    <a:p>
                      <a:r>
                        <a:rPr lang="en-US" dirty="0"/>
                        <a:t>Noise Handling</a:t>
                      </a:r>
                    </a:p>
                  </a:txBody>
                  <a:tcPr/>
                </a:tc>
                <a:tc>
                  <a:txBody>
                    <a:bodyPr/>
                    <a:lstStyle/>
                    <a:p>
                      <a:r>
                        <a:rPr lang="en-US" dirty="0"/>
                        <a:t>Poor</a:t>
                      </a:r>
                    </a:p>
                  </a:txBody>
                  <a:tcPr/>
                </a:tc>
                <a:tc>
                  <a:txBody>
                    <a:bodyPr/>
                    <a:lstStyle/>
                    <a:p>
                      <a:r>
                        <a:rPr lang="en-US" dirty="0"/>
                        <a:t>Poor</a:t>
                      </a:r>
                    </a:p>
                  </a:txBody>
                  <a:tcPr/>
                </a:tc>
                <a:tc>
                  <a:txBody>
                    <a:bodyPr/>
                    <a:lstStyle/>
                    <a:p>
                      <a:r>
                        <a:rPr lang="en-US" dirty="0"/>
                        <a:t>Excellent</a:t>
                      </a:r>
                    </a:p>
                  </a:txBody>
                  <a:tcPr/>
                </a:tc>
                <a:extLst>
                  <a:ext uri="{0D108BD9-81ED-4DB2-BD59-A6C34878D82A}">
                    <a16:rowId xmlns:a16="http://schemas.microsoft.com/office/drawing/2014/main" val="2728594710"/>
                  </a:ext>
                </a:extLst>
              </a:tr>
              <a:tr h="469504">
                <a:tc>
                  <a:txBody>
                    <a:bodyPr/>
                    <a:lstStyle/>
                    <a:p>
                      <a:r>
                        <a:rPr lang="en-US" dirty="0"/>
                        <a:t>Number of Clusters</a:t>
                      </a:r>
                    </a:p>
                  </a:txBody>
                  <a:tcPr/>
                </a:tc>
                <a:tc>
                  <a:txBody>
                    <a:bodyPr/>
                    <a:lstStyle/>
                    <a:p>
                      <a:r>
                        <a:rPr lang="en-US" dirty="0"/>
                        <a:t>Requires K </a:t>
                      </a:r>
                    </a:p>
                  </a:txBody>
                  <a:tcPr/>
                </a:tc>
                <a:tc>
                  <a:txBody>
                    <a:bodyPr/>
                    <a:lstStyle/>
                    <a:p>
                      <a:r>
                        <a:rPr lang="en-US" dirty="0"/>
                        <a:t>Not required</a:t>
                      </a:r>
                    </a:p>
                  </a:txBody>
                  <a:tcPr/>
                </a:tc>
                <a:tc>
                  <a:txBody>
                    <a:bodyPr/>
                    <a:lstStyle/>
                    <a:p>
                      <a:r>
                        <a:rPr lang="en-US" dirty="0"/>
                        <a:t>Not required</a:t>
                      </a:r>
                    </a:p>
                  </a:txBody>
                  <a:tcPr/>
                </a:tc>
                <a:extLst>
                  <a:ext uri="{0D108BD9-81ED-4DB2-BD59-A6C34878D82A}">
                    <a16:rowId xmlns:a16="http://schemas.microsoft.com/office/drawing/2014/main" val="1257115681"/>
                  </a:ext>
                </a:extLst>
              </a:tr>
              <a:tr h="469504">
                <a:tc>
                  <a:txBody>
                    <a:bodyPr/>
                    <a:lstStyle/>
                    <a:p>
                      <a:r>
                        <a:rPr lang="en-US" dirty="0"/>
                        <a:t>Scalability</a:t>
                      </a:r>
                    </a:p>
                  </a:txBody>
                  <a:tcPr/>
                </a:tc>
                <a:tc>
                  <a:txBody>
                    <a:bodyPr/>
                    <a:lstStyle/>
                    <a:p>
                      <a:r>
                        <a:rPr lang="en-US" dirty="0"/>
                        <a:t>High</a:t>
                      </a:r>
                    </a:p>
                  </a:txBody>
                  <a:tcPr/>
                </a:tc>
                <a:tc>
                  <a:txBody>
                    <a:bodyPr/>
                    <a:lstStyle/>
                    <a:p>
                      <a:r>
                        <a:rPr lang="en-US" dirty="0"/>
                        <a:t>Low</a:t>
                      </a:r>
                    </a:p>
                  </a:txBody>
                  <a:tcPr/>
                </a:tc>
                <a:tc>
                  <a:txBody>
                    <a:bodyPr/>
                    <a:lstStyle/>
                    <a:p>
                      <a:r>
                        <a:rPr lang="en-US" dirty="0"/>
                        <a:t>Moderate</a:t>
                      </a:r>
                    </a:p>
                  </a:txBody>
                  <a:tcPr/>
                </a:tc>
                <a:extLst>
                  <a:ext uri="{0D108BD9-81ED-4DB2-BD59-A6C34878D82A}">
                    <a16:rowId xmlns:a16="http://schemas.microsoft.com/office/drawing/2014/main" val="2931048215"/>
                  </a:ext>
                </a:extLst>
              </a:tr>
              <a:tr h="469504">
                <a:tc>
                  <a:txBody>
                    <a:bodyPr/>
                    <a:lstStyle/>
                    <a:p>
                      <a:r>
                        <a:rPr lang="en-US" dirty="0"/>
                        <a:t>Parameter Tuning</a:t>
                      </a:r>
                    </a:p>
                  </a:txBody>
                  <a:tcPr/>
                </a:tc>
                <a:tc>
                  <a:txBody>
                    <a:bodyPr/>
                    <a:lstStyle/>
                    <a:p>
                      <a:r>
                        <a:rPr lang="en-US" dirty="0"/>
                        <a:t>K (number of clusters)</a:t>
                      </a:r>
                    </a:p>
                  </a:txBody>
                  <a:tcPr/>
                </a:tc>
                <a:tc>
                  <a:txBody>
                    <a:bodyPr/>
                    <a:lstStyle/>
                    <a:p>
                      <a:r>
                        <a:rPr lang="en-US" dirty="0"/>
                        <a:t>Linkage criterion</a:t>
                      </a:r>
                    </a:p>
                  </a:txBody>
                  <a:tcPr/>
                </a:tc>
                <a:tc>
                  <a:txBody>
                    <a:bodyPr/>
                    <a:lstStyle/>
                    <a:p>
                      <a:r>
                        <a:rPr lang="en-US" dirty="0"/>
                        <a:t>eps and </a:t>
                      </a:r>
                      <a:r>
                        <a:rPr lang="en-US" dirty="0" err="1"/>
                        <a:t>minPts</a:t>
                      </a:r>
                      <a:endParaRPr lang="en-US" dirty="0"/>
                    </a:p>
                  </a:txBody>
                  <a:tcPr/>
                </a:tc>
                <a:extLst>
                  <a:ext uri="{0D108BD9-81ED-4DB2-BD59-A6C34878D82A}">
                    <a16:rowId xmlns:a16="http://schemas.microsoft.com/office/drawing/2014/main" val="235315983"/>
                  </a:ext>
                </a:extLst>
              </a:tr>
              <a:tr h="469504">
                <a:tc>
                  <a:txBody>
                    <a:bodyPr/>
                    <a:lstStyle/>
                    <a:p>
                      <a:r>
                        <a:rPr lang="en-US" dirty="0"/>
                        <a:t>Use Case</a:t>
                      </a:r>
                    </a:p>
                  </a:txBody>
                  <a:tcPr/>
                </a:tc>
                <a:tc>
                  <a:txBody>
                    <a:bodyPr/>
                    <a:lstStyle/>
                    <a:p>
                      <a:r>
                        <a:rPr lang="en-US" dirty="0"/>
                        <a:t>Well-separated, spherical data</a:t>
                      </a:r>
                    </a:p>
                  </a:txBody>
                  <a:tcPr/>
                </a:tc>
                <a:tc>
                  <a:txBody>
                    <a:bodyPr/>
                    <a:lstStyle/>
                    <a:p>
                      <a:r>
                        <a:rPr lang="en-US" dirty="0"/>
                        <a:t>Small datasets, hierarchies</a:t>
                      </a:r>
                    </a:p>
                  </a:txBody>
                  <a:tcPr/>
                </a:tc>
                <a:tc>
                  <a:txBody>
                    <a:bodyPr/>
                    <a:lstStyle/>
                    <a:p>
                      <a:r>
                        <a:rPr lang="en-US" dirty="0"/>
                        <a:t>Arbitrary shapes, </a:t>
                      </a:r>
                      <a:r>
                        <a:rPr lang="en-US" dirty="0" err="1"/>
                        <a:t>nosiy</a:t>
                      </a:r>
                      <a:r>
                        <a:rPr lang="en-US" dirty="0"/>
                        <a:t> data</a:t>
                      </a:r>
                    </a:p>
                  </a:txBody>
                  <a:tcPr/>
                </a:tc>
                <a:extLst>
                  <a:ext uri="{0D108BD9-81ED-4DB2-BD59-A6C34878D82A}">
                    <a16:rowId xmlns:a16="http://schemas.microsoft.com/office/drawing/2014/main" val="2857727059"/>
                  </a:ext>
                </a:extLst>
              </a:tr>
            </a:tbl>
          </a:graphicData>
        </a:graphic>
      </p:graphicFrame>
    </p:spTree>
    <p:extLst>
      <p:ext uri="{BB962C8B-B14F-4D97-AF65-F5344CB8AC3E}">
        <p14:creationId xmlns:p14="http://schemas.microsoft.com/office/powerpoint/2010/main" val="3956366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30561-13B1-5F75-F4C7-635025ECF28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D42DF91-B982-D690-5DE4-6B241DED403B}"/>
              </a:ext>
            </a:extLst>
          </p:cNvPr>
          <p:cNvSpPr>
            <a:spLocks noGrp="1"/>
          </p:cNvSpPr>
          <p:nvPr>
            <p:ph idx="1"/>
          </p:nvPr>
        </p:nvSpPr>
        <p:spPr/>
        <p:txBody>
          <a:bodyPr/>
          <a:lstStyle/>
          <a:p>
            <a:r>
              <a:rPr lang="en-US"/>
              <a:t>https://www.analyticsvidhya.com/blog/2020/09/how-dbscan-clustering-works/</a:t>
            </a:r>
            <a:endParaRPr lang="en-US" dirty="0"/>
          </a:p>
        </p:txBody>
      </p:sp>
    </p:spTree>
    <p:extLst>
      <p:ext uri="{BB962C8B-B14F-4D97-AF65-F5344CB8AC3E}">
        <p14:creationId xmlns:p14="http://schemas.microsoft.com/office/powerpoint/2010/main" val="1691813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48E7-815C-6BDC-1D7C-EEA878C4593A}"/>
              </a:ext>
            </a:extLst>
          </p:cNvPr>
          <p:cNvSpPr>
            <a:spLocks noGrp="1"/>
          </p:cNvSpPr>
          <p:nvPr>
            <p:ph type="title"/>
          </p:nvPr>
        </p:nvSpPr>
        <p:spPr>
          <a:xfrm>
            <a:off x="701040" y="2766218"/>
            <a:ext cx="10515600" cy="1325563"/>
          </a:xfrm>
        </p:spPr>
        <p:txBody>
          <a:bodyPr/>
          <a:lstStyle/>
          <a:p>
            <a:r>
              <a:rPr lang="en-US" dirty="0"/>
              <a:t>End</a:t>
            </a:r>
          </a:p>
        </p:txBody>
      </p:sp>
    </p:spTree>
    <p:extLst>
      <p:ext uri="{BB962C8B-B14F-4D97-AF65-F5344CB8AC3E}">
        <p14:creationId xmlns:p14="http://schemas.microsoft.com/office/powerpoint/2010/main" val="4159572628"/>
      </p:ext>
    </p:extLst>
  </p:cSld>
  <p:clrMapOvr>
    <a:masterClrMapping/>
  </p:clrMapOvr>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2627</TotalTime>
  <Words>1631</Words>
  <Application>Microsoft Office PowerPoint</Application>
  <PresentationFormat>Widescreen</PresentationFormat>
  <Paragraphs>234</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Century Gothic</vt:lpstr>
      <vt:lpstr>Courier New</vt:lpstr>
      <vt:lpstr>Georgia</vt:lpstr>
      <vt:lpstr>Inter</vt:lpstr>
      <vt:lpstr>Wingdings 3</vt:lpstr>
      <vt:lpstr>Wisp</vt:lpstr>
      <vt:lpstr>PowerPoint Presentation</vt:lpstr>
      <vt:lpstr>Contents</vt:lpstr>
      <vt:lpstr>Hierarchical Clustering </vt:lpstr>
      <vt:lpstr>Types of Hierarchical Clustering Agglomerative vs. Divisive Clustering </vt:lpstr>
      <vt:lpstr>HAC algorithms</vt:lpstr>
      <vt:lpstr>HAC: Calculation Steps</vt:lpstr>
      <vt:lpstr>Final Dendrogram </vt:lpstr>
      <vt:lpstr>Ward Method </vt:lpstr>
      <vt:lpstr>Computing Distance Matrix </vt:lpstr>
      <vt:lpstr>How do I choose the right method for hierarchical clustering? </vt:lpstr>
      <vt:lpstr>Density based Clustering - DBSCAN</vt:lpstr>
      <vt:lpstr>DBSCAN</vt:lpstr>
      <vt:lpstr>How DBSCAN Works?</vt:lpstr>
      <vt:lpstr>Calculation of DBSCAN</vt:lpstr>
      <vt:lpstr>Calculation of DBSCAN, Cont’d</vt:lpstr>
      <vt:lpstr>Calculation of DBSCAN, Cont’d</vt:lpstr>
      <vt:lpstr>Key Takeaways</vt:lpstr>
      <vt:lpstr>Comparison of Clustering Algorithms</vt:lpstr>
      <vt:lpstr>References</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Machin</dc:title>
  <dc:creator>NweNwe Win</dc:creator>
  <cp:lastModifiedBy>Nwe Nwe</cp:lastModifiedBy>
  <cp:revision>130</cp:revision>
  <dcterms:created xsi:type="dcterms:W3CDTF">2025-01-01T02:32:59Z</dcterms:created>
  <dcterms:modified xsi:type="dcterms:W3CDTF">2026-02-01T12:36:24Z</dcterms:modified>
</cp:coreProperties>
</file>