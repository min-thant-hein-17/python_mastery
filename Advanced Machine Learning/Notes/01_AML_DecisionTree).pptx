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1" r:id="rId2"/>
    <p:sldId id="257" r:id="rId3"/>
    <p:sldId id="260" r:id="rId4"/>
    <p:sldId id="261" r:id="rId5"/>
    <p:sldId id="258" r:id="rId6"/>
    <p:sldId id="259" r:id="rId7"/>
    <p:sldId id="271" r:id="rId8"/>
    <p:sldId id="273" r:id="rId9"/>
    <p:sldId id="264" r:id="rId10"/>
    <p:sldId id="274" r:id="rId11"/>
    <p:sldId id="275" r:id="rId12"/>
    <p:sldId id="276" r:id="rId13"/>
    <p:sldId id="277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279" r:id="rId24"/>
    <p:sldId id="280" r:id="rId25"/>
    <p:sldId id="281" r:id="rId26"/>
    <p:sldId id="282" r:id="rId27"/>
    <p:sldId id="283" r:id="rId28"/>
    <p:sldId id="287" r:id="rId29"/>
    <p:sldId id="288" r:id="rId30"/>
    <p:sldId id="286" r:id="rId31"/>
    <p:sldId id="289" r:id="rId32"/>
    <p:sldId id="284" r:id="rId33"/>
    <p:sldId id="285" r:id="rId34"/>
    <p:sldId id="270" r:id="rId35"/>
    <p:sldId id="290" r:id="rId36"/>
    <p:sldId id="291" r:id="rId37"/>
    <p:sldId id="292" r:id="rId38"/>
    <p:sldId id="295" r:id="rId39"/>
    <p:sldId id="294" r:id="rId40"/>
    <p:sldId id="298" r:id="rId41"/>
    <p:sldId id="312" r:id="rId42"/>
    <p:sldId id="296" r:id="rId43"/>
    <p:sldId id="299" r:id="rId44"/>
    <p:sldId id="297" r:id="rId45"/>
    <p:sldId id="272" r:id="rId46"/>
    <p:sldId id="266" r:id="rId47"/>
    <p:sldId id="309" r:id="rId48"/>
    <p:sldId id="310" r:id="rId49"/>
    <p:sldId id="268" r:id="rId50"/>
    <p:sldId id="267" r:id="rId51"/>
    <p:sldId id="269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95371-01EC-4B01-520B-B4291FB65544}"/>
              </a:ext>
            </a:extLst>
          </p:cNvPr>
          <p:cNvSpPr txBox="1"/>
          <p:nvPr/>
        </p:nvSpPr>
        <p:spPr>
          <a:xfrm>
            <a:off x="10547677" y="768987"/>
            <a:ext cx="1644323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Parami</a:t>
            </a:r>
            <a:r>
              <a:rPr lang="en-US" sz="1400" dirty="0"/>
              <a:t> University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41E8FB5C-44C4-FF9B-19A8-722FFAF8C967}"/>
              </a:ext>
            </a:extLst>
          </p:cNvPr>
          <p:cNvSpPr/>
          <p:nvPr/>
        </p:nvSpPr>
        <p:spPr>
          <a:xfrm>
            <a:off x="11036290" y="14980"/>
            <a:ext cx="667096" cy="684374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2" y="357167"/>
            <a:ext cx="9508098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67" y="1762125"/>
            <a:ext cx="10538257" cy="4288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2142" y="443177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937347-A92F-44CC-0B6E-8C9AAAB09328}"/>
              </a:ext>
            </a:extLst>
          </p:cNvPr>
          <p:cNvGrpSpPr/>
          <p:nvPr/>
        </p:nvGrpSpPr>
        <p:grpSpPr>
          <a:xfrm>
            <a:off x="10890640" y="38322"/>
            <a:ext cx="1277633" cy="714376"/>
            <a:chOff x="484246" y="1977664"/>
            <a:chExt cx="1656026" cy="11188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FA6463-91D9-030A-6D12-683B9163D66D}"/>
                </a:ext>
              </a:extLst>
            </p:cNvPr>
            <p:cNvSpPr txBox="1"/>
            <p:nvPr userDrawn="1"/>
          </p:nvSpPr>
          <p:spPr>
            <a:xfrm>
              <a:off x="484246" y="2698859"/>
              <a:ext cx="1656026" cy="39769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 err="1"/>
                <a:t>Parami</a:t>
              </a:r>
              <a:r>
                <a:rPr lang="en-US" sz="1050" dirty="0"/>
                <a:t> University</a:t>
              </a: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9A099F39-04BF-723C-2317-A9E56DE30984}"/>
                </a:ext>
              </a:extLst>
            </p:cNvPr>
            <p:cNvSpPr/>
            <p:nvPr userDrawn="1"/>
          </p:nvSpPr>
          <p:spPr>
            <a:xfrm>
              <a:off x="935289" y="1977664"/>
              <a:ext cx="646524" cy="721193"/>
            </a:xfrm>
            <a:prstGeom prst="flowChartConnector">
              <a:avLst/>
            </a:prstGeom>
            <a:solidFill>
              <a:srgbClr val="F4EE00"/>
            </a:solidFill>
            <a:ln>
              <a:solidFill>
                <a:srgbClr val="F4EE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464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199" y="157217"/>
            <a:ext cx="9202499" cy="8604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1199" y="1817677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8299" y="6147432"/>
            <a:ext cx="76199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60EF0-1AEA-441C-46EF-C195906B087B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F49662-6FE7-3E02-A68B-4EA249B068B5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5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57348" y="366256"/>
            <a:ext cx="9916084" cy="10339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6102" y="1664634"/>
            <a:ext cx="4859898" cy="425991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5390" y="1664633"/>
            <a:ext cx="4859898" cy="420661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88527" y="6135708"/>
            <a:ext cx="8374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9140" y="460586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CA5F0F-7869-4414-86B4-048FDFAA320A}"/>
              </a:ext>
            </a:extLst>
          </p:cNvPr>
          <p:cNvSpPr txBox="1"/>
          <p:nvPr/>
        </p:nvSpPr>
        <p:spPr>
          <a:xfrm>
            <a:off x="10914367" y="489035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7778619-2549-45E1-0CCA-523028551372}"/>
              </a:ext>
            </a:extLst>
          </p:cNvPr>
          <p:cNvSpPr/>
          <p:nvPr/>
        </p:nvSpPr>
        <p:spPr>
          <a:xfrm>
            <a:off x="11271874" y="28575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3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454114" y="317434"/>
            <a:ext cx="9149358" cy="918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113" y="1452101"/>
            <a:ext cx="434289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4114" y="2242660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0686" y="1465136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242660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030331" y="6151095"/>
            <a:ext cx="1146283" cy="370396"/>
          </a:xfrm>
        </p:spPr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454113" y="5826404"/>
            <a:ext cx="828996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2D6CF6-1224-99C2-C259-1759C76AEF85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169D23F-BD0C-EB67-7B58-E2E606EFAB89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E75C15A-6CEE-1EA6-19ED-7F04DB21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8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925" y="319269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84337" y="6130437"/>
            <a:ext cx="76199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BF19B-C077-A294-183E-CC76AE84EF83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C0AFC15-2C4A-2F72-7657-04B6ED5B567E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DF6B4-42FD-2080-D7DA-D8E5895D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7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6C9DB-AC16-AA52-1CC1-C1789100EA9C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A6A9A0-F393-F488-686F-7C9DF81F3921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0569224-446A-7E61-7439-44A9E196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83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87" y="347542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2576" y="347542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1487" y="1598611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1487" y="6145333"/>
            <a:ext cx="76199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F9CEA-B945-DA93-D2B7-6BE83810EC43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B5CD430-D07F-BC8E-BF03-248EBA65F76D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DE1B59D-0FF1-4EA5-2D6F-B5B14579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81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1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511" y="56139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1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41511" y="6114042"/>
            <a:ext cx="76199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F430D-8C87-9B04-2787-DC1C701EADDE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105B525-AA4B-02EE-A048-70E4234BA064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BB6DECA-09A6-5971-E04E-81646D54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2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80" y="568432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7579" y="437309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47579" y="6179670"/>
            <a:ext cx="76199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668AC-A4A0-E8F4-A89D-61D913B490DE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DA36E57-B5D1-1271-DC8D-A171B2F34685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23E730-769C-5898-AAD4-3610D607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8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1228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91268" y="3495675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3828" y="47530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979612" y="46045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34753" y="328192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76A67-C7D6-C0EE-B9DB-F92296C94729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2A562EB-71D9-215A-6551-7A2A0B2E4E7E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34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9CFF6-129C-E5C2-AB29-5BECC136D643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61D7754-EF91-8581-C2F3-CE3DF9FC85F2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35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79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660" y="225135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8947" y="1943782"/>
            <a:ext cx="8915400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28947" y="6214978"/>
            <a:ext cx="76199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0BDD3-9FA2-0A8D-6CBE-0F6CBF44E113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07C5B93-172A-9769-CF61-1C25071F20D9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422B51E-07C7-2207-3B37-477E569F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9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2836" y="76075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0087" y="71437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5E19B-285C-99FF-F824-39C56B19FDF2}"/>
              </a:ext>
            </a:extLst>
          </p:cNvPr>
          <p:cNvSpPr txBox="1"/>
          <p:nvPr/>
        </p:nvSpPr>
        <p:spPr>
          <a:xfrm>
            <a:off x="10865154" y="460460"/>
            <a:ext cx="1277633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Parami</a:t>
            </a:r>
            <a:r>
              <a:rPr lang="en-US" sz="1050" dirty="0"/>
              <a:t> University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0F9F944-95A4-9399-A85B-67446DACE1E7}"/>
              </a:ext>
            </a:extLst>
          </p:cNvPr>
          <p:cNvSpPr/>
          <p:nvPr/>
        </p:nvSpPr>
        <p:spPr>
          <a:xfrm>
            <a:off x="11213136" y="0"/>
            <a:ext cx="498797" cy="460459"/>
          </a:xfrm>
          <a:prstGeom prst="flowChartConnector">
            <a:avLst/>
          </a:prstGeom>
          <a:solidFill>
            <a:srgbClr val="F4EE00"/>
          </a:solidFill>
          <a:ln>
            <a:solidFill>
              <a:srgbClr val="F4E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933EAF-3DD6-C5E5-E1AD-38E33C3E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67" y="460459"/>
            <a:ext cx="779767" cy="365125"/>
          </a:xfrm>
        </p:spPr>
        <p:txBody>
          <a:bodyPr/>
          <a:lstStyle/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8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878" y="362052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887" y="1940904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83156-3BD6-475C-A5AB-0B563C322E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887" y="6222762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0D68FD19-4A01-5F7B-22D4-D554EDAF112F}"/>
              </a:ext>
            </a:extLst>
          </p:cNvPr>
          <p:cNvSpPr/>
          <p:nvPr/>
        </p:nvSpPr>
        <p:spPr bwMode="auto">
          <a:xfrm flipV="1">
            <a:off x="149591" y="497219"/>
            <a:ext cx="1222296" cy="36512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38344" y="509704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D3F8791-F5D1-4068-95B9-2D8392E3D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7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wenwehtaywin@parami.edu.m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1.5/modules/tree.html#tree-missing-value-support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1.5/modules/tree.html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28BC3-F140-5104-BFA4-E3D22659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982A19E-2DD5-28D7-3E37-AE48ECC74524}"/>
              </a:ext>
            </a:extLst>
          </p:cNvPr>
          <p:cNvSpPr txBox="1">
            <a:spLocks/>
          </p:cNvSpPr>
          <p:nvPr/>
        </p:nvSpPr>
        <p:spPr>
          <a:xfrm>
            <a:off x="1942289" y="1328384"/>
            <a:ext cx="9144000" cy="102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tx1"/>
                </a:solidFill>
              </a:rPr>
              <a:t>Advanced Machine Learning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2CEB0B-1B47-CDFA-4E15-C30D68319D60}"/>
              </a:ext>
            </a:extLst>
          </p:cNvPr>
          <p:cNvSpPr txBox="1"/>
          <p:nvPr/>
        </p:nvSpPr>
        <p:spPr>
          <a:xfrm>
            <a:off x="5019472" y="3331029"/>
            <a:ext cx="547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Decision Tree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3A3A2-F91E-F992-D831-55AA10EF5F15}"/>
              </a:ext>
            </a:extLst>
          </p:cNvPr>
          <p:cNvSpPr txBox="1">
            <a:spLocks/>
          </p:cNvSpPr>
          <p:nvPr/>
        </p:nvSpPr>
        <p:spPr>
          <a:xfrm>
            <a:off x="2049293" y="468442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dirty="0"/>
              <a:t>Dr. Nwe </a:t>
            </a:r>
            <a:r>
              <a:rPr lang="en-US" dirty="0" err="1"/>
              <a:t>Nwe</a:t>
            </a:r>
            <a:r>
              <a:rPr lang="en-US" dirty="0"/>
              <a:t> </a:t>
            </a:r>
            <a:r>
              <a:rPr lang="en-US" dirty="0" err="1"/>
              <a:t>Htay</a:t>
            </a:r>
            <a:r>
              <a:rPr lang="en-US" dirty="0"/>
              <a:t> Win</a:t>
            </a:r>
          </a:p>
          <a:p>
            <a:pPr marL="0" indent="0" algn="r">
              <a:buNone/>
            </a:pPr>
            <a:r>
              <a:rPr lang="en-US" dirty="0"/>
              <a:t>Faculty of Mathematics and Science</a:t>
            </a:r>
          </a:p>
          <a:p>
            <a:pPr marL="0" indent="0" algn="r">
              <a:buNone/>
            </a:pPr>
            <a:r>
              <a:rPr lang="en-US" dirty="0" err="1"/>
              <a:t>Parami</a:t>
            </a:r>
            <a:r>
              <a:rPr lang="en-US" dirty="0"/>
              <a:t> University </a:t>
            </a:r>
          </a:p>
          <a:p>
            <a:pPr marL="0" indent="0" algn="r">
              <a:buNone/>
            </a:pPr>
            <a:r>
              <a:rPr lang="en-US" dirty="0">
                <a:hlinkClick r:id="rId2"/>
              </a:rPr>
              <a:t>nwenwehtaywin@parami.edu.mm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95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85E2-A8CC-4ED4-A810-90E6E6A8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61C4C-E634-4C7B-9AEB-9FEA36D00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Concepts of Decision Tree</a:t>
            </a:r>
          </a:p>
          <a:p>
            <a:r>
              <a:rPr lang="en-US" dirty="0"/>
              <a:t>Core Concepts of Decision Tree</a:t>
            </a:r>
          </a:p>
          <a:p>
            <a:r>
              <a:rPr lang="en-US" dirty="0"/>
              <a:t>Challenges of Decision Tree</a:t>
            </a:r>
          </a:p>
        </p:txBody>
      </p:sp>
    </p:spTree>
    <p:extLst>
      <p:ext uri="{BB962C8B-B14F-4D97-AF65-F5344CB8AC3E}">
        <p14:creationId xmlns:p14="http://schemas.microsoft.com/office/powerpoint/2010/main" val="280212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9B8B-3255-1D3C-9291-2B4C455A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2513965"/>
            <a:ext cx="10515600" cy="1325563"/>
          </a:xfrm>
        </p:spPr>
        <p:txBody>
          <a:bodyPr/>
          <a:lstStyle/>
          <a:p>
            <a:r>
              <a:rPr lang="en-US" dirty="0"/>
              <a:t>Basic Concepts of Decision Tree</a:t>
            </a:r>
          </a:p>
        </p:txBody>
      </p:sp>
    </p:spTree>
    <p:extLst>
      <p:ext uri="{BB962C8B-B14F-4D97-AF65-F5344CB8AC3E}">
        <p14:creationId xmlns:p14="http://schemas.microsoft.com/office/powerpoint/2010/main" val="396132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4392-4F39-3F71-EEAE-33B5B9CA6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776B-0912-6F27-E121-B7CD2CBCA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Decision Trees (DTs) are a non-parametric supervised learning method used for classification and regression.</a:t>
            </a:r>
          </a:p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Classification trees are a type of decision tree that determine whether an event occurred or not, usually with a "yes" or "no" outcome. </a:t>
            </a:r>
          </a:p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They are used in data mining and machine learning to classify data into discrete classes.</a:t>
            </a:r>
          </a:p>
        </p:txBody>
      </p:sp>
    </p:spTree>
    <p:extLst>
      <p:ext uri="{BB962C8B-B14F-4D97-AF65-F5344CB8AC3E}">
        <p14:creationId xmlns:p14="http://schemas.microsoft.com/office/powerpoint/2010/main" val="91337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1C53-A81E-9370-244D-3FE19F03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8515F-4FC1-AF14-4502-96F408545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6" y="1309549"/>
            <a:ext cx="10515600" cy="122301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decision tree is a flowchart-like structure where an internal node represents a feature (attribute), the branch represents a decision rule, and each leaf node represents an outcome (label).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791993C-4716-2C9D-829E-0D796BEDC0DE}"/>
              </a:ext>
            </a:extLst>
          </p:cNvPr>
          <p:cNvGrpSpPr/>
          <p:nvPr/>
        </p:nvGrpSpPr>
        <p:grpSpPr>
          <a:xfrm>
            <a:off x="2864497" y="3361497"/>
            <a:ext cx="5016758" cy="2743200"/>
            <a:chOff x="2864497" y="3361497"/>
            <a:chExt cx="5016758" cy="27432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0932B94-14F5-DDF6-0201-491E39E25041}"/>
                </a:ext>
              </a:extLst>
            </p:cNvPr>
            <p:cNvSpPr/>
            <p:nvPr/>
          </p:nvSpPr>
          <p:spPr>
            <a:xfrm>
              <a:off x="5579705" y="3361497"/>
              <a:ext cx="1250302" cy="4478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Fly?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0CC305-C632-7737-7674-2589EE59C926}"/>
                </a:ext>
              </a:extLst>
            </p:cNvPr>
            <p:cNvSpPr/>
            <p:nvPr/>
          </p:nvSpPr>
          <p:spPr>
            <a:xfrm>
              <a:off x="3396342" y="4544945"/>
              <a:ext cx="1468016" cy="4478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4 legs?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E6273D-3700-5F8D-8EB1-CB9EE6F64A9C}"/>
                </a:ext>
              </a:extLst>
            </p:cNvPr>
            <p:cNvSpPr/>
            <p:nvPr/>
          </p:nvSpPr>
          <p:spPr>
            <a:xfrm>
              <a:off x="2864497" y="5731472"/>
              <a:ext cx="1138335" cy="3732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Chicken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93FDEE-04F7-D60F-F3F8-553EB26C62B6}"/>
                </a:ext>
              </a:extLst>
            </p:cNvPr>
            <p:cNvSpPr/>
            <p:nvPr/>
          </p:nvSpPr>
          <p:spPr>
            <a:xfrm>
              <a:off x="4565779" y="5731471"/>
              <a:ext cx="1138335" cy="3732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Dog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5E5A18-AA26-73AB-3337-B7FC91884D6B}"/>
                </a:ext>
              </a:extLst>
            </p:cNvPr>
            <p:cNvSpPr/>
            <p:nvPr/>
          </p:nvSpPr>
          <p:spPr>
            <a:xfrm>
              <a:off x="6742920" y="4619589"/>
              <a:ext cx="1138335" cy="3732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Bird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65C4D6-C3AC-2ABB-012C-79BEFFBA37EB}"/>
                </a:ext>
              </a:extLst>
            </p:cNvPr>
            <p:cNvCxnSpPr>
              <a:stCxn id="4" idx="3"/>
              <a:endCxn id="5" idx="0"/>
            </p:cNvCxnSpPr>
            <p:nvPr/>
          </p:nvCxnSpPr>
          <p:spPr>
            <a:xfrm flipH="1">
              <a:off x="4130350" y="3743777"/>
              <a:ext cx="1632457" cy="801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6F71252-1DC5-B99D-26FC-F6785DDA1F9A}"/>
                </a:ext>
              </a:extLst>
            </p:cNvPr>
            <p:cNvCxnSpPr>
              <a:stCxn id="4" idx="5"/>
              <a:endCxn id="11" idx="0"/>
            </p:cNvCxnSpPr>
            <p:nvPr/>
          </p:nvCxnSpPr>
          <p:spPr>
            <a:xfrm>
              <a:off x="6646905" y="3743777"/>
              <a:ext cx="665183" cy="8758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28486C5-163B-9BB0-4454-1448E01F2778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 flipH="1">
              <a:off x="3433665" y="4992814"/>
              <a:ext cx="696685" cy="7386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9FB5AA8-CB00-34E7-B33D-765129191106}"/>
                </a:ext>
              </a:extLst>
            </p:cNvPr>
            <p:cNvCxnSpPr>
              <a:stCxn id="5" idx="4"/>
              <a:endCxn id="10" idx="0"/>
            </p:cNvCxnSpPr>
            <p:nvPr/>
          </p:nvCxnSpPr>
          <p:spPr>
            <a:xfrm>
              <a:off x="4130350" y="4992814"/>
              <a:ext cx="1004597" cy="738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75AFEA-7FDA-D32A-4532-2F9260A1A132}"/>
                </a:ext>
              </a:extLst>
            </p:cNvPr>
            <p:cNvSpPr txBox="1"/>
            <p:nvPr/>
          </p:nvSpPr>
          <p:spPr>
            <a:xfrm>
              <a:off x="7063273" y="3809366"/>
              <a:ext cx="59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A4D936-E498-B7CE-BF00-26394E9F332D}"/>
                </a:ext>
              </a:extLst>
            </p:cNvPr>
            <p:cNvSpPr txBox="1"/>
            <p:nvPr/>
          </p:nvSpPr>
          <p:spPr>
            <a:xfrm>
              <a:off x="4227368" y="3845553"/>
              <a:ext cx="59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7D224F-5272-46E9-A731-F367D0F7C5F1}"/>
                </a:ext>
              </a:extLst>
            </p:cNvPr>
            <p:cNvSpPr txBox="1"/>
            <p:nvPr/>
          </p:nvSpPr>
          <p:spPr>
            <a:xfrm>
              <a:off x="4631894" y="5079142"/>
              <a:ext cx="59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B5A856-3EFB-AD9F-2A5E-CB510D330AA4}"/>
                </a:ext>
              </a:extLst>
            </p:cNvPr>
            <p:cNvSpPr txBox="1"/>
            <p:nvPr/>
          </p:nvSpPr>
          <p:spPr>
            <a:xfrm>
              <a:off x="3212487" y="5173581"/>
              <a:ext cx="59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9608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9149-3C45-E427-9A84-68891289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 of DT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2BF0D-F6EA-F17D-4ABD-1F6805471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Root node</a:t>
            </a:r>
          </a:p>
          <a:p>
            <a:pPr lvl="1"/>
            <a:r>
              <a:rPr lang="en-US" dirty="0"/>
              <a:t>– No incoming edges</a:t>
            </a:r>
          </a:p>
          <a:p>
            <a:pPr lvl="1"/>
            <a:r>
              <a:rPr lang="en-US" dirty="0"/>
              <a:t>– Zero or more outgoing edges</a:t>
            </a:r>
          </a:p>
          <a:p>
            <a:r>
              <a:rPr lang="en-US" dirty="0"/>
              <a:t>Internal Node</a:t>
            </a:r>
          </a:p>
          <a:p>
            <a:pPr lvl="1"/>
            <a:r>
              <a:rPr lang="en-US" dirty="0"/>
              <a:t>– One incoming edge</a:t>
            </a:r>
          </a:p>
          <a:p>
            <a:pPr lvl="1"/>
            <a:r>
              <a:rPr lang="en-US" dirty="0"/>
              <a:t>– Two or more outgoing edges</a:t>
            </a:r>
          </a:p>
          <a:p>
            <a:r>
              <a:rPr lang="en-US" dirty="0"/>
              <a:t>Leaf/Terminal Node</a:t>
            </a:r>
          </a:p>
          <a:p>
            <a:pPr lvl="1"/>
            <a:r>
              <a:rPr lang="en-US" dirty="0"/>
              <a:t>– One incoming edges</a:t>
            </a:r>
          </a:p>
          <a:p>
            <a:pPr lvl="1"/>
            <a:r>
              <a:rPr lang="en-US" dirty="0"/>
              <a:t>– No outgoing edges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4C9371-4094-604A-54D4-39195B880EEC}"/>
              </a:ext>
            </a:extLst>
          </p:cNvPr>
          <p:cNvGrpSpPr/>
          <p:nvPr/>
        </p:nvGrpSpPr>
        <p:grpSpPr>
          <a:xfrm>
            <a:off x="5828522" y="2185839"/>
            <a:ext cx="5458407" cy="2743199"/>
            <a:chOff x="2422848" y="3361497"/>
            <a:chExt cx="5458407" cy="27431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3271C6A-C86F-9036-369C-B5C24C8165D8}"/>
                </a:ext>
              </a:extLst>
            </p:cNvPr>
            <p:cNvSpPr/>
            <p:nvPr/>
          </p:nvSpPr>
          <p:spPr>
            <a:xfrm>
              <a:off x="5579705" y="3361497"/>
              <a:ext cx="1250302" cy="4478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Fly?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2DDD634-9A1A-F690-570D-55848BE7A93B}"/>
                </a:ext>
              </a:extLst>
            </p:cNvPr>
            <p:cNvSpPr/>
            <p:nvPr/>
          </p:nvSpPr>
          <p:spPr>
            <a:xfrm>
              <a:off x="3141041" y="4544945"/>
              <a:ext cx="1723317" cy="4478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4 legs?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3218B1-7607-A2FA-7025-E0A4A84562F3}"/>
                </a:ext>
              </a:extLst>
            </p:cNvPr>
            <p:cNvSpPr/>
            <p:nvPr/>
          </p:nvSpPr>
          <p:spPr>
            <a:xfrm>
              <a:off x="2422848" y="5731471"/>
              <a:ext cx="1138335" cy="37322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Chicken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54843D-392C-ABCF-F230-C43AC441E7E3}"/>
                </a:ext>
              </a:extLst>
            </p:cNvPr>
            <p:cNvSpPr/>
            <p:nvPr/>
          </p:nvSpPr>
          <p:spPr>
            <a:xfrm>
              <a:off x="4565779" y="5731471"/>
              <a:ext cx="1138335" cy="37322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Dog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15EC30-278F-43B2-3E48-856BEDAB1387}"/>
                </a:ext>
              </a:extLst>
            </p:cNvPr>
            <p:cNvSpPr/>
            <p:nvPr/>
          </p:nvSpPr>
          <p:spPr>
            <a:xfrm>
              <a:off x="6742920" y="4619589"/>
              <a:ext cx="1138335" cy="37322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Bird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9BBEB66-803B-04CA-D7FE-9856ADF991D4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 flipH="1">
              <a:off x="4002700" y="3743777"/>
              <a:ext cx="1760107" cy="801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A363CE3-41F5-D864-9334-F18679A386E3}"/>
                </a:ext>
              </a:extLst>
            </p:cNvPr>
            <p:cNvCxnSpPr>
              <a:stCxn id="6" idx="5"/>
              <a:endCxn id="10" idx="0"/>
            </p:cNvCxnSpPr>
            <p:nvPr/>
          </p:nvCxnSpPr>
          <p:spPr>
            <a:xfrm>
              <a:off x="6646905" y="3743777"/>
              <a:ext cx="665183" cy="8758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E241644-A236-2D09-C93A-83F91DD45410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2992016" y="4992814"/>
              <a:ext cx="1010684" cy="738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B0941F2-9960-D3FB-5A97-BEA2921C2FD8}"/>
                </a:ext>
              </a:extLst>
            </p:cNvPr>
            <p:cNvCxnSpPr>
              <a:cxnSpLocks/>
              <a:stCxn id="7" idx="4"/>
              <a:endCxn id="9" idx="0"/>
            </p:cNvCxnSpPr>
            <p:nvPr/>
          </p:nvCxnSpPr>
          <p:spPr>
            <a:xfrm>
              <a:off x="4002700" y="4992814"/>
              <a:ext cx="1132247" cy="738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F8CC8C6-46B8-EAB1-2D62-60AC779B9088}"/>
                </a:ext>
              </a:extLst>
            </p:cNvPr>
            <p:cNvSpPr txBox="1"/>
            <p:nvPr/>
          </p:nvSpPr>
          <p:spPr>
            <a:xfrm>
              <a:off x="7063273" y="3809366"/>
              <a:ext cx="59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FBB5DB-FEDE-4E81-8FB3-14640FF754DA}"/>
                </a:ext>
              </a:extLst>
            </p:cNvPr>
            <p:cNvSpPr txBox="1"/>
            <p:nvPr/>
          </p:nvSpPr>
          <p:spPr>
            <a:xfrm>
              <a:off x="4227368" y="3845553"/>
              <a:ext cx="59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1101FB-55E6-D456-D7AE-3A4024061200}"/>
                </a:ext>
              </a:extLst>
            </p:cNvPr>
            <p:cNvSpPr txBox="1"/>
            <p:nvPr/>
          </p:nvSpPr>
          <p:spPr>
            <a:xfrm>
              <a:off x="4631894" y="5079142"/>
              <a:ext cx="59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0DD179-B067-A70E-301C-26747BFBD481}"/>
                </a:ext>
              </a:extLst>
            </p:cNvPr>
            <p:cNvSpPr txBox="1"/>
            <p:nvPr/>
          </p:nvSpPr>
          <p:spPr>
            <a:xfrm>
              <a:off x="3212487" y="5173581"/>
              <a:ext cx="59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003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3245-D7CA-0021-496B-DFE53384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40" y="320832"/>
            <a:ext cx="10515600" cy="1325563"/>
          </a:xfrm>
        </p:spPr>
        <p:txBody>
          <a:bodyPr/>
          <a:lstStyle/>
          <a:p>
            <a:r>
              <a:rPr lang="en-US" dirty="0"/>
              <a:t>Classification and Regression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AFD50-A9BC-BA34-317F-2DE45A971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767" y="1523048"/>
            <a:ext cx="10515599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Classification Trees:</a:t>
            </a:r>
          </a:p>
          <a:p>
            <a:pPr lvl="1" algn="just"/>
            <a:r>
              <a:rPr lang="en-US" dirty="0"/>
              <a:t>These trees are used when the target variable is categorical (i.e., it belongs to a finite set of classes or categories).</a:t>
            </a:r>
          </a:p>
          <a:p>
            <a:pPr lvl="1" algn="just"/>
            <a:r>
              <a:rPr lang="en-US" dirty="0"/>
              <a:t>Example: Predicting whether an email is spam or not (binary classification), or identifying the species of a flower (multi-class classification).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Regression Trees:</a:t>
            </a:r>
          </a:p>
          <a:p>
            <a:pPr lvl="1" algn="just"/>
            <a:r>
              <a:rPr lang="en-US" dirty="0"/>
              <a:t>These trees are used when the target variable is continuous (i.e., it takes on a range of values, typically real numbers).</a:t>
            </a:r>
          </a:p>
          <a:p>
            <a:pPr lvl="1" algn="just"/>
            <a:r>
              <a:rPr lang="en-US" dirty="0"/>
              <a:t>Example: Predicting house prices, temperature, or stock market prices.</a:t>
            </a:r>
          </a:p>
        </p:txBody>
      </p:sp>
    </p:spTree>
    <p:extLst>
      <p:ext uri="{BB962C8B-B14F-4D97-AF65-F5344CB8AC3E}">
        <p14:creationId xmlns:p14="http://schemas.microsoft.com/office/powerpoint/2010/main" val="52213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336B61-4FAE-2A4A-7B5B-8D85DACBEFCC}"/>
              </a:ext>
            </a:extLst>
          </p:cNvPr>
          <p:cNvSpPr/>
          <p:nvPr/>
        </p:nvSpPr>
        <p:spPr>
          <a:xfrm>
            <a:off x="6754063" y="5198742"/>
            <a:ext cx="1859280" cy="1082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Apply Model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76502D3-13E6-9208-67E3-A95AF6719673}"/>
              </a:ext>
            </a:extLst>
          </p:cNvPr>
          <p:cNvGrpSpPr/>
          <p:nvPr/>
        </p:nvGrpSpPr>
        <p:grpSpPr>
          <a:xfrm>
            <a:off x="5029200" y="1230134"/>
            <a:ext cx="7162799" cy="4771457"/>
            <a:chOff x="4443716" y="1143000"/>
            <a:chExt cx="7166328" cy="52654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1C87D4-61A2-26C8-03CB-4288CA6992AC}"/>
                </a:ext>
              </a:extLst>
            </p:cNvPr>
            <p:cNvSpPr/>
            <p:nvPr/>
          </p:nvSpPr>
          <p:spPr>
            <a:xfrm>
              <a:off x="5730240" y="1143000"/>
              <a:ext cx="2575560" cy="33528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381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845A19B-E7AE-7F65-AD5A-5C0B1AD2E603}"/>
                </a:ext>
              </a:extLst>
            </p:cNvPr>
            <p:cNvSpPr/>
            <p:nvPr/>
          </p:nvSpPr>
          <p:spPr>
            <a:xfrm>
              <a:off x="6096000" y="1478280"/>
              <a:ext cx="1859280" cy="10820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Tree Induction Algorithm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B54F457-7A58-7175-74B6-63FA5EBDC570}"/>
                </a:ext>
              </a:extLst>
            </p:cNvPr>
            <p:cNvSpPr/>
            <p:nvPr/>
          </p:nvSpPr>
          <p:spPr>
            <a:xfrm>
              <a:off x="6126480" y="3124202"/>
              <a:ext cx="1859280" cy="10820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Learn Model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9E61526-04CF-B4B5-DE38-DD5A90B1078E}"/>
                </a:ext>
              </a:extLst>
            </p:cNvPr>
            <p:cNvSpPr/>
            <p:nvPr/>
          </p:nvSpPr>
          <p:spPr>
            <a:xfrm>
              <a:off x="9723120" y="2562226"/>
              <a:ext cx="1706880" cy="693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Model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E1874D76-CCC9-3719-4907-BCCE5C7D797B}"/>
                </a:ext>
              </a:extLst>
            </p:cNvPr>
            <p:cNvSpPr/>
            <p:nvPr/>
          </p:nvSpPr>
          <p:spPr>
            <a:xfrm>
              <a:off x="4556760" y="2693670"/>
              <a:ext cx="1173480" cy="4305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E5A128AE-D880-9D50-2075-2BAFFFF7B703}"/>
                </a:ext>
              </a:extLst>
            </p:cNvPr>
            <p:cNvSpPr/>
            <p:nvPr/>
          </p:nvSpPr>
          <p:spPr>
            <a:xfrm>
              <a:off x="8382000" y="2693670"/>
              <a:ext cx="1173480" cy="4305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928BF594-0589-D6F5-D743-DF649F58BC0C}"/>
                </a:ext>
              </a:extLst>
            </p:cNvPr>
            <p:cNvSpPr/>
            <p:nvPr/>
          </p:nvSpPr>
          <p:spPr>
            <a:xfrm rot="8704942">
              <a:off x="7837039" y="4671475"/>
              <a:ext cx="3283065" cy="36649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88B36317-1F58-57C4-171D-26F76726DD6E}"/>
                </a:ext>
              </a:extLst>
            </p:cNvPr>
            <p:cNvSpPr/>
            <p:nvPr/>
          </p:nvSpPr>
          <p:spPr>
            <a:xfrm rot="10221195">
              <a:off x="4678902" y="5977904"/>
              <a:ext cx="1173480" cy="4305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0C2FDD-B821-7ED6-72BC-94ADE2743609}"/>
                </a:ext>
              </a:extLst>
            </p:cNvPr>
            <p:cNvSpPr txBox="1"/>
            <p:nvPr/>
          </p:nvSpPr>
          <p:spPr>
            <a:xfrm>
              <a:off x="4443716" y="2363746"/>
              <a:ext cx="125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Induction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0791D7A-1CF1-3E54-DB55-3B1FD490ED4D}"/>
                </a:ext>
              </a:extLst>
            </p:cNvPr>
            <p:cNvSpPr txBox="1"/>
            <p:nvPr/>
          </p:nvSpPr>
          <p:spPr>
            <a:xfrm>
              <a:off x="4443718" y="5607045"/>
              <a:ext cx="1388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Deduction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1C81BB-5232-F06E-6D4A-59972528CAAA}"/>
                </a:ext>
              </a:extLst>
            </p:cNvPr>
            <p:cNvSpPr txBox="1"/>
            <p:nvPr/>
          </p:nvSpPr>
          <p:spPr>
            <a:xfrm>
              <a:off x="9825546" y="3295890"/>
              <a:ext cx="178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Decision Tree</a:t>
              </a: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9D8BD6-5ED8-BC50-E0AD-87DA0E767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923408"/>
              </p:ext>
            </p:extLst>
          </p:nvPr>
        </p:nvGraphicFramePr>
        <p:xfrm>
          <a:off x="634937" y="1183245"/>
          <a:ext cx="431254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307">
                  <a:extLst>
                    <a:ext uri="{9D8B030D-6E8A-4147-A177-3AD203B41FA5}">
                      <a16:colId xmlns:a16="http://schemas.microsoft.com/office/drawing/2014/main" val="2980150474"/>
                    </a:ext>
                  </a:extLst>
                </a:gridCol>
                <a:gridCol w="951565">
                  <a:extLst>
                    <a:ext uri="{9D8B030D-6E8A-4147-A177-3AD203B41FA5}">
                      <a16:colId xmlns:a16="http://schemas.microsoft.com/office/drawing/2014/main" val="1480102742"/>
                    </a:ext>
                  </a:extLst>
                </a:gridCol>
                <a:gridCol w="1274202">
                  <a:extLst>
                    <a:ext uri="{9D8B030D-6E8A-4147-A177-3AD203B41FA5}">
                      <a16:colId xmlns:a16="http://schemas.microsoft.com/office/drawing/2014/main" val="594799768"/>
                    </a:ext>
                  </a:extLst>
                </a:gridCol>
                <a:gridCol w="767959">
                  <a:extLst>
                    <a:ext uri="{9D8B030D-6E8A-4147-A177-3AD203B41FA5}">
                      <a16:colId xmlns:a16="http://schemas.microsoft.com/office/drawing/2014/main" val="572290805"/>
                    </a:ext>
                  </a:extLst>
                </a:gridCol>
                <a:gridCol w="862509">
                  <a:extLst>
                    <a:ext uri="{9D8B030D-6E8A-4147-A177-3AD203B41FA5}">
                      <a16:colId xmlns:a16="http://schemas.microsoft.com/office/drawing/2014/main" val="592816894"/>
                    </a:ext>
                  </a:extLst>
                </a:gridCol>
              </a:tblGrid>
              <a:tr h="512317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8611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51874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749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14407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904646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49400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13133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08502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8695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94573"/>
                  </a:ext>
                </a:extLst>
              </a:tr>
              <a:tr h="301363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55881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333B18B-B337-52B0-F9F4-2CADCBF38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73267"/>
              </p:ext>
            </p:extLst>
          </p:nvPr>
        </p:nvGraphicFramePr>
        <p:xfrm>
          <a:off x="634937" y="5179968"/>
          <a:ext cx="4496563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492">
                  <a:extLst>
                    <a:ext uri="{9D8B030D-6E8A-4147-A177-3AD203B41FA5}">
                      <a16:colId xmlns:a16="http://schemas.microsoft.com/office/drawing/2014/main" val="2593827472"/>
                    </a:ext>
                  </a:extLst>
                </a:gridCol>
                <a:gridCol w="952412">
                  <a:extLst>
                    <a:ext uri="{9D8B030D-6E8A-4147-A177-3AD203B41FA5}">
                      <a16:colId xmlns:a16="http://schemas.microsoft.com/office/drawing/2014/main" val="3296168887"/>
                    </a:ext>
                  </a:extLst>
                </a:gridCol>
                <a:gridCol w="1203033">
                  <a:extLst>
                    <a:ext uri="{9D8B030D-6E8A-4147-A177-3AD203B41FA5}">
                      <a16:colId xmlns:a16="http://schemas.microsoft.com/office/drawing/2014/main" val="652260555"/>
                    </a:ext>
                  </a:extLst>
                </a:gridCol>
                <a:gridCol w="899313">
                  <a:extLst>
                    <a:ext uri="{9D8B030D-6E8A-4147-A177-3AD203B41FA5}">
                      <a16:colId xmlns:a16="http://schemas.microsoft.com/office/drawing/2014/main" val="1730890786"/>
                    </a:ext>
                  </a:extLst>
                </a:gridCol>
                <a:gridCol w="899313">
                  <a:extLst>
                    <a:ext uri="{9D8B030D-6E8A-4147-A177-3AD203B41FA5}">
                      <a16:colId xmlns:a16="http://schemas.microsoft.com/office/drawing/2014/main" val="2396679722"/>
                    </a:ext>
                  </a:extLst>
                </a:gridCol>
              </a:tblGrid>
              <a:tr h="41258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421473"/>
                  </a:ext>
                </a:extLst>
              </a:tr>
              <a:tr h="242694"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492897"/>
                  </a:ext>
                </a:extLst>
              </a:tr>
              <a:tr h="242694"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51373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7AA625C-A31C-F9A0-6241-7DC40A1A7018}"/>
              </a:ext>
            </a:extLst>
          </p:cNvPr>
          <p:cNvSpPr txBox="1"/>
          <p:nvPr/>
        </p:nvSpPr>
        <p:spPr>
          <a:xfrm>
            <a:off x="1664400" y="4829410"/>
            <a:ext cx="185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Testing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1D930A-68CB-14F2-15DB-C94B79F4CC3E}"/>
              </a:ext>
            </a:extLst>
          </p:cNvPr>
          <p:cNvSpPr txBox="1"/>
          <p:nvPr/>
        </p:nvSpPr>
        <p:spPr>
          <a:xfrm>
            <a:off x="1664400" y="813913"/>
            <a:ext cx="185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2F90C-C76A-2EF0-765E-DC4953FE28CD}"/>
              </a:ext>
            </a:extLst>
          </p:cNvPr>
          <p:cNvSpPr txBox="1"/>
          <p:nvPr/>
        </p:nvSpPr>
        <p:spPr>
          <a:xfrm>
            <a:off x="1359518" y="392999"/>
            <a:ext cx="6710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Decision Tree Classification Task</a:t>
            </a:r>
          </a:p>
        </p:txBody>
      </p:sp>
    </p:spTree>
    <p:extLst>
      <p:ext uri="{BB962C8B-B14F-4D97-AF65-F5344CB8AC3E}">
        <p14:creationId xmlns:p14="http://schemas.microsoft.com/office/powerpoint/2010/main" val="313645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2D6EE-F002-97B3-30FF-89B1088D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Decision Tree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82EFC-C48F-832F-64EE-771C60FED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Preparation: </a:t>
            </a:r>
            <a:r>
              <a:rPr lang="en-US" dirty="0"/>
              <a:t>Input labeled data.</a:t>
            </a:r>
          </a:p>
          <a:p>
            <a:r>
              <a:rPr lang="en-US" b="1" dirty="0"/>
              <a:t>Splitting: </a:t>
            </a:r>
            <a:r>
              <a:rPr lang="en-US" dirty="0"/>
              <a:t>Recursively divide data based on feature values.</a:t>
            </a:r>
          </a:p>
          <a:p>
            <a:r>
              <a:rPr lang="en-US" b="1" dirty="0"/>
              <a:t>Stopping: </a:t>
            </a:r>
            <a:r>
              <a:rPr lang="en-US" dirty="0"/>
              <a:t>Stop when conditions are met (e.g., pure nodes).</a:t>
            </a:r>
          </a:p>
          <a:p>
            <a:r>
              <a:rPr lang="en-US" b="1" dirty="0"/>
              <a:t>Pruning: </a:t>
            </a:r>
            <a:r>
              <a:rPr lang="en-US" dirty="0"/>
              <a:t>Simplify the tree to avoid overfitting.</a:t>
            </a:r>
          </a:p>
          <a:p>
            <a:r>
              <a:rPr lang="en-US" b="1" dirty="0"/>
              <a:t>Prediction: </a:t>
            </a:r>
            <a:r>
              <a:rPr lang="en-US" dirty="0"/>
              <a:t>Use the final tree to classify new inputs.</a:t>
            </a:r>
          </a:p>
        </p:txBody>
      </p:sp>
    </p:spTree>
    <p:extLst>
      <p:ext uri="{BB962C8B-B14F-4D97-AF65-F5344CB8AC3E}">
        <p14:creationId xmlns:p14="http://schemas.microsoft.com/office/powerpoint/2010/main" val="424012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F095-BBD1-75C0-6AB5-3D7BDD4B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918" y="280775"/>
            <a:ext cx="10515600" cy="1325563"/>
          </a:xfrm>
        </p:spPr>
        <p:txBody>
          <a:bodyPr/>
          <a:lstStyle/>
          <a:p>
            <a:r>
              <a:rPr lang="en-US" dirty="0"/>
              <a:t>Example of a Decision Tree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1734DC-900D-12D0-C577-B025CFC27BCD}"/>
              </a:ext>
            </a:extLst>
          </p:cNvPr>
          <p:cNvSpPr txBox="1"/>
          <p:nvPr/>
        </p:nvSpPr>
        <p:spPr>
          <a:xfrm>
            <a:off x="8185182" y="655067"/>
            <a:ext cx="1948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splitting attributes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6BF8B0-770B-F1CA-C8AA-9FF99774C3C2}"/>
              </a:ext>
            </a:extLst>
          </p:cNvPr>
          <p:cNvGrpSpPr/>
          <p:nvPr/>
        </p:nvGrpSpPr>
        <p:grpSpPr>
          <a:xfrm>
            <a:off x="5576224" y="1024399"/>
            <a:ext cx="5658158" cy="4434832"/>
            <a:chOff x="5576224" y="1024399"/>
            <a:chExt cx="5658158" cy="44348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AA7A64-6BEA-9782-3E0F-49C5FD6BAE57}"/>
                </a:ext>
              </a:extLst>
            </p:cNvPr>
            <p:cNvSpPr/>
            <p:nvPr/>
          </p:nvSpPr>
          <p:spPr>
            <a:xfrm>
              <a:off x="5576224" y="2708737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CD17B5-BBE3-B05D-1329-A0DAA8BAFA51}"/>
                </a:ext>
              </a:extLst>
            </p:cNvPr>
            <p:cNvSpPr/>
            <p:nvPr/>
          </p:nvSpPr>
          <p:spPr>
            <a:xfrm>
              <a:off x="6680718" y="1485062"/>
              <a:ext cx="1362270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Income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6B21DB0-B74E-8E4F-1D8D-017964A801FA}"/>
                </a:ext>
              </a:extLst>
            </p:cNvPr>
            <p:cNvSpPr/>
            <p:nvPr/>
          </p:nvSpPr>
          <p:spPr>
            <a:xfrm>
              <a:off x="8521959" y="2490935"/>
              <a:ext cx="1362270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CreditScore</a:t>
              </a:r>
              <a:endParaRPr lang="en-US" sz="160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190B4CD-A9F4-0FF2-12A5-A963ADF4D17D}"/>
                </a:ext>
              </a:extLst>
            </p:cNvPr>
            <p:cNvSpPr/>
            <p:nvPr/>
          </p:nvSpPr>
          <p:spPr>
            <a:xfrm>
              <a:off x="7480040" y="3780732"/>
              <a:ext cx="1576884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Loan Amount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EC2CEF-06E7-38E9-D58A-3A4FCFCCB5CD}"/>
                </a:ext>
              </a:extLst>
            </p:cNvPr>
            <p:cNvSpPr/>
            <p:nvPr/>
          </p:nvSpPr>
          <p:spPr>
            <a:xfrm>
              <a:off x="6680718" y="5090699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C8A4BE-E6FC-4B53-6145-38E4792D8791}"/>
                </a:ext>
              </a:extLst>
            </p:cNvPr>
            <p:cNvSpPr/>
            <p:nvPr/>
          </p:nvSpPr>
          <p:spPr>
            <a:xfrm>
              <a:off x="8715743" y="5090699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0F65592-D8D8-8E46-6830-FF51B29A9DB5}"/>
                </a:ext>
              </a:extLst>
            </p:cNvPr>
            <p:cNvSpPr/>
            <p:nvPr/>
          </p:nvSpPr>
          <p:spPr>
            <a:xfrm>
              <a:off x="10259681" y="3758487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No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526DFB1-8367-9767-8585-1FAAF126C9E3}"/>
                </a:ext>
              </a:extLst>
            </p:cNvPr>
            <p:cNvCxnSpPr>
              <a:stCxn id="9" idx="3"/>
              <a:endCxn id="7" idx="0"/>
            </p:cNvCxnSpPr>
            <p:nvPr/>
          </p:nvCxnSpPr>
          <p:spPr>
            <a:xfrm flipH="1">
              <a:off x="6063575" y="1985529"/>
              <a:ext cx="816643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99B26E6-DCFF-D2CF-D147-A219801A4996}"/>
                </a:ext>
              </a:extLst>
            </p:cNvPr>
            <p:cNvCxnSpPr/>
            <p:nvPr/>
          </p:nvCxnSpPr>
          <p:spPr>
            <a:xfrm flipH="1">
              <a:off x="8240281" y="3017628"/>
              <a:ext cx="816643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CDAC433-E95E-1E0A-C6EE-C73985CAD35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9400393" y="3043465"/>
              <a:ext cx="1346639" cy="7150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1CB7BFA-7247-FF56-3030-708AEF8CD29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8569496" y="4324313"/>
              <a:ext cx="633598" cy="7663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E07204A-8159-1510-75D1-5B5A65FE8A55}"/>
                </a:ext>
              </a:extLst>
            </p:cNvPr>
            <p:cNvCxnSpPr/>
            <p:nvPr/>
          </p:nvCxnSpPr>
          <p:spPr>
            <a:xfrm flipH="1">
              <a:off x="7071718" y="4327075"/>
              <a:ext cx="816643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E2C2D30-5FF2-DDE9-4810-2951EE3E9F3D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7854919" y="2001379"/>
              <a:ext cx="1348175" cy="4895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1C1149A-DAC7-960B-8AC9-0707DA26A6D9}"/>
                </a:ext>
              </a:extLst>
            </p:cNvPr>
            <p:cNvCxnSpPr/>
            <p:nvPr/>
          </p:nvCxnSpPr>
          <p:spPr>
            <a:xfrm>
              <a:off x="8842310" y="1024399"/>
              <a:ext cx="558083" cy="1466536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A7512CD-6A35-2AB0-BC0E-62DD5CD6D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30" y="1033824"/>
              <a:ext cx="1230876" cy="404726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F45D4F3-24C5-0737-DA3C-88DDA16DAE24}"/>
                </a:ext>
              </a:extLst>
            </p:cNvPr>
            <p:cNvSpPr txBox="1"/>
            <p:nvPr/>
          </p:nvSpPr>
          <p:spPr>
            <a:xfrm>
              <a:off x="8220168" y="1770601"/>
              <a:ext cx="1180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Medium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357D0E0-9622-640A-0E38-3E87E59702ED}"/>
                </a:ext>
              </a:extLst>
            </p:cNvPr>
            <p:cNvSpPr txBox="1"/>
            <p:nvPr/>
          </p:nvSpPr>
          <p:spPr>
            <a:xfrm>
              <a:off x="5819786" y="2001379"/>
              <a:ext cx="6550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Low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CD68FA6-7168-BC19-1DA5-B2B9D48DAE2F}"/>
                </a:ext>
              </a:extLst>
            </p:cNvPr>
            <p:cNvSpPr txBox="1"/>
            <p:nvPr/>
          </p:nvSpPr>
          <p:spPr>
            <a:xfrm>
              <a:off x="6840521" y="4439132"/>
              <a:ext cx="6550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&lt;80k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396D427-0AEA-AE5D-488C-CB0F6B1BA939}"/>
                </a:ext>
              </a:extLst>
            </p:cNvPr>
            <p:cNvSpPr txBox="1"/>
            <p:nvPr/>
          </p:nvSpPr>
          <p:spPr>
            <a:xfrm>
              <a:off x="8833084" y="4399835"/>
              <a:ext cx="6550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&gt;80K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212496-3D8E-137C-1100-886DA72B14AF}"/>
                </a:ext>
              </a:extLst>
            </p:cNvPr>
            <p:cNvSpPr txBox="1"/>
            <p:nvPr/>
          </p:nvSpPr>
          <p:spPr>
            <a:xfrm>
              <a:off x="10018237" y="3032444"/>
              <a:ext cx="12161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Good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1112CB-77F1-8577-A4D6-DDC6485AFDC2}"/>
                </a:ext>
              </a:extLst>
            </p:cNvPr>
            <p:cNvSpPr txBox="1"/>
            <p:nvPr/>
          </p:nvSpPr>
          <p:spPr>
            <a:xfrm>
              <a:off x="7495614" y="3040990"/>
              <a:ext cx="12422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Excellent, Fair, Poor</a:t>
              </a: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FA81D3-BB4E-F7EC-43CD-0211FD2BE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886599"/>
              </p:ext>
            </p:extLst>
          </p:nvPr>
        </p:nvGraphicFramePr>
        <p:xfrm>
          <a:off x="491262" y="1617896"/>
          <a:ext cx="497348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241">
                  <a:extLst>
                    <a:ext uri="{9D8B030D-6E8A-4147-A177-3AD203B41FA5}">
                      <a16:colId xmlns:a16="http://schemas.microsoft.com/office/drawing/2014/main" val="2980150474"/>
                    </a:ext>
                  </a:extLst>
                </a:gridCol>
                <a:gridCol w="1251285">
                  <a:extLst>
                    <a:ext uri="{9D8B030D-6E8A-4147-A177-3AD203B41FA5}">
                      <a16:colId xmlns:a16="http://schemas.microsoft.com/office/drawing/2014/main" val="1480102742"/>
                    </a:ext>
                  </a:extLst>
                </a:gridCol>
                <a:gridCol w="1315604">
                  <a:extLst>
                    <a:ext uri="{9D8B030D-6E8A-4147-A177-3AD203B41FA5}">
                      <a16:colId xmlns:a16="http://schemas.microsoft.com/office/drawing/2014/main" val="594799768"/>
                    </a:ext>
                  </a:extLst>
                </a:gridCol>
                <a:gridCol w="885657">
                  <a:extLst>
                    <a:ext uri="{9D8B030D-6E8A-4147-A177-3AD203B41FA5}">
                      <a16:colId xmlns:a16="http://schemas.microsoft.com/office/drawing/2014/main" val="572290805"/>
                    </a:ext>
                  </a:extLst>
                </a:gridCol>
                <a:gridCol w="994697">
                  <a:extLst>
                    <a:ext uri="{9D8B030D-6E8A-4147-A177-3AD203B41FA5}">
                      <a16:colId xmlns:a16="http://schemas.microsoft.com/office/drawing/2014/main" val="592816894"/>
                    </a:ext>
                  </a:extLst>
                </a:gridCol>
              </a:tblGrid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8611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51874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749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14407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904646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49400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13133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08502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8695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94573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5588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0C3F5AE-4BA8-4C43-8784-ABB9D925A385}"/>
              </a:ext>
            </a:extLst>
          </p:cNvPr>
          <p:cNvSpPr/>
          <p:nvPr/>
        </p:nvSpPr>
        <p:spPr>
          <a:xfrm>
            <a:off x="7086713" y="2617739"/>
            <a:ext cx="974701" cy="368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Yes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2FEA8B-74B8-4164-EBA3-466B9FEBAE27}"/>
              </a:ext>
            </a:extLst>
          </p:cNvPr>
          <p:cNvCxnSpPr>
            <a:cxnSpLocks/>
            <a:stCxn id="9" idx="4"/>
            <a:endCxn id="4" idx="0"/>
          </p:cNvCxnSpPr>
          <p:nvPr/>
        </p:nvCxnSpPr>
        <p:spPr>
          <a:xfrm>
            <a:off x="7361853" y="2071396"/>
            <a:ext cx="212211" cy="546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E530A39-88FA-C502-D95C-430B32BDB8FB}"/>
              </a:ext>
            </a:extLst>
          </p:cNvPr>
          <p:cNvSpPr txBox="1"/>
          <p:nvPr/>
        </p:nvSpPr>
        <p:spPr>
          <a:xfrm>
            <a:off x="7408679" y="2170165"/>
            <a:ext cx="655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380851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050B-48CF-5319-E428-FF0307B8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46C1-18FE-41AC-89E2-BD9A8E67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918" y="249793"/>
            <a:ext cx="10515600" cy="992384"/>
          </a:xfrm>
        </p:spPr>
        <p:txBody>
          <a:bodyPr/>
          <a:lstStyle/>
          <a:p>
            <a:r>
              <a:rPr lang="en-US" dirty="0"/>
              <a:t>Example of a Decision Tree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8C1B68-B52F-68AA-9757-515187A45151}"/>
              </a:ext>
            </a:extLst>
          </p:cNvPr>
          <p:cNvSpPr/>
          <p:nvPr/>
        </p:nvSpPr>
        <p:spPr>
          <a:xfrm>
            <a:off x="5576224" y="2708737"/>
            <a:ext cx="974701" cy="368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359AF9-FD8B-5942-2C30-4FB9434DC2A6}"/>
              </a:ext>
            </a:extLst>
          </p:cNvPr>
          <p:cNvSpPr/>
          <p:nvPr/>
        </p:nvSpPr>
        <p:spPr>
          <a:xfrm>
            <a:off x="6363216" y="1240342"/>
            <a:ext cx="1829449" cy="5863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CreditScore</a:t>
            </a:r>
            <a:endParaRPr lang="en-US" sz="14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679418-2CA1-27B5-073C-3A86AE96C7E0}"/>
              </a:ext>
            </a:extLst>
          </p:cNvPr>
          <p:cNvSpPr/>
          <p:nvPr/>
        </p:nvSpPr>
        <p:spPr>
          <a:xfrm>
            <a:off x="8521958" y="2490935"/>
            <a:ext cx="1677101" cy="5863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Loan</a:t>
            </a:r>
          </a:p>
          <a:p>
            <a:pPr algn="ctr"/>
            <a:r>
              <a:rPr lang="en-US" sz="1400" dirty="0"/>
              <a:t>Amount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855BD7-BDB2-3691-DFA2-4D69BF99BE11}"/>
              </a:ext>
            </a:extLst>
          </p:cNvPr>
          <p:cNvSpPr/>
          <p:nvPr/>
        </p:nvSpPr>
        <p:spPr>
          <a:xfrm>
            <a:off x="10199060" y="3635959"/>
            <a:ext cx="974701" cy="368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0B2AC-CC17-14FD-EF58-0732ED423E96}"/>
              </a:ext>
            </a:extLst>
          </p:cNvPr>
          <p:cNvSpPr/>
          <p:nvPr/>
        </p:nvSpPr>
        <p:spPr>
          <a:xfrm>
            <a:off x="7555637" y="3696366"/>
            <a:ext cx="974701" cy="368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55B8DC-FCCA-2DD3-C9D6-0BC3F545EAEB}"/>
              </a:ext>
            </a:extLst>
          </p:cNvPr>
          <p:cNvCxnSpPr>
            <a:cxnSpLocks/>
            <a:stCxn id="9" idx="3"/>
            <a:endCxn id="7" idx="0"/>
          </p:cNvCxnSpPr>
          <p:nvPr/>
        </p:nvCxnSpPr>
        <p:spPr>
          <a:xfrm flipH="1">
            <a:off x="6063575" y="1740809"/>
            <a:ext cx="567558" cy="967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DC839CE-E25B-4C51-081B-4F9D2C63EA55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9953453" y="2991402"/>
            <a:ext cx="546964" cy="628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F808CB-8926-1B86-54BE-5AF58F85504E}"/>
              </a:ext>
            </a:extLst>
          </p:cNvPr>
          <p:cNvCxnSpPr>
            <a:cxnSpLocks/>
            <a:stCxn id="10" idx="3"/>
            <a:endCxn id="14" idx="0"/>
          </p:cNvCxnSpPr>
          <p:nvPr/>
        </p:nvCxnSpPr>
        <p:spPr>
          <a:xfrm flipH="1">
            <a:off x="8042988" y="2991402"/>
            <a:ext cx="724576" cy="704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103724-FAA6-8514-34D0-2A636FFD5445}"/>
              </a:ext>
            </a:extLst>
          </p:cNvPr>
          <p:cNvCxnSpPr>
            <a:cxnSpLocks/>
            <a:stCxn id="9" idx="5"/>
            <a:endCxn id="10" idx="0"/>
          </p:cNvCxnSpPr>
          <p:nvPr/>
        </p:nvCxnSpPr>
        <p:spPr>
          <a:xfrm>
            <a:off x="7924748" y="1740809"/>
            <a:ext cx="1435761" cy="750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4D5DE03-3C10-15D4-1681-12A62D2071C2}"/>
              </a:ext>
            </a:extLst>
          </p:cNvPr>
          <p:cNvSpPr txBox="1"/>
          <p:nvPr/>
        </p:nvSpPr>
        <p:spPr>
          <a:xfrm>
            <a:off x="7865119" y="3094263"/>
            <a:ext cx="655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&gt;40K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C593E7-FFD2-8013-7448-B4BFFC9DC085}"/>
              </a:ext>
            </a:extLst>
          </p:cNvPr>
          <p:cNvSpPr txBox="1"/>
          <p:nvPr/>
        </p:nvSpPr>
        <p:spPr>
          <a:xfrm>
            <a:off x="10050327" y="2893003"/>
            <a:ext cx="655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&lt;40K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97078E-F85C-E169-437B-4AAD4B2AACFF}"/>
              </a:ext>
            </a:extLst>
          </p:cNvPr>
          <p:cNvSpPr txBox="1"/>
          <p:nvPr/>
        </p:nvSpPr>
        <p:spPr>
          <a:xfrm>
            <a:off x="5485943" y="2001379"/>
            <a:ext cx="1324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Excellent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72E62C-DFCE-7494-753E-E8DAD6D3BEEA}"/>
              </a:ext>
            </a:extLst>
          </p:cNvPr>
          <p:cNvSpPr txBox="1"/>
          <p:nvPr/>
        </p:nvSpPr>
        <p:spPr>
          <a:xfrm>
            <a:off x="8350825" y="1816713"/>
            <a:ext cx="1242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Good, Fair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3540B-A3A2-4826-5203-07AB0B8CAF5E}"/>
              </a:ext>
            </a:extLst>
          </p:cNvPr>
          <p:cNvSpPr txBox="1"/>
          <p:nvPr/>
        </p:nvSpPr>
        <p:spPr>
          <a:xfrm>
            <a:off x="5296003" y="4864066"/>
            <a:ext cx="6850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There could be more than one tree that fits the same data!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2A4AF1-D005-64BE-A311-AE218F218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470808"/>
              </p:ext>
            </p:extLst>
          </p:nvPr>
        </p:nvGraphicFramePr>
        <p:xfrm>
          <a:off x="294299" y="1547526"/>
          <a:ext cx="487472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792">
                  <a:extLst>
                    <a:ext uri="{9D8B030D-6E8A-4147-A177-3AD203B41FA5}">
                      <a16:colId xmlns:a16="http://schemas.microsoft.com/office/drawing/2014/main" val="2980150474"/>
                    </a:ext>
                  </a:extLst>
                </a:gridCol>
                <a:gridCol w="1226439">
                  <a:extLst>
                    <a:ext uri="{9D8B030D-6E8A-4147-A177-3AD203B41FA5}">
                      <a16:colId xmlns:a16="http://schemas.microsoft.com/office/drawing/2014/main" val="1480102742"/>
                    </a:ext>
                  </a:extLst>
                </a:gridCol>
                <a:gridCol w="1289481">
                  <a:extLst>
                    <a:ext uri="{9D8B030D-6E8A-4147-A177-3AD203B41FA5}">
                      <a16:colId xmlns:a16="http://schemas.microsoft.com/office/drawing/2014/main" val="594799768"/>
                    </a:ext>
                  </a:extLst>
                </a:gridCol>
                <a:gridCol w="868071">
                  <a:extLst>
                    <a:ext uri="{9D8B030D-6E8A-4147-A177-3AD203B41FA5}">
                      <a16:colId xmlns:a16="http://schemas.microsoft.com/office/drawing/2014/main" val="572290805"/>
                    </a:ext>
                  </a:extLst>
                </a:gridCol>
                <a:gridCol w="974946">
                  <a:extLst>
                    <a:ext uri="{9D8B030D-6E8A-4147-A177-3AD203B41FA5}">
                      <a16:colId xmlns:a16="http://schemas.microsoft.com/office/drawing/2014/main" val="592816894"/>
                    </a:ext>
                  </a:extLst>
                </a:gridCol>
              </a:tblGrid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8611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51874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749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14407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904646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49400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13133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08502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8695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94573"/>
                  </a:ext>
                </a:extLst>
              </a:tr>
              <a:tr h="28443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5588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2344D43-917C-7D86-064C-FB4CA0E078FA}"/>
              </a:ext>
            </a:extLst>
          </p:cNvPr>
          <p:cNvSpPr/>
          <p:nvPr/>
        </p:nvSpPr>
        <p:spPr>
          <a:xfrm>
            <a:off x="6837750" y="2765582"/>
            <a:ext cx="974701" cy="368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314491-09AF-DA81-9D0A-4E8E427A7195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7277941" y="1826676"/>
            <a:ext cx="47160" cy="938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7C8E62-B33F-45BE-2AA2-115DC804E00B}"/>
              </a:ext>
            </a:extLst>
          </p:cNvPr>
          <p:cNvSpPr txBox="1"/>
          <p:nvPr/>
        </p:nvSpPr>
        <p:spPr>
          <a:xfrm>
            <a:off x="7320774" y="2281099"/>
            <a:ext cx="1242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Poor</a:t>
            </a:r>
          </a:p>
        </p:txBody>
      </p:sp>
    </p:spTree>
    <p:extLst>
      <p:ext uri="{BB962C8B-B14F-4D97-AF65-F5344CB8AC3E}">
        <p14:creationId xmlns:p14="http://schemas.microsoft.com/office/powerpoint/2010/main" val="143949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B8E4-061C-1BE8-FC77-5155DF2E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875" y="259079"/>
            <a:ext cx="10515600" cy="1325563"/>
          </a:xfrm>
        </p:spPr>
        <p:txBody>
          <a:bodyPr/>
          <a:lstStyle/>
          <a:p>
            <a:r>
              <a:rPr lang="en-US" dirty="0"/>
              <a:t>Apply Model to Test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23AA4B-4BE4-6251-4AD7-09798C512B9A}"/>
              </a:ext>
            </a:extLst>
          </p:cNvPr>
          <p:cNvSpPr txBox="1"/>
          <p:nvPr/>
        </p:nvSpPr>
        <p:spPr>
          <a:xfrm>
            <a:off x="5773570" y="1760752"/>
            <a:ext cx="13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B075C1-0B52-775A-BCA5-BBC31F82F931}"/>
              </a:ext>
            </a:extLst>
          </p:cNvPr>
          <p:cNvSpPr txBox="1"/>
          <p:nvPr/>
        </p:nvSpPr>
        <p:spPr>
          <a:xfrm>
            <a:off x="960052" y="1382080"/>
            <a:ext cx="3659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 from the root of tree.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9393DF-665C-6681-575E-8019983ED634}"/>
              </a:ext>
            </a:extLst>
          </p:cNvPr>
          <p:cNvCxnSpPr>
            <a:cxnSpLocks/>
          </p:cNvCxnSpPr>
          <p:nvPr/>
        </p:nvCxnSpPr>
        <p:spPr>
          <a:xfrm>
            <a:off x="1815635" y="1760752"/>
            <a:ext cx="0" cy="434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1B465B8-DFE1-89A9-8DD3-CA60E486AB8B}"/>
              </a:ext>
            </a:extLst>
          </p:cNvPr>
          <p:cNvGrpSpPr/>
          <p:nvPr/>
        </p:nvGrpSpPr>
        <p:grpSpPr>
          <a:xfrm>
            <a:off x="218354" y="2406081"/>
            <a:ext cx="5658158" cy="3974169"/>
            <a:chOff x="5576224" y="1485062"/>
            <a:chExt cx="5658158" cy="397416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D9696EA-CFEF-762A-32C8-E338E9E7A351}"/>
                </a:ext>
              </a:extLst>
            </p:cNvPr>
            <p:cNvSpPr/>
            <p:nvPr/>
          </p:nvSpPr>
          <p:spPr>
            <a:xfrm>
              <a:off x="5576224" y="2708737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6E391C-3D2C-C64B-AB77-D4B3AFBD74B4}"/>
                </a:ext>
              </a:extLst>
            </p:cNvPr>
            <p:cNvSpPr/>
            <p:nvPr/>
          </p:nvSpPr>
          <p:spPr>
            <a:xfrm>
              <a:off x="6319934" y="1485062"/>
              <a:ext cx="1723054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Income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9AA96D1-67C4-5DF5-D15D-1483DDF5344B}"/>
                </a:ext>
              </a:extLst>
            </p:cNvPr>
            <p:cNvSpPr/>
            <p:nvPr/>
          </p:nvSpPr>
          <p:spPr>
            <a:xfrm>
              <a:off x="8346459" y="2448672"/>
              <a:ext cx="1713270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CreditScore</a:t>
              </a:r>
              <a:endParaRPr lang="en-US" sz="140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14291E3-54D7-3AF0-83FB-363C3C179932}"/>
                </a:ext>
              </a:extLst>
            </p:cNvPr>
            <p:cNvSpPr/>
            <p:nvPr/>
          </p:nvSpPr>
          <p:spPr>
            <a:xfrm>
              <a:off x="7480040" y="3780732"/>
              <a:ext cx="1723054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Loan Amount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8B94F78-38DC-234A-09DD-04CD0F5B2A95}"/>
                </a:ext>
              </a:extLst>
            </p:cNvPr>
            <p:cNvSpPr/>
            <p:nvPr/>
          </p:nvSpPr>
          <p:spPr>
            <a:xfrm>
              <a:off x="6680718" y="5090699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17BA7C-EA01-E033-45AC-E7E70B50AE29}"/>
                </a:ext>
              </a:extLst>
            </p:cNvPr>
            <p:cNvSpPr/>
            <p:nvPr/>
          </p:nvSpPr>
          <p:spPr>
            <a:xfrm>
              <a:off x="8715743" y="5090699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CDE2101-7AAF-80AC-F6FC-D9CC86A379F3}"/>
                </a:ext>
              </a:extLst>
            </p:cNvPr>
            <p:cNvSpPr/>
            <p:nvPr/>
          </p:nvSpPr>
          <p:spPr>
            <a:xfrm>
              <a:off x="10259681" y="3758487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No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A4EBB36-E9F4-9719-0900-9856F3E383F9}"/>
                </a:ext>
              </a:extLst>
            </p:cNvPr>
            <p:cNvCxnSpPr>
              <a:cxnSpLocks/>
              <a:stCxn id="19" idx="3"/>
              <a:endCxn id="18" idx="0"/>
            </p:cNvCxnSpPr>
            <p:nvPr/>
          </p:nvCxnSpPr>
          <p:spPr>
            <a:xfrm flipH="1">
              <a:off x="6063575" y="1985529"/>
              <a:ext cx="508694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B95D462-284D-1CBB-51D7-8DB24B261BAD}"/>
                </a:ext>
              </a:extLst>
            </p:cNvPr>
            <p:cNvCxnSpPr/>
            <p:nvPr/>
          </p:nvCxnSpPr>
          <p:spPr>
            <a:xfrm flipH="1">
              <a:off x="8240281" y="3017628"/>
              <a:ext cx="816643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83EF2A7-7FCD-BE8F-7CD2-6A1FB745D40A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9400393" y="3043465"/>
              <a:ext cx="1346639" cy="7150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3D775B7-EA80-C3CE-923B-1F10066E973A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8569496" y="4324313"/>
              <a:ext cx="633598" cy="7663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4C56142-39AC-D5EC-795F-79CF9F66F099}"/>
                </a:ext>
              </a:extLst>
            </p:cNvPr>
            <p:cNvCxnSpPr/>
            <p:nvPr/>
          </p:nvCxnSpPr>
          <p:spPr>
            <a:xfrm flipH="1">
              <a:off x="7071718" y="4327075"/>
              <a:ext cx="816643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C3E916D-809A-55F5-1E9A-F597BC5528EB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7679419" y="1959116"/>
              <a:ext cx="1523675" cy="4895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9406EB4-3823-4AB7-0409-FAF019220665}"/>
                </a:ext>
              </a:extLst>
            </p:cNvPr>
            <p:cNvSpPr txBox="1"/>
            <p:nvPr/>
          </p:nvSpPr>
          <p:spPr>
            <a:xfrm>
              <a:off x="8220168" y="1770601"/>
              <a:ext cx="6550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High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9FD08AF-DBF4-C8FD-BA79-DD116507EC7D}"/>
                </a:ext>
              </a:extLst>
            </p:cNvPr>
            <p:cNvSpPr txBox="1"/>
            <p:nvPr/>
          </p:nvSpPr>
          <p:spPr>
            <a:xfrm>
              <a:off x="5819786" y="2001379"/>
              <a:ext cx="6550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Low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D18BE7A-9BBF-A1A0-1D9B-7D68945EB963}"/>
                </a:ext>
              </a:extLst>
            </p:cNvPr>
            <p:cNvSpPr txBox="1"/>
            <p:nvPr/>
          </p:nvSpPr>
          <p:spPr>
            <a:xfrm>
              <a:off x="6840521" y="4439132"/>
              <a:ext cx="6550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&lt;80k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DAAB449-E03E-DECF-8432-50FED2D66044}"/>
                </a:ext>
              </a:extLst>
            </p:cNvPr>
            <p:cNvSpPr txBox="1"/>
            <p:nvPr/>
          </p:nvSpPr>
          <p:spPr>
            <a:xfrm>
              <a:off x="8833084" y="4399835"/>
              <a:ext cx="6550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&gt;80K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BABE35-B5E7-1E80-83B4-8315A9A07DF9}"/>
                </a:ext>
              </a:extLst>
            </p:cNvPr>
            <p:cNvSpPr txBox="1"/>
            <p:nvPr/>
          </p:nvSpPr>
          <p:spPr>
            <a:xfrm>
              <a:off x="10018237" y="3032444"/>
              <a:ext cx="12161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Good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9FD735-B36A-45E2-62C5-6CF6476CDBE8}"/>
                </a:ext>
              </a:extLst>
            </p:cNvPr>
            <p:cNvSpPr txBox="1"/>
            <p:nvPr/>
          </p:nvSpPr>
          <p:spPr>
            <a:xfrm>
              <a:off x="7619149" y="2955606"/>
              <a:ext cx="12422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Excellent, Fair, Poor</a:t>
              </a:r>
            </a:p>
          </p:txBody>
        </p:sp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1EE6BF30-1B4C-B0EE-2CAF-288045CCD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959212"/>
              </p:ext>
            </p:extLst>
          </p:nvPr>
        </p:nvGraphicFramePr>
        <p:xfrm>
          <a:off x="5876512" y="2258156"/>
          <a:ext cx="497465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172">
                  <a:extLst>
                    <a:ext uri="{9D8B030D-6E8A-4147-A177-3AD203B41FA5}">
                      <a16:colId xmlns:a16="http://schemas.microsoft.com/office/drawing/2014/main" val="2593827472"/>
                    </a:ext>
                  </a:extLst>
                </a:gridCol>
                <a:gridCol w="1053676">
                  <a:extLst>
                    <a:ext uri="{9D8B030D-6E8A-4147-A177-3AD203B41FA5}">
                      <a16:colId xmlns:a16="http://schemas.microsoft.com/office/drawing/2014/main" val="3296168887"/>
                    </a:ext>
                  </a:extLst>
                </a:gridCol>
                <a:gridCol w="1330944">
                  <a:extLst>
                    <a:ext uri="{9D8B030D-6E8A-4147-A177-3AD203B41FA5}">
                      <a16:colId xmlns:a16="http://schemas.microsoft.com/office/drawing/2014/main" val="652260555"/>
                    </a:ext>
                  </a:extLst>
                </a:gridCol>
                <a:gridCol w="994931">
                  <a:extLst>
                    <a:ext uri="{9D8B030D-6E8A-4147-A177-3AD203B41FA5}">
                      <a16:colId xmlns:a16="http://schemas.microsoft.com/office/drawing/2014/main" val="1730890786"/>
                    </a:ext>
                  </a:extLst>
                </a:gridCol>
                <a:gridCol w="994931">
                  <a:extLst>
                    <a:ext uri="{9D8B030D-6E8A-4147-A177-3AD203B41FA5}">
                      <a16:colId xmlns:a16="http://schemas.microsoft.com/office/drawing/2014/main" val="2396679722"/>
                    </a:ext>
                  </a:extLst>
                </a:gridCol>
              </a:tblGrid>
              <a:tr h="300272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421473"/>
                  </a:ext>
                </a:extLst>
              </a:tr>
              <a:tr h="300272"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492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081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B769-6406-FD45-A626-86027773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Induction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E2AF-FCC7-E141-4DBE-F1EB550ED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Algorithms</a:t>
            </a:r>
          </a:p>
          <a:p>
            <a:pPr lvl="1"/>
            <a:r>
              <a:rPr lang="en-US" dirty="0"/>
              <a:t>ID3, C4.5</a:t>
            </a:r>
          </a:p>
          <a:p>
            <a:pPr lvl="1"/>
            <a:r>
              <a:rPr lang="en-US" dirty="0"/>
              <a:t>SLIQ, SPRINT</a:t>
            </a:r>
          </a:p>
          <a:p>
            <a:pPr lvl="1"/>
            <a:r>
              <a:rPr lang="en-US" dirty="0"/>
              <a:t>CART</a:t>
            </a:r>
          </a:p>
          <a:p>
            <a:pPr lvl="1"/>
            <a:r>
              <a:rPr lang="en-US" dirty="0"/>
              <a:t>CHAID 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85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9040-CDDB-270F-6382-446E9E42F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462" y="372670"/>
            <a:ext cx="10515600" cy="1325563"/>
          </a:xfrm>
        </p:spPr>
        <p:txBody>
          <a:bodyPr/>
          <a:lstStyle/>
          <a:p>
            <a:r>
              <a:rPr lang="en-US" dirty="0"/>
              <a:t>Tree Induction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CC1C0-96BB-88F2-B15A-8377D4407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236" y="1406404"/>
            <a:ext cx="10515600" cy="4795892"/>
          </a:xfrm>
        </p:spPr>
        <p:txBody>
          <a:bodyPr>
            <a:normAutofit/>
          </a:bodyPr>
          <a:lstStyle/>
          <a:p>
            <a:r>
              <a:rPr lang="en-US" sz="2400" dirty="0"/>
              <a:t>Greedy Strategy</a:t>
            </a:r>
          </a:p>
          <a:p>
            <a:pPr lvl="1"/>
            <a:r>
              <a:rPr lang="en-US" sz="2400" dirty="0"/>
              <a:t>Split the records based on an attribute test that optimizes certain criterion.</a:t>
            </a:r>
          </a:p>
          <a:p>
            <a:pPr lvl="1"/>
            <a:endParaRPr lang="en-US" sz="2400" dirty="0"/>
          </a:p>
          <a:p>
            <a:r>
              <a:rPr lang="en-US" sz="2400" dirty="0"/>
              <a:t>Issues</a:t>
            </a:r>
          </a:p>
          <a:p>
            <a:pPr lvl="1"/>
            <a:r>
              <a:rPr lang="en-US" sz="2400" dirty="0"/>
              <a:t>Determine how to split the records</a:t>
            </a:r>
          </a:p>
          <a:p>
            <a:pPr lvl="2"/>
            <a:r>
              <a:rPr lang="en-US" sz="2400" dirty="0"/>
              <a:t>How to specify the attribute test conditions?</a:t>
            </a:r>
          </a:p>
          <a:p>
            <a:pPr lvl="2"/>
            <a:r>
              <a:rPr lang="en-US" sz="2400" dirty="0"/>
              <a:t>How to determine the best split?</a:t>
            </a:r>
          </a:p>
          <a:p>
            <a:pPr lvl="1"/>
            <a:r>
              <a:rPr lang="en-US" sz="2400" dirty="0"/>
              <a:t>Determine when to stop splitting</a:t>
            </a:r>
          </a:p>
        </p:txBody>
      </p:sp>
    </p:spTree>
    <p:extLst>
      <p:ext uri="{BB962C8B-B14F-4D97-AF65-F5344CB8AC3E}">
        <p14:creationId xmlns:p14="http://schemas.microsoft.com/office/powerpoint/2010/main" val="64021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EB8A-BE58-9CAF-B9AA-9FFA0AE32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832" y="272880"/>
            <a:ext cx="10515600" cy="1325563"/>
          </a:xfrm>
        </p:spPr>
        <p:txBody>
          <a:bodyPr/>
          <a:lstStyle/>
          <a:p>
            <a:r>
              <a:rPr lang="en-US" dirty="0"/>
              <a:t>How to Specify Test Condition?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2E16-5698-1462-499E-D9CD22C9A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Depends on attribute types</a:t>
            </a:r>
          </a:p>
          <a:p>
            <a:pPr lvl="1"/>
            <a:r>
              <a:rPr lang="en-US" dirty="0"/>
              <a:t>Nominal</a:t>
            </a:r>
          </a:p>
          <a:p>
            <a:pPr lvl="1"/>
            <a:r>
              <a:rPr lang="en-US" dirty="0"/>
              <a:t>Ordinal</a:t>
            </a:r>
          </a:p>
          <a:p>
            <a:pPr lvl="1"/>
            <a:r>
              <a:rPr lang="en-US" dirty="0"/>
              <a:t>Continuous</a:t>
            </a:r>
          </a:p>
          <a:p>
            <a:pPr lvl="1"/>
            <a:endParaRPr lang="en-US" dirty="0"/>
          </a:p>
          <a:p>
            <a:r>
              <a:rPr lang="en-US" dirty="0"/>
              <a:t>Depends on number of ways to split</a:t>
            </a:r>
          </a:p>
          <a:p>
            <a:pPr lvl="1"/>
            <a:r>
              <a:rPr lang="en-US" dirty="0"/>
              <a:t>2-way split</a:t>
            </a:r>
          </a:p>
          <a:p>
            <a:pPr lvl="1"/>
            <a:r>
              <a:rPr lang="en-US" dirty="0"/>
              <a:t>Multi way split</a:t>
            </a:r>
          </a:p>
        </p:txBody>
      </p:sp>
    </p:spTree>
    <p:extLst>
      <p:ext uri="{BB962C8B-B14F-4D97-AF65-F5344CB8AC3E}">
        <p14:creationId xmlns:p14="http://schemas.microsoft.com/office/powerpoint/2010/main" val="4130246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B898-5FE2-80F4-AAB2-D48EA1A0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15" y="292860"/>
            <a:ext cx="10515600" cy="1325563"/>
          </a:xfrm>
        </p:spPr>
        <p:txBody>
          <a:bodyPr/>
          <a:lstStyle/>
          <a:p>
            <a:r>
              <a:rPr lang="en-US" dirty="0"/>
              <a:t>Splitting Based on Nominal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A8953-AD49-FC07-E7C3-43A130A73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557" y="1313057"/>
            <a:ext cx="10515600" cy="3667206"/>
          </a:xfrm>
        </p:spPr>
        <p:txBody>
          <a:bodyPr>
            <a:normAutofit/>
          </a:bodyPr>
          <a:lstStyle/>
          <a:p>
            <a:r>
              <a:rPr lang="en-US" dirty="0"/>
              <a:t>Multiway split: Use as many partitions as distinct values.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Binary Split: Divides values into two subsets.</a:t>
            </a:r>
          </a:p>
          <a:p>
            <a:pPr marL="0" indent="0">
              <a:buNone/>
            </a:pPr>
            <a:r>
              <a:rPr lang="en-US" dirty="0"/>
              <a:t>		   Need to find optimal partitioning.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3F0231E-E958-DD2D-2672-CE0896329564}"/>
              </a:ext>
            </a:extLst>
          </p:cNvPr>
          <p:cNvSpPr/>
          <p:nvPr/>
        </p:nvSpPr>
        <p:spPr>
          <a:xfrm>
            <a:off x="4397612" y="1943383"/>
            <a:ext cx="1698387" cy="7252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CarType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CED52B-F1F5-4906-DCB7-272445DBECBE}"/>
              </a:ext>
            </a:extLst>
          </p:cNvPr>
          <p:cNvSpPr/>
          <p:nvPr/>
        </p:nvSpPr>
        <p:spPr>
          <a:xfrm>
            <a:off x="913314" y="4923833"/>
            <a:ext cx="1782736" cy="7252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CarType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E21FAF-ABD6-ED70-2857-178E281E7808}"/>
              </a:ext>
            </a:extLst>
          </p:cNvPr>
          <p:cNvSpPr/>
          <p:nvPr/>
        </p:nvSpPr>
        <p:spPr>
          <a:xfrm>
            <a:off x="9138744" y="4661338"/>
            <a:ext cx="1782736" cy="7252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CarType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BB75B-6C02-578E-21C2-7762615AF4EE}"/>
              </a:ext>
            </a:extLst>
          </p:cNvPr>
          <p:cNvSpPr txBox="1"/>
          <p:nvPr/>
        </p:nvSpPr>
        <p:spPr>
          <a:xfrm>
            <a:off x="2947182" y="2968681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Family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B20B1-BA69-D203-EFEA-67FF426F6C74}"/>
              </a:ext>
            </a:extLst>
          </p:cNvPr>
          <p:cNvSpPr txBox="1"/>
          <p:nvPr/>
        </p:nvSpPr>
        <p:spPr>
          <a:xfrm>
            <a:off x="4865323" y="3038079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Sports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1929D2-F38E-42AC-62EF-6E189B675EDC}"/>
              </a:ext>
            </a:extLst>
          </p:cNvPr>
          <p:cNvSpPr txBox="1"/>
          <p:nvPr/>
        </p:nvSpPr>
        <p:spPr>
          <a:xfrm>
            <a:off x="6783464" y="2807246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Luxury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DD80ED-71AB-38D9-F7F4-FBFABC4D9271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3415003" y="2562392"/>
            <a:ext cx="1231332" cy="40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CC00BA-4CB6-F3BF-AFB9-BB5D960E2CF7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5167496" y="2668597"/>
            <a:ext cx="79310" cy="523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88944C-40F1-961D-44F2-96C354C96E0D}"/>
              </a:ext>
            </a:extLst>
          </p:cNvPr>
          <p:cNvCxnSpPr>
            <a:cxnSpLocks/>
          </p:cNvCxnSpPr>
          <p:nvPr/>
        </p:nvCxnSpPr>
        <p:spPr>
          <a:xfrm>
            <a:off x="5849736" y="2484349"/>
            <a:ext cx="1149126" cy="34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2259EE-B140-2F3F-22A7-35E851053D58}"/>
              </a:ext>
            </a:extLst>
          </p:cNvPr>
          <p:cNvSpPr txBox="1"/>
          <p:nvPr/>
        </p:nvSpPr>
        <p:spPr>
          <a:xfrm>
            <a:off x="7272" y="6068060"/>
            <a:ext cx="1387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{Sports, Luxury}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3584A2-9E36-EA46-DA13-9685D0049AC0}"/>
              </a:ext>
            </a:extLst>
          </p:cNvPr>
          <p:cNvCxnSpPr>
            <a:cxnSpLocks/>
          </p:cNvCxnSpPr>
          <p:nvPr/>
        </p:nvCxnSpPr>
        <p:spPr>
          <a:xfrm flipH="1">
            <a:off x="475093" y="5649047"/>
            <a:ext cx="919545" cy="541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FB89E2-9A62-789A-D532-066E7BB16DEC}"/>
              </a:ext>
            </a:extLst>
          </p:cNvPr>
          <p:cNvCxnSpPr/>
          <p:nvPr/>
        </p:nvCxnSpPr>
        <p:spPr>
          <a:xfrm flipH="1">
            <a:off x="8744107" y="5343715"/>
            <a:ext cx="1208104" cy="40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5611AD-B65E-9070-C796-DDA3AF2DE1A0}"/>
              </a:ext>
            </a:extLst>
          </p:cNvPr>
          <p:cNvCxnSpPr>
            <a:cxnSpLocks/>
          </p:cNvCxnSpPr>
          <p:nvPr/>
        </p:nvCxnSpPr>
        <p:spPr>
          <a:xfrm>
            <a:off x="2106705" y="5537488"/>
            <a:ext cx="999098" cy="530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CAA7FB-0704-6291-2BFF-39FC907830D2}"/>
              </a:ext>
            </a:extLst>
          </p:cNvPr>
          <p:cNvSpPr txBox="1"/>
          <p:nvPr/>
        </p:nvSpPr>
        <p:spPr>
          <a:xfrm>
            <a:off x="2696050" y="6027003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{Family}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EB9968-1BBE-0A6B-0BEC-2AC7BE99DE29}"/>
              </a:ext>
            </a:extLst>
          </p:cNvPr>
          <p:cNvSpPr txBox="1"/>
          <p:nvPr/>
        </p:nvSpPr>
        <p:spPr>
          <a:xfrm>
            <a:off x="7960793" y="5798516"/>
            <a:ext cx="1387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{Family, Luxury}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30A1AB-3351-8003-9B70-425F6BD7E8D2}"/>
              </a:ext>
            </a:extLst>
          </p:cNvPr>
          <p:cNvSpPr txBox="1"/>
          <p:nvPr/>
        </p:nvSpPr>
        <p:spPr>
          <a:xfrm>
            <a:off x="10636433" y="5983181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{Sports}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F5485BA-2080-1529-1ECC-960901B06903}"/>
              </a:ext>
            </a:extLst>
          </p:cNvPr>
          <p:cNvCxnSpPr>
            <a:cxnSpLocks/>
          </p:cNvCxnSpPr>
          <p:nvPr/>
        </p:nvCxnSpPr>
        <p:spPr>
          <a:xfrm>
            <a:off x="10240561" y="5366244"/>
            <a:ext cx="999098" cy="530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F400E4-ACDE-A439-34A2-2675E28CD968}"/>
              </a:ext>
            </a:extLst>
          </p:cNvPr>
          <p:cNvSpPr txBox="1"/>
          <p:nvPr/>
        </p:nvSpPr>
        <p:spPr>
          <a:xfrm>
            <a:off x="5352471" y="5597410"/>
            <a:ext cx="138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634730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0DC5-BCE7-888E-7FC0-143829F52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9BAB1-B591-CE75-7F0A-A76E22AA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731" y="351130"/>
            <a:ext cx="10515600" cy="1325563"/>
          </a:xfrm>
        </p:spPr>
        <p:txBody>
          <a:bodyPr/>
          <a:lstStyle/>
          <a:p>
            <a:r>
              <a:rPr lang="en-US" dirty="0"/>
              <a:t>Splitting Based on Ordinal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983A6-1DEE-20D7-A796-818777C2E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557" y="1313057"/>
            <a:ext cx="10515600" cy="3667206"/>
          </a:xfrm>
        </p:spPr>
        <p:txBody>
          <a:bodyPr>
            <a:normAutofit/>
          </a:bodyPr>
          <a:lstStyle/>
          <a:p>
            <a:r>
              <a:rPr lang="en-US" dirty="0"/>
              <a:t>Multiway split: Use as many partitions as distinct values.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Binary Split: Divides values into two subsets.</a:t>
            </a:r>
          </a:p>
          <a:p>
            <a:pPr marL="0" indent="0">
              <a:buNone/>
            </a:pPr>
            <a:r>
              <a:rPr lang="en-US" dirty="0"/>
              <a:t>		   Need to find optimal partitioning.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261CE5-710E-7927-5023-0BAE7036992E}"/>
              </a:ext>
            </a:extLst>
          </p:cNvPr>
          <p:cNvSpPr/>
          <p:nvPr/>
        </p:nvSpPr>
        <p:spPr>
          <a:xfrm>
            <a:off x="4397613" y="1943383"/>
            <a:ext cx="1539766" cy="7252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92ED88-65FA-420D-8AD8-A85DB44A4BD6}"/>
              </a:ext>
            </a:extLst>
          </p:cNvPr>
          <p:cNvSpPr/>
          <p:nvPr/>
        </p:nvSpPr>
        <p:spPr>
          <a:xfrm>
            <a:off x="913314" y="4923833"/>
            <a:ext cx="1782736" cy="7252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CarType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BD4800-2808-1987-5EF9-484736811863}"/>
              </a:ext>
            </a:extLst>
          </p:cNvPr>
          <p:cNvSpPr/>
          <p:nvPr/>
        </p:nvSpPr>
        <p:spPr>
          <a:xfrm>
            <a:off x="9138743" y="4661338"/>
            <a:ext cx="1921605" cy="7252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CarType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4347F-8950-1256-2784-FFA767F25808}"/>
              </a:ext>
            </a:extLst>
          </p:cNvPr>
          <p:cNvSpPr txBox="1"/>
          <p:nvPr/>
        </p:nvSpPr>
        <p:spPr>
          <a:xfrm>
            <a:off x="2947182" y="2968681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Small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7A9B6-ADA8-0E0D-A99C-14B762DA452F}"/>
              </a:ext>
            </a:extLst>
          </p:cNvPr>
          <p:cNvSpPr txBox="1"/>
          <p:nvPr/>
        </p:nvSpPr>
        <p:spPr>
          <a:xfrm>
            <a:off x="4623107" y="3038079"/>
            <a:ext cx="1629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151EF-623F-FA6E-EAAB-C471D7B12DAB}"/>
              </a:ext>
            </a:extLst>
          </p:cNvPr>
          <p:cNvSpPr txBox="1"/>
          <p:nvPr/>
        </p:nvSpPr>
        <p:spPr>
          <a:xfrm>
            <a:off x="6783464" y="2807246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Large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99184D-4C09-A3CE-B686-5CF751F344BA}"/>
              </a:ext>
            </a:extLst>
          </p:cNvPr>
          <p:cNvCxnSpPr>
            <a:stCxn id="4" idx="3"/>
          </p:cNvCxnSpPr>
          <p:nvPr/>
        </p:nvCxnSpPr>
        <p:spPr>
          <a:xfrm flipH="1">
            <a:off x="3415003" y="2562392"/>
            <a:ext cx="1208104" cy="40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59AB07-585B-FE59-95D9-A79B66ED157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5167496" y="2668597"/>
            <a:ext cx="0" cy="523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E65407-B4D9-8CB7-F9DA-CF68DAD61FD7}"/>
              </a:ext>
            </a:extLst>
          </p:cNvPr>
          <p:cNvCxnSpPr>
            <a:cxnSpLocks/>
          </p:cNvCxnSpPr>
          <p:nvPr/>
        </p:nvCxnSpPr>
        <p:spPr>
          <a:xfrm>
            <a:off x="5849736" y="2484349"/>
            <a:ext cx="1149126" cy="34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F625DB1-2905-7901-A9A6-71AD2DFD1F18}"/>
              </a:ext>
            </a:extLst>
          </p:cNvPr>
          <p:cNvSpPr txBox="1"/>
          <p:nvPr/>
        </p:nvSpPr>
        <p:spPr>
          <a:xfrm>
            <a:off x="7271" y="6068060"/>
            <a:ext cx="1844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{Small, Medium}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6B556E-EA47-F1D6-4A6A-51A045396983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475093" y="5542842"/>
            <a:ext cx="699297" cy="64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1205E1-F7A2-B11D-AB18-ED6370EAE74B}"/>
              </a:ext>
            </a:extLst>
          </p:cNvPr>
          <p:cNvCxnSpPr/>
          <p:nvPr/>
        </p:nvCxnSpPr>
        <p:spPr>
          <a:xfrm flipH="1">
            <a:off x="8744107" y="5343715"/>
            <a:ext cx="1208104" cy="40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104447-626E-FC94-FF11-98650530B05F}"/>
              </a:ext>
            </a:extLst>
          </p:cNvPr>
          <p:cNvCxnSpPr>
            <a:cxnSpLocks/>
          </p:cNvCxnSpPr>
          <p:nvPr/>
        </p:nvCxnSpPr>
        <p:spPr>
          <a:xfrm>
            <a:off x="2106705" y="5537488"/>
            <a:ext cx="999098" cy="530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AF2CE01-A20C-B755-90AC-9D07546F8529}"/>
              </a:ext>
            </a:extLst>
          </p:cNvPr>
          <p:cNvSpPr txBox="1"/>
          <p:nvPr/>
        </p:nvSpPr>
        <p:spPr>
          <a:xfrm>
            <a:off x="2696050" y="6027003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{Large}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AEFF6B-A62E-43AF-98BA-92FFC12A0094}"/>
              </a:ext>
            </a:extLst>
          </p:cNvPr>
          <p:cNvSpPr txBox="1"/>
          <p:nvPr/>
        </p:nvSpPr>
        <p:spPr>
          <a:xfrm>
            <a:off x="7383294" y="5798516"/>
            <a:ext cx="1964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{Medium, Large}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DB59A1-6B7E-EA92-C284-762521740B86}"/>
              </a:ext>
            </a:extLst>
          </p:cNvPr>
          <p:cNvSpPr txBox="1"/>
          <p:nvPr/>
        </p:nvSpPr>
        <p:spPr>
          <a:xfrm>
            <a:off x="10636433" y="5983181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{Small}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D6E739-A3EB-C6F7-FF47-C847A609D3FF}"/>
              </a:ext>
            </a:extLst>
          </p:cNvPr>
          <p:cNvCxnSpPr>
            <a:cxnSpLocks/>
          </p:cNvCxnSpPr>
          <p:nvPr/>
        </p:nvCxnSpPr>
        <p:spPr>
          <a:xfrm>
            <a:off x="10240561" y="5366244"/>
            <a:ext cx="999098" cy="530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A974ADC-4888-3C51-65AD-375E9921BB29}"/>
              </a:ext>
            </a:extLst>
          </p:cNvPr>
          <p:cNvSpPr txBox="1"/>
          <p:nvPr/>
        </p:nvSpPr>
        <p:spPr>
          <a:xfrm>
            <a:off x="5352471" y="5597410"/>
            <a:ext cx="138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548451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928A-C57C-FAC0-E3EA-DBE54CF6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2F14-CADB-2DC2-695F-F1B7684D7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829" y="291829"/>
            <a:ext cx="10515600" cy="1325563"/>
          </a:xfrm>
        </p:spPr>
        <p:txBody>
          <a:bodyPr/>
          <a:lstStyle/>
          <a:p>
            <a:r>
              <a:rPr lang="en-US" dirty="0"/>
              <a:t>Splitting Based on Continuous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79674-7230-0AF2-A705-ED24219E8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557" y="1313057"/>
            <a:ext cx="10515600" cy="4803964"/>
          </a:xfrm>
        </p:spPr>
        <p:txBody>
          <a:bodyPr>
            <a:normAutofit/>
          </a:bodyPr>
          <a:lstStyle/>
          <a:p>
            <a:r>
              <a:rPr lang="en-US" sz="2400" dirty="0"/>
              <a:t>Different ways of handing</a:t>
            </a:r>
          </a:p>
          <a:p>
            <a:pPr lvl="1"/>
            <a:r>
              <a:rPr lang="en-US" sz="2400" dirty="0"/>
              <a:t>Discretization to form an ordinal categorical attribute</a:t>
            </a:r>
          </a:p>
          <a:p>
            <a:pPr lvl="2"/>
            <a:r>
              <a:rPr lang="en-US" sz="2400" dirty="0"/>
              <a:t>Static – discretize once at the beginning</a:t>
            </a:r>
          </a:p>
          <a:p>
            <a:pPr lvl="2"/>
            <a:r>
              <a:rPr lang="en-US" sz="2400" dirty="0"/>
              <a:t>Dynamic – ranges can be found by equal interval bucketing, equal frequency bucketing (percentiles), or clustering</a:t>
            </a:r>
          </a:p>
          <a:p>
            <a:pPr lvl="2"/>
            <a:endParaRPr lang="en-US" sz="2400" dirty="0"/>
          </a:p>
          <a:p>
            <a:pPr lvl="1"/>
            <a:r>
              <a:rPr lang="en-US" sz="2400" dirty="0"/>
              <a:t>Binary Decision: (A&lt;V) or (A &gt;= V)</a:t>
            </a:r>
          </a:p>
          <a:p>
            <a:pPr lvl="2"/>
            <a:r>
              <a:rPr lang="en-US" sz="2400" dirty="0"/>
              <a:t>Consider all possible splits and finds the best cut</a:t>
            </a:r>
          </a:p>
          <a:p>
            <a:pPr lvl="2"/>
            <a:r>
              <a:rPr lang="en-US" sz="2400" dirty="0"/>
              <a:t>Can be more computationally intensive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3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7E62-8C54-8B9D-2354-FB820E2C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based on continuous attributes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3D4D825-DB72-04AC-F93D-BBC99C67D6C6}"/>
              </a:ext>
            </a:extLst>
          </p:cNvPr>
          <p:cNvSpPr/>
          <p:nvPr/>
        </p:nvSpPr>
        <p:spPr>
          <a:xfrm>
            <a:off x="1465107" y="2081048"/>
            <a:ext cx="1539766" cy="1140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Taxable Income &gt; 80K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201BD-F96F-6354-5C01-88FCE01BDD44}"/>
              </a:ext>
            </a:extLst>
          </p:cNvPr>
          <p:cNvSpPr txBox="1"/>
          <p:nvPr/>
        </p:nvSpPr>
        <p:spPr>
          <a:xfrm>
            <a:off x="526584" y="3764020"/>
            <a:ext cx="138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E4E5E9-96C9-73A2-94D1-380B21C7E597}"/>
              </a:ext>
            </a:extLst>
          </p:cNvPr>
          <p:cNvCxnSpPr>
            <a:cxnSpLocks/>
          </p:cNvCxnSpPr>
          <p:nvPr/>
        </p:nvCxnSpPr>
        <p:spPr>
          <a:xfrm flipH="1">
            <a:off x="1026886" y="2948128"/>
            <a:ext cx="778577" cy="814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E55B78-15F3-5600-F3AE-0605C5AAF90C}"/>
              </a:ext>
            </a:extLst>
          </p:cNvPr>
          <p:cNvCxnSpPr>
            <a:cxnSpLocks/>
          </p:cNvCxnSpPr>
          <p:nvPr/>
        </p:nvCxnSpPr>
        <p:spPr>
          <a:xfrm>
            <a:off x="2856614" y="3025978"/>
            <a:ext cx="769455" cy="610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57EEB1-BA01-EF9F-7DE3-EABF41AFA5E0}"/>
              </a:ext>
            </a:extLst>
          </p:cNvPr>
          <p:cNvSpPr txBox="1"/>
          <p:nvPr/>
        </p:nvSpPr>
        <p:spPr>
          <a:xfrm>
            <a:off x="3513081" y="3758660"/>
            <a:ext cx="138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E8C7C9-3E07-5ACF-1ECF-0343E39C3F69}"/>
              </a:ext>
            </a:extLst>
          </p:cNvPr>
          <p:cNvSpPr/>
          <p:nvPr/>
        </p:nvSpPr>
        <p:spPr>
          <a:xfrm>
            <a:off x="7779389" y="1764665"/>
            <a:ext cx="1539766" cy="1140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Taxable Income 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A02CA5-4CC2-4E8D-D1A4-C188CB43098C}"/>
              </a:ext>
            </a:extLst>
          </p:cNvPr>
          <p:cNvCxnSpPr>
            <a:cxnSpLocks/>
          </p:cNvCxnSpPr>
          <p:nvPr/>
        </p:nvCxnSpPr>
        <p:spPr>
          <a:xfrm flipH="1">
            <a:off x="6156518" y="2467256"/>
            <a:ext cx="1622871" cy="961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B09706-6C76-6720-CA87-A45C7CD77930}"/>
              </a:ext>
            </a:extLst>
          </p:cNvPr>
          <p:cNvCxnSpPr>
            <a:cxnSpLocks/>
          </p:cNvCxnSpPr>
          <p:nvPr/>
        </p:nvCxnSpPr>
        <p:spPr>
          <a:xfrm>
            <a:off x="9319155" y="2344364"/>
            <a:ext cx="2034645" cy="1030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27F1BD-F0C2-FA52-E01B-CC11C21B3277}"/>
              </a:ext>
            </a:extLst>
          </p:cNvPr>
          <p:cNvCxnSpPr>
            <a:cxnSpLocks/>
          </p:cNvCxnSpPr>
          <p:nvPr/>
        </p:nvCxnSpPr>
        <p:spPr>
          <a:xfrm flipH="1">
            <a:off x="7488621" y="2619656"/>
            <a:ext cx="443168" cy="987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C8858F-A2A4-B514-4092-0377FF35C23C}"/>
              </a:ext>
            </a:extLst>
          </p:cNvPr>
          <p:cNvCxnSpPr>
            <a:cxnSpLocks/>
          </p:cNvCxnSpPr>
          <p:nvPr/>
        </p:nvCxnSpPr>
        <p:spPr>
          <a:xfrm>
            <a:off x="8718314" y="2817705"/>
            <a:ext cx="0" cy="763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D2F6D74-D804-7B5A-CEBF-17B96E23C0EE}"/>
              </a:ext>
            </a:extLst>
          </p:cNvPr>
          <p:cNvCxnSpPr>
            <a:cxnSpLocks/>
          </p:cNvCxnSpPr>
          <p:nvPr/>
        </p:nvCxnSpPr>
        <p:spPr>
          <a:xfrm>
            <a:off x="9111492" y="2734973"/>
            <a:ext cx="978439" cy="765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75BC55-1EDE-C25C-2A9A-66CB3648D3EF}"/>
              </a:ext>
            </a:extLst>
          </p:cNvPr>
          <p:cNvSpPr txBox="1"/>
          <p:nvPr/>
        </p:nvSpPr>
        <p:spPr>
          <a:xfrm>
            <a:off x="6967953" y="3682348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[10K, 25K)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C527FB-DFD2-030F-066A-FC2EC8B9ED1B}"/>
              </a:ext>
            </a:extLst>
          </p:cNvPr>
          <p:cNvSpPr txBox="1"/>
          <p:nvPr/>
        </p:nvSpPr>
        <p:spPr>
          <a:xfrm>
            <a:off x="8355319" y="3750509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[25K, 50K)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0C472D-EECD-E00C-9AD1-ADA8066E5A28}"/>
              </a:ext>
            </a:extLst>
          </p:cNvPr>
          <p:cNvSpPr txBox="1"/>
          <p:nvPr/>
        </p:nvSpPr>
        <p:spPr>
          <a:xfrm>
            <a:off x="9742685" y="3607365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[50K, 90K)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4F177A-BF39-324E-C158-821623960C7E}"/>
              </a:ext>
            </a:extLst>
          </p:cNvPr>
          <p:cNvSpPr txBox="1"/>
          <p:nvPr/>
        </p:nvSpPr>
        <p:spPr>
          <a:xfrm>
            <a:off x="1133720" y="5450136"/>
            <a:ext cx="298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 err="1"/>
              <a:t>i</a:t>
            </a:r>
            <a:r>
              <a:rPr lang="en-US" sz="2800" dirty="0"/>
              <a:t>) Binary Split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838EDA-AB9B-448D-9899-A90F0A4328D7}"/>
              </a:ext>
            </a:extLst>
          </p:cNvPr>
          <p:cNvSpPr txBox="1"/>
          <p:nvPr/>
        </p:nvSpPr>
        <p:spPr>
          <a:xfrm>
            <a:off x="7931789" y="5318771"/>
            <a:ext cx="298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 err="1"/>
              <a:t>i</a:t>
            </a:r>
            <a:r>
              <a:rPr lang="en-US" sz="2800" dirty="0"/>
              <a:t>) Multi-way Split</a:t>
            </a:r>
          </a:p>
        </p:txBody>
      </p:sp>
    </p:spTree>
    <p:extLst>
      <p:ext uri="{BB962C8B-B14F-4D97-AF65-F5344CB8AC3E}">
        <p14:creationId xmlns:p14="http://schemas.microsoft.com/office/powerpoint/2010/main" val="1823132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F20C-61DC-63A9-64BE-D32D6A0CF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209" y="384029"/>
            <a:ext cx="10515600" cy="1325563"/>
          </a:xfrm>
        </p:spPr>
        <p:txBody>
          <a:bodyPr/>
          <a:lstStyle/>
          <a:p>
            <a:r>
              <a:rPr lang="en-US" dirty="0"/>
              <a:t>How to determine the Best Split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B27D3-10BD-6616-8DE0-27A230510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191" y="1600988"/>
            <a:ext cx="6729248" cy="1027934"/>
          </a:xfrm>
        </p:spPr>
        <p:txBody>
          <a:bodyPr/>
          <a:lstStyle/>
          <a:p>
            <a:r>
              <a:rPr lang="en-US" dirty="0"/>
              <a:t>Before Splitting : 10 records of class 0, </a:t>
            </a:r>
          </a:p>
          <a:p>
            <a:pPr marL="457200" lvl="1" indent="0">
              <a:buNone/>
            </a:pPr>
            <a:r>
              <a:rPr lang="en-US" dirty="0"/>
              <a:t>			</a:t>
            </a:r>
            <a:r>
              <a:rPr lang="en-US" sz="2800" dirty="0"/>
              <a:t>10 records of class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3082A2-5C1F-DC98-6EE9-635CFF678741}"/>
              </a:ext>
            </a:extLst>
          </p:cNvPr>
          <p:cNvSpPr/>
          <p:nvPr/>
        </p:nvSpPr>
        <p:spPr>
          <a:xfrm>
            <a:off x="996337" y="3245812"/>
            <a:ext cx="1539766" cy="1140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66CB4-C42E-32D6-1086-3893FFE77147}"/>
              </a:ext>
            </a:extLst>
          </p:cNvPr>
          <p:cNvSpPr txBox="1"/>
          <p:nvPr/>
        </p:nvSpPr>
        <p:spPr>
          <a:xfrm>
            <a:off x="475328" y="4385921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9A4053-DCD8-4E85-D81B-9175A88DE412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975664" y="4112892"/>
            <a:ext cx="361029" cy="889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EAE383-8B2E-3799-FE72-22EBFCB57209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164194" y="4314062"/>
            <a:ext cx="371909" cy="691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39F071-563C-4422-3ABB-E104A78EF935}"/>
              </a:ext>
            </a:extLst>
          </p:cNvPr>
          <p:cNvSpPr txBox="1"/>
          <p:nvPr/>
        </p:nvSpPr>
        <p:spPr>
          <a:xfrm>
            <a:off x="2308863" y="4374221"/>
            <a:ext cx="1054741" cy="411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Female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C38D4D-0644-F62D-C56B-56FB8710C507}"/>
              </a:ext>
            </a:extLst>
          </p:cNvPr>
          <p:cNvSpPr/>
          <p:nvPr/>
        </p:nvSpPr>
        <p:spPr>
          <a:xfrm>
            <a:off x="475328" y="5002407"/>
            <a:ext cx="1000671" cy="74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C0: 6</a:t>
            </a:r>
          </a:p>
          <a:p>
            <a:pPr algn="ctr"/>
            <a:r>
              <a:rPr lang="en-US" dirty="0"/>
              <a:t>C1: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D9CBF5-E0DB-0119-1085-6CC1E30B823D}"/>
              </a:ext>
            </a:extLst>
          </p:cNvPr>
          <p:cNvSpPr/>
          <p:nvPr/>
        </p:nvSpPr>
        <p:spPr>
          <a:xfrm>
            <a:off x="2035767" y="5006027"/>
            <a:ext cx="1000671" cy="74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C0: 6</a:t>
            </a:r>
          </a:p>
          <a:p>
            <a:pPr algn="ctr"/>
            <a:r>
              <a:rPr lang="en-US" dirty="0"/>
              <a:t>C1: 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898465B-2EF1-F841-7E11-759477ECDBC2}"/>
              </a:ext>
            </a:extLst>
          </p:cNvPr>
          <p:cNvSpPr/>
          <p:nvPr/>
        </p:nvSpPr>
        <p:spPr>
          <a:xfrm>
            <a:off x="4487131" y="3025910"/>
            <a:ext cx="1539766" cy="1140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 Type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018396-87DB-7956-DDAA-82C4206BC57C}"/>
              </a:ext>
            </a:extLst>
          </p:cNvPr>
          <p:cNvSpPr txBox="1"/>
          <p:nvPr/>
        </p:nvSpPr>
        <p:spPr>
          <a:xfrm>
            <a:off x="3657726" y="4094770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Family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7D75BD-5783-2609-E78E-60C6F12CA640}"/>
              </a:ext>
            </a:extLst>
          </p:cNvPr>
          <p:cNvCxnSpPr>
            <a:cxnSpLocks/>
            <a:stCxn id="25" idx="3"/>
            <a:endCxn id="30" idx="0"/>
          </p:cNvCxnSpPr>
          <p:nvPr/>
        </p:nvCxnSpPr>
        <p:spPr>
          <a:xfrm flipH="1">
            <a:off x="4063286" y="3999054"/>
            <a:ext cx="649339" cy="100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5DE277-DEB6-16D4-9FA9-CA7DFCC8AA7A}"/>
              </a:ext>
            </a:extLst>
          </p:cNvPr>
          <p:cNvCxnSpPr>
            <a:cxnSpLocks/>
            <a:stCxn id="25" idx="5"/>
          </p:cNvCxnSpPr>
          <p:nvPr/>
        </p:nvCxnSpPr>
        <p:spPr>
          <a:xfrm>
            <a:off x="5801403" y="3999054"/>
            <a:ext cx="599189" cy="906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9B7752-F884-F7FB-FA61-81ADD5612B9E}"/>
              </a:ext>
            </a:extLst>
          </p:cNvPr>
          <p:cNvSpPr txBox="1"/>
          <p:nvPr/>
        </p:nvSpPr>
        <p:spPr>
          <a:xfrm>
            <a:off x="6046189" y="4088920"/>
            <a:ext cx="1054741" cy="411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Luxury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BCF172-6FA4-1844-BA38-1E65D438C311}"/>
              </a:ext>
            </a:extLst>
          </p:cNvPr>
          <p:cNvSpPr/>
          <p:nvPr/>
        </p:nvSpPr>
        <p:spPr>
          <a:xfrm>
            <a:off x="3562950" y="5002407"/>
            <a:ext cx="1000671" cy="74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C0: 1</a:t>
            </a:r>
          </a:p>
          <a:p>
            <a:pPr algn="ctr"/>
            <a:r>
              <a:rPr lang="en-US" dirty="0"/>
              <a:t>C1: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03C8E9-EDBA-2953-CA87-29F77B71CD6D}"/>
              </a:ext>
            </a:extLst>
          </p:cNvPr>
          <p:cNvSpPr/>
          <p:nvPr/>
        </p:nvSpPr>
        <p:spPr>
          <a:xfrm>
            <a:off x="6319044" y="4905848"/>
            <a:ext cx="1000671" cy="74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C0: 1</a:t>
            </a:r>
          </a:p>
          <a:p>
            <a:pPr algn="ctr"/>
            <a:r>
              <a:rPr lang="en-US" dirty="0"/>
              <a:t>C1: 7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3EBA069-74DB-B9EE-9CFD-20E4D0ECFF6E}"/>
              </a:ext>
            </a:extLst>
          </p:cNvPr>
          <p:cNvCxnSpPr>
            <a:cxnSpLocks/>
          </p:cNvCxnSpPr>
          <p:nvPr/>
        </p:nvCxnSpPr>
        <p:spPr>
          <a:xfrm>
            <a:off x="5257014" y="4070849"/>
            <a:ext cx="0" cy="905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8B65DD3-53DC-8255-E282-7EBAAAE1DFC4}"/>
              </a:ext>
            </a:extLst>
          </p:cNvPr>
          <p:cNvSpPr/>
          <p:nvPr/>
        </p:nvSpPr>
        <p:spPr>
          <a:xfrm>
            <a:off x="4928740" y="5002407"/>
            <a:ext cx="1000671" cy="74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C0: 8</a:t>
            </a:r>
          </a:p>
          <a:p>
            <a:pPr algn="ctr"/>
            <a:r>
              <a:rPr lang="en-US" dirty="0"/>
              <a:t>C1: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B81A4-1198-1796-58E2-2F3591D0782D}"/>
              </a:ext>
            </a:extLst>
          </p:cNvPr>
          <p:cNvSpPr txBox="1"/>
          <p:nvPr/>
        </p:nvSpPr>
        <p:spPr>
          <a:xfrm>
            <a:off x="4424502" y="4345128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Sports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F682C5-0042-BA4B-D98B-27FC964EF26F}"/>
              </a:ext>
            </a:extLst>
          </p:cNvPr>
          <p:cNvSpPr/>
          <p:nvPr/>
        </p:nvSpPr>
        <p:spPr>
          <a:xfrm>
            <a:off x="9207544" y="2858945"/>
            <a:ext cx="1539766" cy="1140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1E66E-47CB-B689-656B-B12FD2985111}"/>
              </a:ext>
            </a:extLst>
          </p:cNvPr>
          <p:cNvSpPr txBox="1"/>
          <p:nvPr/>
        </p:nvSpPr>
        <p:spPr>
          <a:xfrm>
            <a:off x="8140166" y="3852286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Br1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F77E1E-5CFC-75EF-9DE3-24F31CE5FEA4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8209684" y="3832089"/>
            <a:ext cx="1223354" cy="1009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BC1FF6-C946-E0E3-2186-D88FDCD94D43}"/>
              </a:ext>
            </a:extLst>
          </p:cNvPr>
          <p:cNvCxnSpPr>
            <a:cxnSpLocks/>
            <a:stCxn id="14" idx="5"/>
            <a:endCxn id="20" idx="0"/>
          </p:cNvCxnSpPr>
          <p:nvPr/>
        </p:nvCxnSpPr>
        <p:spPr>
          <a:xfrm>
            <a:off x="10521816" y="3832089"/>
            <a:ext cx="1194856" cy="109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73325E-9422-8DAC-D3B0-5E1BD85D743F}"/>
              </a:ext>
            </a:extLst>
          </p:cNvPr>
          <p:cNvSpPr txBox="1"/>
          <p:nvPr/>
        </p:nvSpPr>
        <p:spPr>
          <a:xfrm>
            <a:off x="11076670" y="3884039"/>
            <a:ext cx="1054741" cy="411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Br10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60DF43-2DA3-80EF-AA52-9B34DF9F5E01}"/>
              </a:ext>
            </a:extLst>
          </p:cNvPr>
          <p:cNvSpPr/>
          <p:nvPr/>
        </p:nvSpPr>
        <p:spPr>
          <a:xfrm>
            <a:off x="7709348" y="4842062"/>
            <a:ext cx="1000671" cy="906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C0: 1</a:t>
            </a:r>
          </a:p>
          <a:p>
            <a:pPr algn="ctr"/>
            <a:r>
              <a:rPr lang="en-US" dirty="0"/>
              <a:t>C1: 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544FF8-8403-5211-4631-24BAFC6575CB}"/>
              </a:ext>
            </a:extLst>
          </p:cNvPr>
          <p:cNvSpPr/>
          <p:nvPr/>
        </p:nvSpPr>
        <p:spPr>
          <a:xfrm>
            <a:off x="11216336" y="4922234"/>
            <a:ext cx="1000671" cy="74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C0: 1</a:t>
            </a:r>
          </a:p>
          <a:p>
            <a:pPr algn="ctr"/>
            <a:r>
              <a:rPr lang="en-US" dirty="0"/>
              <a:t>C1: 7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A822F1-3B86-00C6-8C27-AB630EC8684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977427" y="3903884"/>
            <a:ext cx="472773" cy="1004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F860188-68A3-515A-03AB-73B1F27CC571}"/>
              </a:ext>
            </a:extLst>
          </p:cNvPr>
          <p:cNvSpPr/>
          <p:nvPr/>
        </p:nvSpPr>
        <p:spPr>
          <a:xfrm>
            <a:off x="9919043" y="4908807"/>
            <a:ext cx="1062314" cy="790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C0: 8</a:t>
            </a:r>
          </a:p>
          <a:p>
            <a:pPr algn="ctr"/>
            <a:r>
              <a:rPr lang="en-US" dirty="0"/>
              <a:t>C1: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CFE97A-1F7B-E302-A3CA-4DA5434C7C74}"/>
              </a:ext>
            </a:extLst>
          </p:cNvPr>
          <p:cNvSpPr txBox="1"/>
          <p:nvPr/>
        </p:nvSpPr>
        <p:spPr>
          <a:xfrm>
            <a:off x="9374829" y="4385920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Br19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5A513A-07EA-1D5F-7A0E-DC43F9C8EED7}"/>
              </a:ext>
            </a:extLst>
          </p:cNvPr>
          <p:cNvSpPr txBox="1"/>
          <p:nvPr/>
        </p:nvSpPr>
        <p:spPr>
          <a:xfrm>
            <a:off x="8857251" y="5079017"/>
            <a:ext cx="1387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………..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66CE67-625D-DA29-B63B-D9EDF93470F3}"/>
              </a:ext>
            </a:extLst>
          </p:cNvPr>
          <p:cNvSpPr/>
          <p:nvPr/>
        </p:nvSpPr>
        <p:spPr>
          <a:xfrm>
            <a:off x="6728915" y="1587162"/>
            <a:ext cx="1247765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C0 : 10</a:t>
            </a:r>
          </a:p>
          <a:p>
            <a:pPr algn="ctr"/>
            <a:r>
              <a:rPr lang="en-US" dirty="0"/>
              <a:t>C1: 10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4BA61A53-AF26-D264-D3A9-25856BA38A0B}"/>
              </a:ext>
            </a:extLst>
          </p:cNvPr>
          <p:cNvSpPr txBox="1">
            <a:spLocks/>
          </p:cNvSpPr>
          <p:nvPr/>
        </p:nvSpPr>
        <p:spPr>
          <a:xfrm>
            <a:off x="3131267" y="6209228"/>
            <a:ext cx="6538649" cy="785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W</a:t>
            </a:r>
            <a:r>
              <a:rPr lang="en-US" dirty="0"/>
              <a:t>hich test condition is the best?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6260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7AF7-5556-148D-B019-2F71E47F9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183" y="313242"/>
            <a:ext cx="10515600" cy="1325563"/>
          </a:xfrm>
        </p:spPr>
        <p:txBody>
          <a:bodyPr/>
          <a:lstStyle/>
          <a:p>
            <a:r>
              <a:rPr lang="en-US" dirty="0"/>
              <a:t>How to determine the best split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44B5-7E7F-96DB-4E41-B3E109FE7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39" y="1530638"/>
            <a:ext cx="10515600" cy="4351338"/>
          </a:xfrm>
        </p:spPr>
        <p:txBody>
          <a:bodyPr/>
          <a:lstStyle/>
          <a:p>
            <a:r>
              <a:rPr lang="en-US" dirty="0"/>
              <a:t>Greedy approach: </a:t>
            </a:r>
          </a:p>
          <a:p>
            <a:pPr lvl="1"/>
            <a:r>
              <a:rPr lang="en-US" dirty="0"/>
              <a:t>Nodes with homogeneous class distribution are preferred.</a:t>
            </a:r>
          </a:p>
          <a:p>
            <a:r>
              <a:rPr lang="en-US" dirty="0"/>
              <a:t>Need a measure of node impurity.</a:t>
            </a:r>
          </a:p>
          <a:p>
            <a:pPr lvl="8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FC9A98-12FB-8D43-2AC8-C663B9E348BB}"/>
              </a:ext>
            </a:extLst>
          </p:cNvPr>
          <p:cNvSpPr/>
          <p:nvPr/>
        </p:nvSpPr>
        <p:spPr>
          <a:xfrm>
            <a:off x="1851136" y="3741163"/>
            <a:ext cx="1573924" cy="1170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C0 : 10</a:t>
            </a:r>
          </a:p>
          <a:p>
            <a:pPr algn="ctr"/>
            <a:r>
              <a:rPr lang="en-US" sz="2800" dirty="0"/>
              <a:t>C1: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C58E74-7D3A-B4CF-30E3-616958077953}"/>
              </a:ext>
            </a:extLst>
          </p:cNvPr>
          <p:cNvSpPr/>
          <p:nvPr/>
        </p:nvSpPr>
        <p:spPr>
          <a:xfrm>
            <a:off x="6335111" y="3741163"/>
            <a:ext cx="1573924" cy="1170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C0 : 9</a:t>
            </a:r>
          </a:p>
          <a:p>
            <a:pPr algn="ctr"/>
            <a:r>
              <a:rPr lang="en-US" sz="2800" dirty="0"/>
              <a:t>C1: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3A125-F57C-F5E3-C65E-2C6C96B2FEAD}"/>
              </a:ext>
            </a:extLst>
          </p:cNvPr>
          <p:cNvSpPr txBox="1"/>
          <p:nvPr/>
        </p:nvSpPr>
        <p:spPr>
          <a:xfrm>
            <a:off x="1271096" y="5330844"/>
            <a:ext cx="385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Non-homogeneous</a:t>
            </a:r>
          </a:p>
          <a:p>
            <a:r>
              <a:rPr lang="en-US" sz="2400" b="1" dirty="0"/>
              <a:t>High degree of Impurity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2922A-8F8C-2B60-7B79-90AD0D4A55FE}"/>
              </a:ext>
            </a:extLst>
          </p:cNvPr>
          <p:cNvSpPr txBox="1"/>
          <p:nvPr/>
        </p:nvSpPr>
        <p:spPr>
          <a:xfrm>
            <a:off x="6096000" y="5330843"/>
            <a:ext cx="385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Homogenous</a:t>
            </a:r>
          </a:p>
          <a:p>
            <a:r>
              <a:rPr lang="en-US" sz="2400" b="1" dirty="0"/>
              <a:t>Low degree of impurity</a:t>
            </a:r>
          </a:p>
        </p:txBody>
      </p:sp>
    </p:spTree>
    <p:extLst>
      <p:ext uri="{BB962C8B-B14F-4D97-AF65-F5344CB8AC3E}">
        <p14:creationId xmlns:p14="http://schemas.microsoft.com/office/powerpoint/2010/main" val="275315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F86A-FC19-30A6-D635-1EEF6D233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Node Impurity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7A70D3-2660-1035-52EC-9C7920238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27828" cy="4351338"/>
              </a:xfrm>
            </p:spPr>
            <p:txBody>
              <a:bodyPr/>
              <a:lstStyle/>
              <a:p>
                <a:r>
                  <a:rPr lang="en-US" i="1" dirty="0">
                    <a:latin typeface="Cambria Math" panose="02040503050406030204" pitchFamily="18" charset="0"/>
                  </a:rPr>
                  <a:t>p</a:t>
                </a:r>
                <a:r>
                  <a:rPr lang="en-US" b="0" i="1" dirty="0">
                    <a:latin typeface="Cambria Math" panose="02040503050406030204" pitchFamily="18" charset="0"/>
                  </a:rPr>
                  <a:t>(</a:t>
                </a:r>
                <a:r>
                  <a:rPr lang="en-US" b="0" i="1" dirty="0" err="1">
                    <a:latin typeface="Cambria Math" panose="02040503050406030204" pitchFamily="18" charset="0"/>
                  </a:rPr>
                  <a:t>i|t</a:t>
                </a:r>
                <a:r>
                  <a:rPr lang="en-US" b="0" i="1" dirty="0">
                    <a:latin typeface="Cambria Math" panose="02040503050406030204" pitchFamily="18" charset="0"/>
                  </a:rPr>
                  <a:t>): fraction of records associated with node t belonging to class </a:t>
                </a:r>
                <a:r>
                  <a:rPr lang="en-US" b="0" i="1" dirty="0" err="1">
                    <a:latin typeface="Cambria Math" panose="02040503050406030204" pitchFamily="18" charset="0"/>
                  </a:rPr>
                  <a:t>i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𝐺𝑖𝑛𝑖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7A70D3-2660-1035-52EC-9C7920238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27828" cy="4351338"/>
              </a:xfrm>
              <a:blipFill>
                <a:blip r:embed="rId2"/>
                <a:stretch>
                  <a:fillRect l="-1808" t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454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5BF7-BB31-C8BE-BC24-E0E49684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640" y="339632"/>
            <a:ext cx="10515600" cy="1325563"/>
          </a:xfrm>
        </p:spPr>
        <p:txBody>
          <a:bodyPr/>
          <a:lstStyle/>
          <a:p>
            <a:r>
              <a:rPr lang="en-US" dirty="0"/>
              <a:t>Impurity Measures in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F3919-A81B-8F72-49E2-E94CF6EAA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876" y="1815897"/>
            <a:ext cx="9675611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Impurity measures are used to determine how "mixed" the data is at each node of the tree. </a:t>
            </a:r>
          </a:p>
          <a:p>
            <a:pPr algn="just"/>
            <a:r>
              <a:rPr lang="en-US" sz="2400" dirty="0"/>
              <a:t>The goal is to split the data at each node such that the resulting subsets are as pure as possible.</a:t>
            </a:r>
          </a:p>
          <a:p>
            <a:pPr algn="just"/>
            <a:r>
              <a:rPr lang="en-US" sz="2400" dirty="0"/>
              <a:t>Several impurity measures are commonly used to evaluate potential splits, such as </a:t>
            </a:r>
            <a:r>
              <a:rPr lang="en-US" sz="2400" b="1" dirty="0"/>
              <a:t>Gini Index</a:t>
            </a:r>
            <a:r>
              <a:rPr lang="en-US" sz="2400" dirty="0"/>
              <a:t>, </a:t>
            </a:r>
            <a:r>
              <a:rPr lang="en-US" sz="2400" b="1" dirty="0"/>
              <a:t>Information Gain</a:t>
            </a:r>
            <a:r>
              <a:rPr lang="en-US" sz="2400" dirty="0"/>
              <a:t>, </a:t>
            </a:r>
            <a:r>
              <a:rPr lang="en-US" sz="2400" b="1" dirty="0"/>
              <a:t>Chi-Square</a:t>
            </a:r>
            <a:r>
              <a:rPr lang="en-US" sz="2400" dirty="0"/>
              <a:t>, </a:t>
            </a:r>
            <a:r>
              <a:rPr lang="en-US" sz="2400" b="1" dirty="0"/>
              <a:t>Entropy</a:t>
            </a:r>
            <a:r>
              <a:rPr lang="en-US" sz="2400" dirty="0"/>
              <a:t>, and others.</a:t>
            </a:r>
          </a:p>
        </p:txBody>
      </p:sp>
    </p:spTree>
    <p:extLst>
      <p:ext uri="{BB962C8B-B14F-4D97-AF65-F5344CB8AC3E}">
        <p14:creationId xmlns:p14="http://schemas.microsoft.com/office/powerpoint/2010/main" val="398450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C710-F189-9CF6-06F3-B81672DA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Gini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63980-B34F-6663-6DD4-D22DBB273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Gini Index is one of the most commonly used impurity measures in decision trees, especially for classification tasks (like in CART).</a:t>
            </a:r>
          </a:p>
          <a:p>
            <a:pPr algn="just"/>
            <a:r>
              <a:rPr lang="en-US" dirty="0"/>
              <a:t>The Gini index calculates the "impurity" of a node, i.e., how mixed the classes are in the dataset.</a:t>
            </a:r>
          </a:p>
          <a:p>
            <a:pPr algn="just"/>
            <a:r>
              <a:rPr lang="en-US" dirty="0"/>
              <a:t>To calculate the Gini Index for the dataset, we first need to:</a:t>
            </a:r>
          </a:p>
          <a:p>
            <a:pPr lvl="1" algn="just"/>
            <a:r>
              <a:rPr lang="en-US" dirty="0"/>
              <a:t>Understand the data structure and the target variable (Approved in this case).</a:t>
            </a:r>
          </a:p>
          <a:p>
            <a:pPr lvl="1" algn="just"/>
            <a:r>
              <a:rPr lang="en-US" dirty="0"/>
              <a:t>Split the dataset based on one of the features (e.g., Income, </a:t>
            </a:r>
            <a:r>
              <a:rPr lang="en-US" dirty="0" err="1"/>
              <a:t>CreditScore</a:t>
            </a:r>
            <a:r>
              <a:rPr lang="en-US" dirty="0"/>
              <a:t>, or </a:t>
            </a:r>
            <a:r>
              <a:rPr lang="en-US" dirty="0" err="1"/>
              <a:t>LoanAmount</a:t>
            </a:r>
            <a:r>
              <a:rPr lang="en-US" dirty="0"/>
              <a:t>).</a:t>
            </a:r>
          </a:p>
          <a:p>
            <a:pPr lvl="1" algn="just"/>
            <a:r>
              <a:rPr lang="en-US" dirty="0"/>
              <a:t>Calculate the Gini Index for each split.</a:t>
            </a:r>
          </a:p>
        </p:txBody>
      </p:sp>
    </p:spTree>
    <p:extLst>
      <p:ext uri="{BB962C8B-B14F-4D97-AF65-F5344CB8AC3E}">
        <p14:creationId xmlns:p14="http://schemas.microsoft.com/office/powerpoint/2010/main" val="1374706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0B3CB-CFBE-F31F-1C23-634147AD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Gini Index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EA3B1-33BF-F260-632E-3A542C86DF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55694" cy="4351338"/>
              </a:xfrm>
            </p:spPr>
            <p:txBody>
              <a:bodyPr/>
              <a:lstStyle/>
              <a:p>
                <a:r>
                  <a:rPr lang="en-US" dirty="0"/>
                  <a:t>The Gini Index for a split is calculated as:</a:t>
                </a:r>
              </a:p>
              <a:p>
                <a:pPr marL="0" indent="0"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)</a:t>
                </a:r>
              </a:p>
              <a:p>
                <a:pPr marL="0" indent="0" algn="just">
                  <a:buNone/>
                </a:pPr>
                <a:r>
                  <a:rPr lang="en-US" dirty="0"/>
                  <a:t>where </a:t>
                </a:r>
                <a:r>
                  <a:rPr lang="en-US" i="1" dirty="0"/>
                  <a:t>p</a:t>
                </a:r>
                <a:r>
                  <a:rPr lang="en-US" i="1" baseline="-25000" dirty="0"/>
                  <a:t>i</a:t>
                </a:r>
                <a:r>
                  <a:rPr lang="en-US" i="1" dirty="0"/>
                  <a:t> </a:t>
                </a:r>
                <a:r>
                  <a:rPr lang="en-US" dirty="0"/>
                  <a:t>is the proportion of data points belonging to class </a:t>
                </a:r>
                <a:r>
                  <a:rPr lang="en-US" i="1" dirty="0"/>
                  <a:t>i</a:t>
                </a:r>
                <a:r>
                  <a:rPr lang="en-US" dirty="0"/>
                  <a:t> in a subset. Let’s calculate the Gini Index for a specific split (e.g., based on Income).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Steps:</a:t>
                </a:r>
              </a:p>
              <a:p>
                <a:pPr lvl="1" algn="just"/>
                <a:r>
                  <a:rPr lang="en-US" dirty="0"/>
                  <a:t>Divide the data into groups based on Income levels: High, Medium, and Low.</a:t>
                </a:r>
              </a:p>
              <a:p>
                <a:pPr lvl="1" algn="just"/>
                <a:r>
                  <a:rPr lang="en-US" dirty="0"/>
                  <a:t>Calculate the proportions of Yes and No for each group.</a:t>
                </a:r>
              </a:p>
              <a:p>
                <a:pPr lvl="1" algn="just"/>
                <a:r>
                  <a:rPr lang="en-US" dirty="0"/>
                  <a:t>Compute the weighted Gini Index for the overall split.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EA3B1-33BF-F260-632E-3A542C86DF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55694" cy="4351338"/>
              </a:xfrm>
              <a:blipFill>
                <a:blip r:embed="rId2"/>
                <a:stretch>
                  <a:fillRect l="-1836" t="-5042" r="-1113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796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D0B5-A848-ECF2-89D6-09EDD679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Gini Index calculation -1</a:t>
            </a:r>
            <a:br>
              <a:rPr lang="en-US" dirty="0"/>
            </a:br>
            <a:r>
              <a:rPr lang="en-US" dirty="0"/>
              <a:t>Step1: Gini Index for Entire Dataset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BB811-7650-0340-2F4E-3CA41CB683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707" y="1762125"/>
                <a:ext cx="10538257" cy="4288889"/>
              </a:xfrm>
            </p:spPr>
            <p:txBody>
              <a:bodyPr/>
              <a:lstStyle/>
              <a:p>
                <a:r>
                  <a:rPr lang="en-US" dirty="0"/>
                  <a:t>The Gini index for the entire dataset is calculated using target variable (Approved).</a:t>
                </a:r>
              </a:p>
              <a:p>
                <a:pPr lvl="1"/>
                <a:r>
                  <a:rPr lang="en-US" dirty="0"/>
                  <a:t>Total rows= 10</a:t>
                </a:r>
              </a:p>
              <a:p>
                <a:pPr lvl="1"/>
                <a:r>
                  <a:rPr lang="en-US" dirty="0"/>
                  <a:t>Yes=5, No=5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		Gini= 1 –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𝑌𝑒𝑠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𝑁𝑜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0.25+0.25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The Gini index for the full dataset is 0.5.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BB811-7650-0340-2F4E-3CA41CB683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707" y="1762125"/>
                <a:ext cx="10538257" cy="4288889"/>
              </a:xfrm>
              <a:blipFill>
                <a:blip r:embed="rId2"/>
                <a:stretch>
                  <a:fillRect l="-405" t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589B46-325A-F237-7E73-A742F7FB2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596808"/>
              </p:ext>
            </p:extLst>
          </p:nvPr>
        </p:nvGraphicFramePr>
        <p:xfrm>
          <a:off x="8168640" y="2721313"/>
          <a:ext cx="3838069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4">
                  <a:extLst>
                    <a:ext uri="{9D8B030D-6E8A-4147-A177-3AD203B41FA5}">
                      <a16:colId xmlns:a16="http://schemas.microsoft.com/office/drawing/2014/main" val="2980150474"/>
                    </a:ext>
                  </a:extLst>
                </a:gridCol>
                <a:gridCol w="965624">
                  <a:extLst>
                    <a:ext uri="{9D8B030D-6E8A-4147-A177-3AD203B41FA5}">
                      <a16:colId xmlns:a16="http://schemas.microsoft.com/office/drawing/2014/main" val="1480102742"/>
                    </a:ext>
                  </a:extLst>
                </a:gridCol>
                <a:gridCol w="1015260">
                  <a:extLst>
                    <a:ext uri="{9D8B030D-6E8A-4147-A177-3AD203B41FA5}">
                      <a16:colId xmlns:a16="http://schemas.microsoft.com/office/drawing/2014/main" val="594799768"/>
                    </a:ext>
                  </a:extLst>
                </a:gridCol>
                <a:gridCol w="683467">
                  <a:extLst>
                    <a:ext uri="{9D8B030D-6E8A-4147-A177-3AD203B41FA5}">
                      <a16:colId xmlns:a16="http://schemas.microsoft.com/office/drawing/2014/main" val="572290805"/>
                    </a:ext>
                  </a:extLst>
                </a:gridCol>
                <a:gridCol w="767614">
                  <a:extLst>
                    <a:ext uri="{9D8B030D-6E8A-4147-A177-3AD203B41FA5}">
                      <a16:colId xmlns:a16="http://schemas.microsoft.com/office/drawing/2014/main" val="592816894"/>
                    </a:ext>
                  </a:extLst>
                </a:gridCol>
              </a:tblGrid>
              <a:tr h="406432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8611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51874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749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14407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904646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49400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13133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08502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8695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94573"/>
                  </a:ext>
                </a:extLst>
              </a:tr>
              <a:tr h="239077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55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206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2C69-E79A-9DEE-1171-D8EF74A4A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109" y="53106"/>
            <a:ext cx="10515600" cy="1325563"/>
          </a:xfrm>
        </p:spPr>
        <p:txBody>
          <a:bodyPr/>
          <a:lstStyle/>
          <a:p>
            <a:r>
              <a:rPr lang="en-US" dirty="0"/>
              <a:t>Gini Index calculation -2</a:t>
            </a:r>
            <a:br>
              <a:rPr lang="en-US" dirty="0"/>
            </a:br>
            <a:r>
              <a:rPr lang="en-US" dirty="0"/>
              <a:t>Step 2: Splitting on Income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0D295-B9DE-34CC-EB0E-3706A6ED5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291" y="1231301"/>
            <a:ext cx="10515600" cy="84537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Income has three categories: High, Medium, and Low.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950C81-EC74-63D3-A250-575D1815B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790037"/>
              </p:ext>
            </p:extLst>
          </p:nvPr>
        </p:nvGraphicFramePr>
        <p:xfrm>
          <a:off x="865762" y="2076678"/>
          <a:ext cx="4767634" cy="379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460">
                  <a:extLst>
                    <a:ext uri="{9D8B030D-6E8A-4147-A177-3AD203B41FA5}">
                      <a16:colId xmlns:a16="http://schemas.microsoft.com/office/drawing/2014/main" val="2980150474"/>
                    </a:ext>
                  </a:extLst>
                </a:gridCol>
                <a:gridCol w="1199495">
                  <a:extLst>
                    <a:ext uri="{9D8B030D-6E8A-4147-A177-3AD203B41FA5}">
                      <a16:colId xmlns:a16="http://schemas.microsoft.com/office/drawing/2014/main" val="1480102742"/>
                    </a:ext>
                  </a:extLst>
                </a:gridCol>
                <a:gridCol w="1261153">
                  <a:extLst>
                    <a:ext uri="{9D8B030D-6E8A-4147-A177-3AD203B41FA5}">
                      <a16:colId xmlns:a16="http://schemas.microsoft.com/office/drawing/2014/main" val="594799768"/>
                    </a:ext>
                  </a:extLst>
                </a:gridCol>
                <a:gridCol w="849000">
                  <a:extLst>
                    <a:ext uri="{9D8B030D-6E8A-4147-A177-3AD203B41FA5}">
                      <a16:colId xmlns:a16="http://schemas.microsoft.com/office/drawing/2014/main" val="572290805"/>
                    </a:ext>
                  </a:extLst>
                </a:gridCol>
                <a:gridCol w="953526">
                  <a:extLst>
                    <a:ext uri="{9D8B030D-6E8A-4147-A177-3AD203B41FA5}">
                      <a16:colId xmlns:a16="http://schemas.microsoft.com/office/drawing/2014/main" val="592816894"/>
                    </a:ext>
                  </a:extLst>
                </a:gridCol>
              </a:tblGrid>
              <a:tr h="74490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8611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51874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749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14407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904646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49400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13133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08502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8695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94573"/>
                  </a:ext>
                </a:extLst>
              </a:tr>
              <a:tr h="29796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558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C7A39-9E63-B17F-FE82-CE2133905204}"/>
                  </a:ext>
                </a:extLst>
              </p:cNvPr>
              <p:cNvSpPr txBox="1"/>
              <p:nvPr/>
            </p:nvSpPr>
            <p:spPr>
              <a:xfrm>
                <a:off x="5990254" y="1654170"/>
                <a:ext cx="5610887" cy="5459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dirty="0"/>
                  <a:t>Group: High</a:t>
                </a:r>
              </a:p>
              <a:p>
                <a:r>
                  <a:rPr lang="en-US" dirty="0"/>
                  <a:t>	Rows : 1,4,7,9</a:t>
                </a:r>
              </a:p>
              <a:p>
                <a:r>
                  <a:rPr lang="en-US" dirty="0"/>
                  <a:t>	Approved : Yes, Yes, Yes, Yes</a:t>
                </a:r>
              </a:p>
              <a:p>
                <a:r>
                  <a:rPr lang="en-US" dirty="0"/>
                  <a:t>	Gini= 1- (1</a:t>
                </a:r>
                <a:r>
                  <a:rPr lang="en-US" baseline="30000" dirty="0"/>
                  <a:t>2</a:t>
                </a:r>
                <a:r>
                  <a:rPr lang="en-US" dirty="0"/>
                  <a:t> + 0</a:t>
                </a:r>
                <a:r>
                  <a:rPr lang="en-US" baseline="30000" dirty="0"/>
                  <a:t>2</a:t>
                </a:r>
                <a:r>
                  <a:rPr lang="en-US" dirty="0"/>
                  <a:t>) =0</a:t>
                </a:r>
              </a:p>
              <a:p>
                <a:r>
                  <a:rPr lang="en-US" dirty="0"/>
                  <a:t>2. Group: Medium</a:t>
                </a:r>
              </a:p>
              <a:p>
                <a:r>
                  <a:rPr lang="en-US" dirty="0"/>
                  <a:t>	Rows: 2, 5, 8</a:t>
                </a:r>
              </a:p>
              <a:p>
                <a:r>
                  <a:rPr lang="en-US" dirty="0"/>
                  <a:t>	Approved: No, Yes, No</a:t>
                </a:r>
              </a:p>
              <a:p>
                <a:r>
                  <a:rPr lang="en-US" dirty="0"/>
                  <a:t>	Yes = 1, No = 2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=1 −((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	Gini = 1 – (0.111 + 0.444) = 0.445</a:t>
                </a:r>
              </a:p>
              <a:p>
                <a:r>
                  <a:rPr lang="en-US" dirty="0"/>
                  <a:t>3. Group: Low</a:t>
                </a:r>
              </a:p>
              <a:p>
                <a:r>
                  <a:rPr lang="en-US" dirty="0"/>
                  <a:t>	Rows: 3,6,10</a:t>
                </a:r>
              </a:p>
              <a:p>
                <a:r>
                  <a:rPr lang="en-US" dirty="0"/>
                  <a:t>	Approved: No, No, No</a:t>
                </a:r>
              </a:p>
              <a:p>
                <a:r>
                  <a:rPr lang="en-US" dirty="0"/>
                  <a:t>	Yes= 0, No=3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=1 −((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)=0</a:t>
                </a:r>
              </a:p>
              <a:p>
                <a:r>
                  <a:rPr lang="en-US" dirty="0"/>
                  <a:t>Weighted Gini for Income: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0.445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=0.1333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C7A39-9E63-B17F-FE82-CE2133905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254" y="1654170"/>
                <a:ext cx="5610887" cy="5459893"/>
              </a:xfrm>
              <a:prstGeom prst="rect">
                <a:avLst/>
              </a:prstGeom>
              <a:blipFill>
                <a:blip r:embed="rId2"/>
                <a:stretch>
                  <a:fillRect l="-978" t="-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273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AACC9-DA1C-E034-0BDD-DD314C51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8C4F-F919-13CF-7713-4FFF8AC8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756" y="0"/>
            <a:ext cx="10515600" cy="1325563"/>
          </a:xfrm>
        </p:spPr>
        <p:txBody>
          <a:bodyPr/>
          <a:lstStyle/>
          <a:p>
            <a:r>
              <a:rPr lang="en-US" dirty="0"/>
              <a:t>Gini Index calculation -3</a:t>
            </a:r>
            <a:br>
              <a:rPr lang="en-US" dirty="0"/>
            </a:br>
            <a:r>
              <a:rPr lang="en-US" dirty="0"/>
              <a:t>Step 2: Splitting on </a:t>
            </a:r>
            <a:r>
              <a:rPr lang="en-US" dirty="0" err="1"/>
              <a:t>CreditScore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DAA6C-DCEB-6D68-001F-3DE13147C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291" y="1231301"/>
            <a:ext cx="10515600" cy="845377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CreditScore</a:t>
            </a:r>
            <a:r>
              <a:rPr lang="en-US" dirty="0"/>
              <a:t> has four categories: Excellent, Good, Poor, and Fair.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7DFBDE-80AE-473C-3625-B2F0F9A03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17101"/>
              </p:ext>
            </p:extLst>
          </p:nvPr>
        </p:nvGraphicFramePr>
        <p:xfrm>
          <a:off x="483359" y="1607615"/>
          <a:ext cx="4740394" cy="506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577">
                  <a:extLst>
                    <a:ext uri="{9D8B030D-6E8A-4147-A177-3AD203B41FA5}">
                      <a16:colId xmlns:a16="http://schemas.microsoft.com/office/drawing/2014/main" val="2980150474"/>
                    </a:ext>
                  </a:extLst>
                </a:gridCol>
                <a:gridCol w="1006575">
                  <a:extLst>
                    <a:ext uri="{9D8B030D-6E8A-4147-A177-3AD203B41FA5}">
                      <a16:colId xmlns:a16="http://schemas.microsoft.com/office/drawing/2014/main" val="1480102742"/>
                    </a:ext>
                  </a:extLst>
                </a:gridCol>
                <a:gridCol w="1240678">
                  <a:extLst>
                    <a:ext uri="{9D8B030D-6E8A-4147-A177-3AD203B41FA5}">
                      <a16:colId xmlns:a16="http://schemas.microsoft.com/office/drawing/2014/main" val="594799768"/>
                    </a:ext>
                  </a:extLst>
                </a:gridCol>
                <a:gridCol w="1043486">
                  <a:extLst>
                    <a:ext uri="{9D8B030D-6E8A-4147-A177-3AD203B41FA5}">
                      <a16:colId xmlns:a16="http://schemas.microsoft.com/office/drawing/2014/main" val="572290805"/>
                    </a:ext>
                  </a:extLst>
                </a:gridCol>
                <a:gridCol w="948078">
                  <a:extLst>
                    <a:ext uri="{9D8B030D-6E8A-4147-A177-3AD203B41FA5}">
                      <a16:colId xmlns:a16="http://schemas.microsoft.com/office/drawing/2014/main" val="592816894"/>
                    </a:ext>
                  </a:extLst>
                </a:gridCol>
              </a:tblGrid>
              <a:tr h="769825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8611"/>
                  </a:ext>
                </a:extLst>
              </a:tr>
              <a:tr h="350311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51874"/>
                  </a:ext>
                </a:extLst>
              </a:tr>
              <a:tr h="613044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749"/>
                  </a:ext>
                </a:extLst>
              </a:tr>
              <a:tr h="350311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14407"/>
                  </a:ext>
                </a:extLst>
              </a:tr>
              <a:tr h="350311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904646"/>
                  </a:ext>
                </a:extLst>
              </a:tr>
              <a:tr h="613044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49400"/>
                  </a:ext>
                </a:extLst>
              </a:tr>
              <a:tr h="350311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13133"/>
                  </a:ext>
                </a:extLst>
              </a:tr>
              <a:tr h="350311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08502"/>
                  </a:ext>
                </a:extLst>
              </a:tr>
              <a:tr h="613044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8695"/>
                  </a:ext>
                </a:extLst>
              </a:tr>
              <a:tr h="350311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94573"/>
                  </a:ext>
                </a:extLst>
              </a:tr>
              <a:tr h="350311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558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9A3C69-1776-2484-4C18-A2663737E272}"/>
                  </a:ext>
                </a:extLst>
              </p:cNvPr>
              <p:cNvSpPr txBox="1"/>
              <p:nvPr/>
            </p:nvSpPr>
            <p:spPr>
              <a:xfrm>
                <a:off x="5362134" y="1653989"/>
                <a:ext cx="5610887" cy="5470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dirty="0"/>
                  <a:t>Group: Excellent</a:t>
                </a:r>
              </a:p>
              <a:p>
                <a:r>
                  <a:rPr lang="en-US" dirty="0"/>
                  <a:t>	Rows : 1,5,7</a:t>
                </a:r>
              </a:p>
              <a:p>
                <a:r>
                  <a:rPr lang="en-US" dirty="0"/>
                  <a:t>	Approved : Yes, Yes, Yes</a:t>
                </a:r>
              </a:p>
              <a:p>
                <a:r>
                  <a:rPr lang="en-US" dirty="0"/>
                  <a:t>	Gini= 1- (1</a:t>
                </a:r>
                <a:r>
                  <a:rPr lang="en-US" baseline="30000" dirty="0"/>
                  <a:t>2</a:t>
                </a:r>
                <a:r>
                  <a:rPr lang="en-US" dirty="0"/>
                  <a:t> + 0</a:t>
                </a:r>
                <a:r>
                  <a:rPr lang="en-US" baseline="30000" dirty="0"/>
                  <a:t>2</a:t>
                </a:r>
                <a:r>
                  <a:rPr lang="en-US" dirty="0"/>
                  <a:t>) =0</a:t>
                </a:r>
              </a:p>
              <a:p>
                <a:r>
                  <a:rPr lang="en-US" dirty="0"/>
                  <a:t>2. Group: Good</a:t>
                </a:r>
              </a:p>
              <a:p>
                <a:r>
                  <a:rPr lang="en-US" dirty="0"/>
                  <a:t>	Rows: 2, 4, 9, 10</a:t>
                </a:r>
              </a:p>
              <a:p>
                <a:r>
                  <a:rPr lang="en-US" dirty="0"/>
                  <a:t>	Approved: No, Yes, Yes, No</a:t>
                </a:r>
              </a:p>
              <a:p>
                <a:r>
                  <a:rPr lang="en-US" dirty="0"/>
                  <a:t>	Yes = 2, No = 2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=1 −((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= 0.5</a:t>
                </a:r>
              </a:p>
              <a:p>
                <a:r>
                  <a:rPr lang="en-US" dirty="0"/>
                  <a:t>3. Group: Poor</a:t>
                </a:r>
              </a:p>
              <a:p>
                <a:r>
                  <a:rPr lang="en-US" dirty="0"/>
                  <a:t>	Rows: 3,8</a:t>
                </a:r>
              </a:p>
              <a:p>
                <a:r>
                  <a:rPr lang="en-US" dirty="0"/>
                  <a:t>	Approved: No, No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=1 −((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)=0</a:t>
                </a:r>
              </a:p>
              <a:p>
                <a:r>
                  <a:rPr lang="en-US" dirty="0"/>
                  <a:t>4. Group: Fair</a:t>
                </a:r>
              </a:p>
              <a:p>
                <a:r>
                  <a:rPr lang="en-US" dirty="0"/>
                  <a:t>	Rows: 6</a:t>
                </a:r>
              </a:p>
              <a:p>
                <a:r>
                  <a:rPr lang="en-US" dirty="0"/>
                  <a:t>	Approved: No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=1 −((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)=0</a:t>
                </a:r>
              </a:p>
              <a:p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9A3C69-1776-2484-4C18-A2663737E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134" y="1653989"/>
                <a:ext cx="5610887" cy="5470024"/>
              </a:xfrm>
              <a:prstGeom prst="rect">
                <a:avLst/>
              </a:prstGeom>
              <a:blipFill>
                <a:blip r:embed="rId2"/>
                <a:stretch>
                  <a:fillRect l="-978" t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DD3099-9B1D-B6A0-A17B-683F4E09FCF4}"/>
                  </a:ext>
                </a:extLst>
              </p:cNvPr>
              <p:cNvSpPr txBox="1"/>
              <p:nvPr/>
            </p:nvSpPr>
            <p:spPr>
              <a:xfrm>
                <a:off x="8518599" y="4618073"/>
                <a:ext cx="3567932" cy="1957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Weighted Gini for </a:t>
                </a:r>
                <a:r>
                  <a:rPr lang="en-US" dirty="0" err="1"/>
                  <a:t>CreditScore</a:t>
                </a:r>
                <a:r>
                  <a:rPr lang="en-US" dirty="0"/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0)=0.2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DD3099-9B1D-B6A0-A17B-683F4E09F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599" y="4618073"/>
                <a:ext cx="3567932" cy="1957780"/>
              </a:xfrm>
              <a:prstGeom prst="rect">
                <a:avLst/>
              </a:prstGeom>
              <a:blipFill>
                <a:blip r:embed="rId3"/>
                <a:stretch>
                  <a:fillRect l="-1365" t="-1869" r="-2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878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43D1-AF2D-575F-D0B6-B6AA13CB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77F3-7D0A-6E42-5937-F7F5D1CA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109" y="38911"/>
            <a:ext cx="10515600" cy="1325563"/>
          </a:xfrm>
        </p:spPr>
        <p:txBody>
          <a:bodyPr/>
          <a:lstStyle/>
          <a:p>
            <a:r>
              <a:rPr lang="en-US" dirty="0"/>
              <a:t>Gini Index calculation -4</a:t>
            </a:r>
            <a:br>
              <a:rPr lang="en-US" dirty="0"/>
            </a:br>
            <a:r>
              <a:rPr lang="en-US" dirty="0"/>
              <a:t>Step 2: Splitting on </a:t>
            </a:r>
            <a:r>
              <a:rPr lang="en-US" dirty="0" err="1"/>
              <a:t>LoanAmount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69A5-9CFF-F5BE-F306-B15AB2CAF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291" y="1231301"/>
            <a:ext cx="11825418" cy="84537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We divide the data into splits based on Loan Amount thresholds (e.g., ≤40K and &gt;40K)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93B802-3D45-FFFC-D6AF-413299897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759791"/>
              </p:ext>
            </p:extLst>
          </p:nvPr>
        </p:nvGraphicFramePr>
        <p:xfrm>
          <a:off x="484234" y="1653989"/>
          <a:ext cx="4827068" cy="501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749">
                  <a:extLst>
                    <a:ext uri="{9D8B030D-6E8A-4147-A177-3AD203B41FA5}">
                      <a16:colId xmlns:a16="http://schemas.microsoft.com/office/drawing/2014/main" val="2980150474"/>
                    </a:ext>
                  </a:extLst>
                </a:gridCol>
                <a:gridCol w="1077727">
                  <a:extLst>
                    <a:ext uri="{9D8B030D-6E8A-4147-A177-3AD203B41FA5}">
                      <a16:colId xmlns:a16="http://schemas.microsoft.com/office/drawing/2014/main" val="1480102742"/>
                    </a:ext>
                  </a:extLst>
                </a:gridCol>
                <a:gridCol w="1210613">
                  <a:extLst>
                    <a:ext uri="{9D8B030D-6E8A-4147-A177-3AD203B41FA5}">
                      <a16:colId xmlns:a16="http://schemas.microsoft.com/office/drawing/2014/main" val="594799768"/>
                    </a:ext>
                  </a:extLst>
                </a:gridCol>
                <a:gridCol w="1062566">
                  <a:extLst>
                    <a:ext uri="{9D8B030D-6E8A-4147-A177-3AD203B41FA5}">
                      <a16:colId xmlns:a16="http://schemas.microsoft.com/office/drawing/2014/main" val="572290805"/>
                    </a:ext>
                  </a:extLst>
                </a:gridCol>
                <a:gridCol w="965413">
                  <a:extLst>
                    <a:ext uri="{9D8B030D-6E8A-4147-A177-3AD203B41FA5}">
                      <a16:colId xmlns:a16="http://schemas.microsoft.com/office/drawing/2014/main" val="592816894"/>
                    </a:ext>
                  </a:extLst>
                </a:gridCol>
              </a:tblGrid>
              <a:tr h="722402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CreditScore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LoanAmount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8611"/>
                  </a:ext>
                </a:extLst>
              </a:tr>
              <a:tr h="350149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51874"/>
                  </a:ext>
                </a:extLst>
              </a:tr>
              <a:tr h="61276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749"/>
                  </a:ext>
                </a:extLst>
              </a:tr>
              <a:tr h="350149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14407"/>
                  </a:ext>
                </a:extLst>
              </a:tr>
              <a:tr h="350149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904646"/>
                  </a:ext>
                </a:extLst>
              </a:tr>
              <a:tr h="6127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49400"/>
                  </a:ext>
                </a:extLst>
              </a:tr>
              <a:tr h="350149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13133"/>
                  </a:ext>
                </a:extLst>
              </a:tr>
              <a:tr h="350149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08502"/>
                  </a:ext>
                </a:extLst>
              </a:tr>
              <a:tr h="61276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8695"/>
                  </a:ext>
                </a:extLst>
              </a:tr>
              <a:tr h="350149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94573"/>
                  </a:ext>
                </a:extLst>
              </a:tr>
              <a:tr h="350149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558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35C6BA-1743-32E1-E28D-B1BB75E78AC3}"/>
                  </a:ext>
                </a:extLst>
              </p:cNvPr>
              <p:cNvSpPr txBox="1"/>
              <p:nvPr/>
            </p:nvSpPr>
            <p:spPr>
              <a:xfrm>
                <a:off x="5573335" y="1799162"/>
                <a:ext cx="5610887" cy="3259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dirty="0"/>
                  <a:t>Group: &lt;= 40K</a:t>
                </a:r>
              </a:p>
              <a:p>
                <a:r>
                  <a:rPr lang="en-US" dirty="0"/>
                  <a:t>       Rows: 2,3,4,6,8,10</a:t>
                </a:r>
              </a:p>
              <a:p>
                <a:r>
                  <a:rPr lang="en-US" dirty="0"/>
                  <a:t>       Approved: No, No, Yes, No, No, No</a:t>
                </a:r>
              </a:p>
              <a:p>
                <a:r>
                  <a:rPr lang="en-US" dirty="0"/>
                  <a:t>       Yes = 1, No =5</a:t>
                </a:r>
              </a:p>
              <a:p>
                <a:r>
                  <a:rPr lang="en-US" dirty="0"/>
                  <a:t>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0.278</a:t>
                </a:r>
              </a:p>
              <a:p>
                <a:r>
                  <a:rPr lang="en-US" dirty="0"/>
                  <a:t>2. Group: &gt;40K</a:t>
                </a:r>
              </a:p>
              <a:p>
                <a:r>
                  <a:rPr lang="en-US" dirty="0"/>
                  <a:t>        Rows: 1, 5, 7, 9</a:t>
                </a:r>
              </a:p>
              <a:p>
                <a:r>
                  <a:rPr lang="en-US" dirty="0"/>
                  <a:t>         Approved: Yes, Yes, Yes, Yes</a:t>
                </a:r>
              </a:p>
              <a:p>
                <a:endParaRPr lang="en-US" dirty="0"/>
              </a:p>
              <a:p>
                <a:r>
                  <a:rPr lang="en-US" dirty="0"/>
                  <a:t>        </a:t>
                </a:r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35C6BA-1743-32E1-E28D-B1BB75E78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335" y="1799162"/>
                <a:ext cx="5610887" cy="3259675"/>
              </a:xfrm>
              <a:prstGeom prst="rect">
                <a:avLst/>
              </a:prstGeom>
              <a:blipFill>
                <a:blip r:embed="rId2"/>
                <a:stretch>
                  <a:fillRect l="-869" t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161E72-B7B9-6163-F0C7-9746D12E984B}"/>
                  </a:ext>
                </a:extLst>
              </p:cNvPr>
              <p:cNvSpPr txBox="1"/>
              <p:nvPr/>
            </p:nvSpPr>
            <p:spPr>
              <a:xfrm>
                <a:off x="5475444" y="4967005"/>
                <a:ext cx="4516227" cy="116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Weighted Gini for </a:t>
                </a:r>
                <a:r>
                  <a:rPr lang="en-US" dirty="0" err="1"/>
                  <a:t>LoanAmount</a:t>
                </a:r>
                <a:r>
                  <a:rPr lang="en-US" dirty="0"/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0.278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=0.1668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161E72-B7B9-6163-F0C7-9746D12E9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444" y="4967005"/>
                <a:ext cx="4516227" cy="1166730"/>
              </a:xfrm>
              <a:prstGeom prst="rect">
                <a:avLst/>
              </a:prstGeom>
              <a:blipFill>
                <a:blip r:embed="rId3"/>
                <a:stretch>
                  <a:fillRect l="-1080" t="-3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6773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2AF2-1E00-B31B-0924-CFACFCE54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353" y="144204"/>
            <a:ext cx="10515600" cy="1325563"/>
          </a:xfrm>
        </p:spPr>
        <p:txBody>
          <a:bodyPr/>
          <a:lstStyle/>
          <a:p>
            <a:r>
              <a:rPr lang="en-US" dirty="0"/>
              <a:t>Gini Index calculation -4</a:t>
            </a:r>
            <a:br>
              <a:rPr lang="en-US" dirty="0"/>
            </a:br>
            <a:r>
              <a:rPr lang="en-US" dirty="0"/>
              <a:t>Step 3: Selection the Best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D7FFA-C8B6-4775-057B-90687601A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Gini for Income: 0.1333</a:t>
            </a:r>
          </a:p>
          <a:p>
            <a:r>
              <a:rPr lang="en-US" dirty="0"/>
              <a:t>Gini for </a:t>
            </a:r>
            <a:r>
              <a:rPr lang="en-US" dirty="0" err="1"/>
              <a:t>CreditScore</a:t>
            </a:r>
            <a:r>
              <a:rPr lang="en-US" dirty="0"/>
              <a:t>: 0.2</a:t>
            </a:r>
          </a:p>
          <a:p>
            <a:r>
              <a:rPr lang="en-US" dirty="0"/>
              <a:t>Gini for </a:t>
            </a:r>
            <a:r>
              <a:rPr lang="en-US" dirty="0" err="1"/>
              <a:t>LoanAmount</a:t>
            </a:r>
            <a:r>
              <a:rPr lang="en-US" dirty="0"/>
              <a:t>: 0.1668</a:t>
            </a:r>
          </a:p>
          <a:p>
            <a:endParaRPr lang="en-US" dirty="0"/>
          </a:p>
          <a:p>
            <a:r>
              <a:rPr lang="en-US" dirty="0"/>
              <a:t>The best split is on Income.</a:t>
            </a:r>
          </a:p>
        </p:txBody>
      </p:sp>
    </p:spTree>
    <p:extLst>
      <p:ext uri="{BB962C8B-B14F-4D97-AF65-F5344CB8AC3E}">
        <p14:creationId xmlns:p14="http://schemas.microsoft.com/office/powerpoint/2010/main" val="594874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D207A-0412-E452-312B-03DD84C6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974" y="89259"/>
            <a:ext cx="10515600" cy="1325563"/>
          </a:xfrm>
        </p:spPr>
        <p:txBody>
          <a:bodyPr/>
          <a:lstStyle/>
          <a:p>
            <a:r>
              <a:rPr lang="en-US" dirty="0"/>
              <a:t>Gini Index calculation -5</a:t>
            </a:r>
            <a:br>
              <a:rPr lang="en-US" dirty="0"/>
            </a:br>
            <a:r>
              <a:rPr lang="en-US" dirty="0"/>
              <a:t>Step 4: Splitting on Income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7C46-CC16-5434-0E8A-52BEF68D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029" y="1807077"/>
            <a:ext cx="10222989" cy="4557631"/>
          </a:xfrm>
        </p:spPr>
        <p:txBody>
          <a:bodyPr>
            <a:normAutofit/>
          </a:bodyPr>
          <a:lstStyle/>
          <a:p>
            <a:r>
              <a:rPr lang="en-US" dirty="0"/>
              <a:t>We now split the dataset into groups based on Income and repeat the process for each group until all groups are pure or meet a stopping criterion.</a:t>
            </a:r>
          </a:p>
          <a:p>
            <a:endParaRPr lang="en-US" dirty="0"/>
          </a:p>
          <a:p>
            <a:r>
              <a:rPr lang="en-US" dirty="0"/>
              <a:t>Group: High</a:t>
            </a:r>
          </a:p>
          <a:p>
            <a:pPr lvl="1"/>
            <a:r>
              <a:rPr lang="en-US" dirty="0"/>
              <a:t>All approvals are Yes, so this is a leaf node.</a:t>
            </a:r>
          </a:p>
          <a:p>
            <a:r>
              <a:rPr lang="en-US" dirty="0"/>
              <a:t>Group: Medium</a:t>
            </a:r>
          </a:p>
          <a:p>
            <a:pPr lvl="1"/>
            <a:r>
              <a:rPr lang="en-US" dirty="0"/>
              <a:t>Split further based on the next best feature (e.g., </a:t>
            </a:r>
            <a:r>
              <a:rPr lang="en-US" dirty="0" err="1"/>
              <a:t>CreditScore</a:t>
            </a:r>
            <a:r>
              <a:rPr lang="en-US" dirty="0"/>
              <a:t>).</a:t>
            </a:r>
          </a:p>
          <a:p>
            <a:r>
              <a:rPr lang="en-US" dirty="0"/>
              <a:t>Group: Low</a:t>
            </a:r>
          </a:p>
          <a:p>
            <a:pPr lvl="1"/>
            <a:r>
              <a:rPr lang="en-US" dirty="0"/>
              <a:t>All approvals are No, so this is a leaf node.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7EA411-49EF-7183-BBBD-B5A2AE2542D7}"/>
              </a:ext>
            </a:extLst>
          </p:cNvPr>
          <p:cNvGrpSpPr/>
          <p:nvPr/>
        </p:nvGrpSpPr>
        <p:grpSpPr>
          <a:xfrm>
            <a:off x="7277877" y="2390540"/>
            <a:ext cx="4777598" cy="3974169"/>
            <a:chOff x="5576224" y="1485062"/>
            <a:chExt cx="5658158" cy="39741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58C8FE-696E-CC03-66CD-BAA960AD62EA}"/>
                </a:ext>
              </a:extLst>
            </p:cNvPr>
            <p:cNvSpPr/>
            <p:nvPr/>
          </p:nvSpPr>
          <p:spPr>
            <a:xfrm>
              <a:off x="5576224" y="2708737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2F4DFF0-87CB-711F-01EB-D488AD79EEA2}"/>
                </a:ext>
              </a:extLst>
            </p:cNvPr>
            <p:cNvSpPr/>
            <p:nvPr/>
          </p:nvSpPr>
          <p:spPr>
            <a:xfrm>
              <a:off x="6550927" y="1485062"/>
              <a:ext cx="1492063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Income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8B91A8F-D339-A066-E260-15DCB0C93785}"/>
                </a:ext>
              </a:extLst>
            </p:cNvPr>
            <p:cNvSpPr/>
            <p:nvPr/>
          </p:nvSpPr>
          <p:spPr>
            <a:xfrm>
              <a:off x="8521959" y="2490935"/>
              <a:ext cx="1362270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?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186664-37E6-E3E4-D6BF-04C7B4F2EB5B}"/>
                </a:ext>
              </a:extLst>
            </p:cNvPr>
            <p:cNvSpPr/>
            <p:nvPr/>
          </p:nvSpPr>
          <p:spPr>
            <a:xfrm>
              <a:off x="7328875" y="3741203"/>
              <a:ext cx="1723053" cy="5863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?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40E8A2-2EF3-2FD8-F8FB-A7A82363FC82}"/>
                </a:ext>
              </a:extLst>
            </p:cNvPr>
            <p:cNvSpPr/>
            <p:nvPr/>
          </p:nvSpPr>
          <p:spPr>
            <a:xfrm>
              <a:off x="6680718" y="5090699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97C0C3-86C2-432C-F40E-E0D808EB30F4}"/>
                </a:ext>
              </a:extLst>
            </p:cNvPr>
            <p:cNvSpPr/>
            <p:nvPr/>
          </p:nvSpPr>
          <p:spPr>
            <a:xfrm>
              <a:off x="8715743" y="5090699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FE4BEA-E8D1-3E05-D190-224CF0818EE0}"/>
                </a:ext>
              </a:extLst>
            </p:cNvPr>
            <p:cNvSpPr/>
            <p:nvPr/>
          </p:nvSpPr>
          <p:spPr>
            <a:xfrm>
              <a:off x="10259681" y="3758487"/>
              <a:ext cx="974701" cy="3685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?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2502150-A330-40F3-4901-792DEF6AF9E8}"/>
                </a:ext>
              </a:extLst>
            </p:cNvPr>
            <p:cNvCxnSpPr>
              <a:cxnSpLocks/>
              <a:stCxn id="6" idx="3"/>
              <a:endCxn id="5" idx="0"/>
            </p:cNvCxnSpPr>
            <p:nvPr/>
          </p:nvCxnSpPr>
          <p:spPr>
            <a:xfrm flipH="1">
              <a:off x="6063575" y="1985529"/>
              <a:ext cx="705860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A3DF569-036F-403B-1E4D-9873CA48F8A3}"/>
                </a:ext>
              </a:extLst>
            </p:cNvPr>
            <p:cNvCxnSpPr/>
            <p:nvPr/>
          </p:nvCxnSpPr>
          <p:spPr>
            <a:xfrm flipH="1">
              <a:off x="8240281" y="3017628"/>
              <a:ext cx="816643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DEF4BF4-BEDB-AF0D-58F3-C4A7B628B158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9400393" y="3043465"/>
              <a:ext cx="1346639" cy="7150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CF6C84D-7901-594C-2F84-B924CA6F80FB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8569496" y="4324313"/>
              <a:ext cx="633598" cy="7663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EAA05A5-7DFB-1090-AC0C-724EB3459BC3}"/>
                </a:ext>
              </a:extLst>
            </p:cNvPr>
            <p:cNvCxnSpPr/>
            <p:nvPr/>
          </p:nvCxnSpPr>
          <p:spPr>
            <a:xfrm flipH="1">
              <a:off x="7071718" y="4327075"/>
              <a:ext cx="816643" cy="72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2C66C5F-6113-E59A-E254-3838096D9C53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7888361" y="1985529"/>
              <a:ext cx="1314734" cy="505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F9425B7-6A5B-CA9D-3684-401B0490C995}"/>
                </a:ext>
              </a:extLst>
            </p:cNvPr>
            <p:cNvSpPr txBox="1"/>
            <p:nvPr/>
          </p:nvSpPr>
          <p:spPr>
            <a:xfrm>
              <a:off x="8220168" y="1770601"/>
              <a:ext cx="11802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Medium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0C056F-FC2A-F66C-69D1-92B3B48F68A8}"/>
                </a:ext>
              </a:extLst>
            </p:cNvPr>
            <p:cNvSpPr txBox="1"/>
            <p:nvPr/>
          </p:nvSpPr>
          <p:spPr>
            <a:xfrm>
              <a:off x="5724858" y="2243058"/>
              <a:ext cx="797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Low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AA845E-7CB7-AC15-6049-85A2BDF49257}"/>
                </a:ext>
              </a:extLst>
            </p:cNvPr>
            <p:cNvSpPr txBox="1"/>
            <p:nvPr/>
          </p:nvSpPr>
          <p:spPr>
            <a:xfrm>
              <a:off x="7352895" y="3155326"/>
              <a:ext cx="16661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Excellent, Fair, Poor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329E596-BB80-4370-F37E-D7DB0F9A2698}"/>
              </a:ext>
            </a:extLst>
          </p:cNvPr>
          <p:cNvSpPr/>
          <p:nvPr/>
        </p:nvSpPr>
        <p:spPr>
          <a:xfrm>
            <a:off x="8390905" y="3598699"/>
            <a:ext cx="974701" cy="368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EA05D0-F4AA-D35D-80ED-B32DC30598D0}"/>
              </a:ext>
            </a:extLst>
          </p:cNvPr>
          <p:cNvSpPr txBox="1"/>
          <p:nvPr/>
        </p:nvSpPr>
        <p:spPr>
          <a:xfrm>
            <a:off x="8826389" y="3140957"/>
            <a:ext cx="655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High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BF9F11-1717-14B7-35C3-E6C6B26470C0}"/>
              </a:ext>
            </a:extLst>
          </p:cNvPr>
          <p:cNvCxnSpPr>
            <a:cxnSpLocks/>
            <a:stCxn id="6" idx="4"/>
            <a:endCxn id="26" idx="0"/>
          </p:cNvCxnSpPr>
          <p:nvPr/>
        </p:nvCxnSpPr>
        <p:spPr>
          <a:xfrm>
            <a:off x="8730819" y="2976874"/>
            <a:ext cx="147437" cy="621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984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7D23-90BE-0C61-238D-81541D29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Gini Index calculation -5</a:t>
            </a:r>
            <a:br>
              <a:rPr lang="en-US" dirty="0"/>
            </a:br>
            <a:r>
              <a:rPr lang="en-US" dirty="0"/>
              <a:t>Step 5: Repeat the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EF0B8-6E10-B019-34B4-28229A540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Medium, repeat the Gini calculations to find the next best split (likely </a:t>
            </a:r>
            <a:r>
              <a:rPr lang="en-US" dirty="0" err="1"/>
              <a:t>CreditScore</a:t>
            </a:r>
            <a:r>
              <a:rPr lang="en-US" dirty="0"/>
              <a:t> or </a:t>
            </a:r>
            <a:r>
              <a:rPr lang="en-US" dirty="0" err="1"/>
              <a:t>LoanAmount</a:t>
            </a:r>
            <a:r>
              <a:rPr lang="en-US" dirty="0"/>
              <a:t>), and continue until all nodes are pure.</a:t>
            </a:r>
          </a:p>
        </p:txBody>
      </p:sp>
    </p:spTree>
    <p:extLst>
      <p:ext uri="{BB962C8B-B14F-4D97-AF65-F5344CB8AC3E}">
        <p14:creationId xmlns:p14="http://schemas.microsoft.com/office/powerpoint/2010/main" val="1961163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F355C5-4231-AAD7-5D19-F7338282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866" y="244541"/>
            <a:ext cx="10515600" cy="1325563"/>
          </a:xfrm>
        </p:spPr>
        <p:txBody>
          <a:bodyPr/>
          <a:lstStyle/>
          <a:p>
            <a:r>
              <a:rPr lang="en-US" dirty="0"/>
              <a:t>Decision Tree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C27356-9BED-D7A0-C03D-BBBB7AB65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82491"/>
              </p:ext>
            </p:extLst>
          </p:nvPr>
        </p:nvGraphicFramePr>
        <p:xfrm>
          <a:off x="1147864" y="1750978"/>
          <a:ext cx="5907844" cy="391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17">
                  <a:extLst>
                    <a:ext uri="{9D8B030D-6E8A-4147-A177-3AD203B41FA5}">
                      <a16:colId xmlns:a16="http://schemas.microsoft.com/office/drawing/2014/main" val="98339231"/>
                    </a:ext>
                  </a:extLst>
                </a:gridCol>
                <a:gridCol w="1048494">
                  <a:extLst>
                    <a:ext uri="{9D8B030D-6E8A-4147-A177-3AD203B41FA5}">
                      <a16:colId xmlns:a16="http://schemas.microsoft.com/office/drawing/2014/main" val="4177718755"/>
                    </a:ext>
                  </a:extLst>
                </a:gridCol>
                <a:gridCol w="1267033">
                  <a:extLst>
                    <a:ext uri="{9D8B030D-6E8A-4147-A177-3AD203B41FA5}">
                      <a16:colId xmlns:a16="http://schemas.microsoft.com/office/drawing/2014/main" val="2287607387"/>
                    </a:ext>
                  </a:extLst>
                </a:gridCol>
                <a:gridCol w="949783">
                  <a:extLst>
                    <a:ext uri="{9D8B030D-6E8A-4147-A177-3AD203B41FA5}">
                      <a16:colId xmlns:a16="http://schemas.microsoft.com/office/drawing/2014/main" val="1775234905"/>
                    </a:ext>
                  </a:extLst>
                </a:gridCol>
                <a:gridCol w="1038509">
                  <a:extLst>
                    <a:ext uri="{9D8B030D-6E8A-4147-A177-3AD203B41FA5}">
                      <a16:colId xmlns:a16="http://schemas.microsoft.com/office/drawing/2014/main" val="2538107804"/>
                    </a:ext>
                  </a:extLst>
                </a:gridCol>
                <a:gridCol w="949408">
                  <a:extLst>
                    <a:ext uri="{9D8B030D-6E8A-4147-A177-3AD203B41FA5}">
                      <a16:colId xmlns:a16="http://schemas.microsoft.com/office/drawing/2014/main" val="1671698251"/>
                    </a:ext>
                  </a:extLst>
                </a:gridCol>
              </a:tblGrid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619005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38949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129651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627281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40407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179346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94822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656335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17816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71304"/>
                  </a:ext>
                </a:extLst>
              </a:tr>
              <a:tr h="339584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856551"/>
                  </a:ext>
                </a:extLst>
              </a:tr>
            </a:tbl>
          </a:graphicData>
        </a:graphic>
      </p:graphicFrame>
      <p:sp>
        <p:nvSpPr>
          <p:cNvPr id="10" name="AutoShape 10" descr="decision tree">
            <a:extLst>
              <a:ext uri="{FF2B5EF4-FFF2-40B4-BE49-F238E27FC236}">
                <a16:creationId xmlns:a16="http://schemas.microsoft.com/office/drawing/2014/main" id="{BE8A280A-9C93-8C1B-419B-95604C26B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3991B8-3668-D9D6-D63A-75D918C1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752" y="2243974"/>
            <a:ext cx="4797714" cy="26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66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A77C-EDC9-1259-320D-73443109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35223"/>
            <a:ext cx="10515600" cy="1325563"/>
          </a:xfrm>
        </p:spPr>
        <p:txBody>
          <a:bodyPr/>
          <a:lstStyle/>
          <a:p>
            <a:r>
              <a:rPr lang="en-US" dirty="0"/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1017E-7562-18F0-C00C-A54B79CBF0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0786"/>
                <a:ext cx="10515600" cy="46161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Entropy is a measure of impurity or randomness in a dataset. It is used in decision tree algorithms to determine the best feature for splitting the data. The formula for entropy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00050" lvl="1" indent="0">
                  <a:buNone/>
                </a:pPr>
                <a:r>
                  <a:rPr lang="en-US" dirty="0"/>
                  <a:t>where,</a:t>
                </a:r>
              </a:p>
              <a:p>
                <a:pPr marL="400050" lvl="1" indent="0">
                  <a:buNone/>
                </a:pPr>
                <a:r>
                  <a:rPr lang="en-US" dirty="0"/>
                  <a:t>s is the dataset</a:t>
                </a:r>
              </a:p>
              <a:p>
                <a:pPr marL="400050" lvl="1" indent="0">
                  <a:buNone/>
                </a:pPr>
                <a:r>
                  <a:rPr lang="en-US" dirty="0"/>
                  <a:t>k is the number of classes</a:t>
                </a:r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proportion of instances in class </a:t>
                </a:r>
                <a:r>
                  <a:rPr lang="en-US" i="1" dirty="0" err="1"/>
                  <a:t>i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1017E-7562-18F0-C00C-A54B79CBF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0786"/>
                <a:ext cx="10515600" cy="4616177"/>
              </a:xfrm>
              <a:blipFill>
                <a:blip r:embed="rId2"/>
                <a:stretch>
                  <a:fillRect l="-406" t="-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560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AAFB-24EF-AA62-12CF-57ACEF30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168" y="265836"/>
            <a:ext cx="10515600" cy="1325563"/>
          </a:xfrm>
        </p:spPr>
        <p:txBody>
          <a:bodyPr/>
          <a:lstStyle/>
          <a:p>
            <a:r>
              <a:rPr lang="en-US" dirty="0"/>
              <a:t>Step1: Initial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8A47D0-63A1-2BB9-91E9-3D787990B2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47647" y="1368424"/>
                <a:ext cx="10515601" cy="504814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target variable Play has two classes: "Yes" and "No." Calculate the initial entropy of the dataset: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𝑦𝑒𝑠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𝑖𝑛𝑠𝑡𝑎𝑛𝑐𝑒𝑠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𝑖𝑛𝑠𝑡𝑎𝑛𝑐𝑒𝑠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𝑖𝑛𝑠𝑡𝑎𝑛𝑐𝑒𝑠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𝑖𝑛𝑠𝑡𝑎𝑛𝑐𝑒𝑠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𝑃𝑙𝑎𝑦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=−(0.6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+0.4 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𝑃𝑙𝑎𝑦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=−(0.6 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−0.73697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+0.4 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−1.32193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)=0.971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8A47D0-63A1-2BB9-91E9-3D787990B2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47647" y="1368424"/>
                <a:ext cx="10515601" cy="5048141"/>
              </a:xfrm>
              <a:blipFill>
                <a:blip r:embed="rId2"/>
                <a:stretch>
                  <a:fillRect l="-406" t="-603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609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71FA-9E7C-470E-0693-0498FF76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Entropy for Splits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1DFB78-A4DA-45FC-702C-56695894E3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calculate the entropy for a split on the feature Weather. The feature Weather has three categories: Sunny, Cloudy, Rainy.</a:t>
                </a:r>
              </a:p>
              <a:p>
                <a:r>
                  <a:rPr lang="en-US" dirty="0"/>
                  <a:t>For Weather = Sunny:</a:t>
                </a:r>
              </a:p>
              <a:p>
                <a:r>
                  <a:rPr lang="en-US" dirty="0"/>
                  <a:t>Subset: {Day 1, Day 3, Day 8}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𝑌𝑒𝑠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𝑁𝑜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0.333∗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−1.585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+0.667∗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−0.585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=0.918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1DFB78-A4DA-45FC-702C-56695894E3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13" t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35983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3850-AC03-E1A4-5312-97A78790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103" y="270423"/>
            <a:ext cx="10515600" cy="1325563"/>
          </a:xfrm>
        </p:spPr>
        <p:txBody>
          <a:bodyPr/>
          <a:lstStyle/>
          <a:p>
            <a:r>
              <a:rPr lang="en-US" dirty="0"/>
              <a:t>Step 2: Entropy for Splits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6AE3B-ABB1-760C-EE27-510FD7B06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7605" y="1126773"/>
                <a:ext cx="6691587" cy="4351338"/>
              </a:xfrm>
            </p:spPr>
            <p:txBody>
              <a:bodyPr/>
              <a:lstStyle/>
              <a:p>
                <a:r>
                  <a:rPr lang="en-US" dirty="0"/>
                  <a:t>For Weather = Cloudy: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𝐶𝑙𝑜𝑢𝑑𝑦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+0.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e>
                    </m:d>
                  </m:oMath>
                </a14:m>
                <a:r>
                  <a:rPr lang="en-US" dirty="0"/>
                  <a:t>=0</a:t>
                </a:r>
              </a:p>
              <a:p>
                <a:r>
                  <a:rPr lang="en-US" dirty="0"/>
                  <a:t>For Weather=Rainy: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𝑅𝑎𝑖𝑛𝑦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=0.811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6AE3B-ABB1-760C-EE27-510FD7B06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7605" y="1126773"/>
                <a:ext cx="6691587" cy="4351338"/>
              </a:xfrm>
              <a:blipFill>
                <a:blip r:embed="rId2"/>
                <a:stretch>
                  <a:fillRect l="-638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BEB843-989F-D64D-83E0-E33E3F567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281194"/>
              </p:ext>
            </p:extLst>
          </p:nvPr>
        </p:nvGraphicFramePr>
        <p:xfrm>
          <a:off x="406939" y="1954609"/>
          <a:ext cx="5308564" cy="3860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214">
                  <a:extLst>
                    <a:ext uri="{9D8B030D-6E8A-4147-A177-3AD203B41FA5}">
                      <a16:colId xmlns:a16="http://schemas.microsoft.com/office/drawing/2014/main" val="98339231"/>
                    </a:ext>
                  </a:extLst>
                </a:gridCol>
                <a:gridCol w="942137">
                  <a:extLst>
                    <a:ext uri="{9D8B030D-6E8A-4147-A177-3AD203B41FA5}">
                      <a16:colId xmlns:a16="http://schemas.microsoft.com/office/drawing/2014/main" val="4177718755"/>
                    </a:ext>
                  </a:extLst>
                </a:gridCol>
                <a:gridCol w="1138508">
                  <a:extLst>
                    <a:ext uri="{9D8B030D-6E8A-4147-A177-3AD203B41FA5}">
                      <a16:colId xmlns:a16="http://schemas.microsoft.com/office/drawing/2014/main" val="2287607387"/>
                    </a:ext>
                  </a:extLst>
                </a:gridCol>
                <a:gridCol w="853439">
                  <a:extLst>
                    <a:ext uri="{9D8B030D-6E8A-4147-A177-3AD203B41FA5}">
                      <a16:colId xmlns:a16="http://schemas.microsoft.com/office/drawing/2014/main" val="1775234905"/>
                    </a:ext>
                  </a:extLst>
                </a:gridCol>
                <a:gridCol w="933165">
                  <a:extLst>
                    <a:ext uri="{9D8B030D-6E8A-4147-A177-3AD203B41FA5}">
                      <a16:colId xmlns:a16="http://schemas.microsoft.com/office/drawing/2014/main" val="2538107804"/>
                    </a:ext>
                  </a:extLst>
                </a:gridCol>
                <a:gridCol w="853101">
                  <a:extLst>
                    <a:ext uri="{9D8B030D-6E8A-4147-A177-3AD203B41FA5}">
                      <a16:colId xmlns:a16="http://schemas.microsoft.com/office/drawing/2014/main" val="1671698251"/>
                    </a:ext>
                  </a:extLst>
                </a:gridCol>
              </a:tblGrid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619005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38949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129651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627281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40407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179346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94822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656335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17816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71304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8565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ECFE001-EF95-5917-3E39-9EB3A4643A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5503" y="4179324"/>
                <a:ext cx="6259246" cy="20369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Weighted Entropy for Weather: 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𝑊𝑒𝑎𝑡h𝑒𝑟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</a:rPr>
                      <m:t>. 0918+ 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</a:rPr>
                      <m:t>.0+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</a:rPr>
                      <m:t>.0.811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= 0.599</a:t>
                </a:r>
              </a:p>
              <a:p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ECFE001-EF95-5917-3E39-9EB3A4643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503" y="4179324"/>
                <a:ext cx="6259246" cy="2036927"/>
              </a:xfrm>
              <a:prstGeom prst="rect">
                <a:avLst/>
              </a:prstGeom>
              <a:blipFill>
                <a:blip r:embed="rId3"/>
                <a:stretch>
                  <a:fillRect l="-2632" t="-8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0663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108A3-D936-71AA-3142-DB4236C9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12F17-9E67-D078-956F-46699372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988" y="310084"/>
            <a:ext cx="10515600" cy="1325563"/>
          </a:xfrm>
        </p:spPr>
        <p:txBody>
          <a:bodyPr/>
          <a:lstStyle/>
          <a:p>
            <a:r>
              <a:rPr lang="en-US" dirty="0"/>
              <a:t>Step 2: Entropy for Splits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B91C4-F481-7FA7-1FE0-971F710DB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805" y="1496112"/>
            <a:ext cx="6056585" cy="4713924"/>
          </a:xfrm>
        </p:spPr>
        <p:txBody>
          <a:bodyPr/>
          <a:lstStyle/>
          <a:p>
            <a:r>
              <a:rPr lang="en-US" dirty="0"/>
              <a:t>Attribute 2: Temperature</a:t>
            </a:r>
          </a:p>
          <a:p>
            <a:r>
              <a:rPr lang="en-US" dirty="0"/>
              <a:t>Unique values: "Hot," "Mild," "Cool.“</a:t>
            </a:r>
          </a:p>
          <a:p>
            <a:r>
              <a:rPr lang="en-US" dirty="0"/>
              <a:t>E(Hot) =1</a:t>
            </a:r>
          </a:p>
          <a:p>
            <a:r>
              <a:rPr lang="en-US" dirty="0"/>
              <a:t>E(Mild)=0.971</a:t>
            </a:r>
          </a:p>
          <a:p>
            <a:r>
              <a:rPr lang="en-US" dirty="0"/>
              <a:t>E(Cool)=0</a:t>
            </a:r>
          </a:p>
          <a:p>
            <a:r>
              <a:rPr lang="en-US" dirty="0"/>
              <a:t>Weighted Entropy: </a:t>
            </a:r>
          </a:p>
          <a:p>
            <a:pPr lvl="1"/>
            <a:r>
              <a:rPr lang="en-US" dirty="0"/>
              <a:t>E(Temperature)=0.886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9B1D39-C486-0F63-B5E5-C6462352E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25916"/>
              </p:ext>
            </p:extLst>
          </p:nvPr>
        </p:nvGraphicFramePr>
        <p:xfrm>
          <a:off x="1040859" y="1496111"/>
          <a:ext cx="5055138" cy="38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133">
                  <a:extLst>
                    <a:ext uri="{9D8B030D-6E8A-4147-A177-3AD203B41FA5}">
                      <a16:colId xmlns:a16="http://schemas.microsoft.com/office/drawing/2014/main" val="98339231"/>
                    </a:ext>
                  </a:extLst>
                </a:gridCol>
                <a:gridCol w="897160">
                  <a:extLst>
                    <a:ext uri="{9D8B030D-6E8A-4147-A177-3AD203B41FA5}">
                      <a16:colId xmlns:a16="http://schemas.microsoft.com/office/drawing/2014/main" val="4177718755"/>
                    </a:ext>
                  </a:extLst>
                </a:gridCol>
                <a:gridCol w="1084157">
                  <a:extLst>
                    <a:ext uri="{9D8B030D-6E8A-4147-A177-3AD203B41FA5}">
                      <a16:colId xmlns:a16="http://schemas.microsoft.com/office/drawing/2014/main" val="2287607387"/>
                    </a:ext>
                  </a:extLst>
                </a:gridCol>
                <a:gridCol w="812697">
                  <a:extLst>
                    <a:ext uri="{9D8B030D-6E8A-4147-A177-3AD203B41FA5}">
                      <a16:colId xmlns:a16="http://schemas.microsoft.com/office/drawing/2014/main" val="1775234905"/>
                    </a:ext>
                  </a:extLst>
                </a:gridCol>
                <a:gridCol w="888616">
                  <a:extLst>
                    <a:ext uri="{9D8B030D-6E8A-4147-A177-3AD203B41FA5}">
                      <a16:colId xmlns:a16="http://schemas.microsoft.com/office/drawing/2014/main" val="2538107804"/>
                    </a:ext>
                  </a:extLst>
                </a:gridCol>
                <a:gridCol w="812375">
                  <a:extLst>
                    <a:ext uri="{9D8B030D-6E8A-4147-A177-3AD203B41FA5}">
                      <a16:colId xmlns:a16="http://schemas.microsoft.com/office/drawing/2014/main" val="1671698251"/>
                    </a:ext>
                  </a:extLst>
                </a:gridCol>
              </a:tblGrid>
              <a:tr h="513721">
                <a:tc>
                  <a:txBody>
                    <a:bodyPr/>
                    <a:lstStyle/>
                    <a:p>
                      <a:r>
                        <a:rPr lang="en-US" sz="14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619005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38949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129651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627281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40407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179346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94822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656335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17816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71304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856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237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D87AA-FA15-5E4F-C211-7FDF8EA43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689" y="272475"/>
            <a:ext cx="10515600" cy="662781"/>
          </a:xfrm>
        </p:spPr>
        <p:txBody>
          <a:bodyPr/>
          <a:lstStyle/>
          <a:p>
            <a:r>
              <a:rPr lang="en-US" dirty="0"/>
              <a:t>Step 2: Entropy for Splits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CD68-D389-E61B-C562-D3E03A13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8095" y="1589498"/>
            <a:ext cx="4822178" cy="4713924"/>
          </a:xfrm>
        </p:spPr>
        <p:txBody>
          <a:bodyPr/>
          <a:lstStyle/>
          <a:p>
            <a:r>
              <a:rPr lang="en-US" dirty="0"/>
              <a:t>Attribute 3: Humidity</a:t>
            </a:r>
          </a:p>
          <a:p>
            <a:r>
              <a:rPr lang="en-US" dirty="0"/>
              <a:t>Unique values: “</a:t>
            </a:r>
            <a:r>
              <a:rPr lang="en-US" dirty="0" err="1"/>
              <a:t>Hight”,”Normal</a:t>
            </a:r>
            <a:r>
              <a:rPr lang="en-US" dirty="0"/>
              <a:t>”.</a:t>
            </a:r>
          </a:p>
          <a:p>
            <a:r>
              <a:rPr lang="en-US" dirty="0"/>
              <a:t>E(High) =0.985</a:t>
            </a:r>
          </a:p>
          <a:p>
            <a:r>
              <a:rPr lang="en-US" dirty="0"/>
              <a:t>E(Normal)=0.918</a:t>
            </a:r>
          </a:p>
          <a:p>
            <a:r>
              <a:rPr lang="en-US" dirty="0"/>
              <a:t>Weighted Entropy for Humidity:</a:t>
            </a:r>
          </a:p>
          <a:p>
            <a:pPr lvl="1"/>
            <a:r>
              <a:rPr lang="en-US" dirty="0"/>
              <a:t>E(Humidity) = 0.964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395641-32DB-2962-124E-5C48025AC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337128"/>
              </p:ext>
            </p:extLst>
          </p:nvPr>
        </p:nvGraphicFramePr>
        <p:xfrm>
          <a:off x="771727" y="1589498"/>
          <a:ext cx="5691763" cy="3860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74">
                  <a:extLst>
                    <a:ext uri="{9D8B030D-6E8A-4147-A177-3AD203B41FA5}">
                      <a16:colId xmlns:a16="http://schemas.microsoft.com/office/drawing/2014/main" val="98339231"/>
                    </a:ext>
                  </a:extLst>
                </a:gridCol>
                <a:gridCol w="1010145">
                  <a:extLst>
                    <a:ext uri="{9D8B030D-6E8A-4147-A177-3AD203B41FA5}">
                      <a16:colId xmlns:a16="http://schemas.microsoft.com/office/drawing/2014/main" val="4177718755"/>
                    </a:ext>
                  </a:extLst>
                </a:gridCol>
                <a:gridCol w="1220691">
                  <a:extLst>
                    <a:ext uri="{9D8B030D-6E8A-4147-A177-3AD203B41FA5}">
                      <a16:colId xmlns:a16="http://schemas.microsoft.com/office/drawing/2014/main" val="2287607387"/>
                    </a:ext>
                  </a:extLst>
                </a:gridCol>
                <a:gridCol w="915045">
                  <a:extLst>
                    <a:ext uri="{9D8B030D-6E8A-4147-A177-3AD203B41FA5}">
                      <a16:colId xmlns:a16="http://schemas.microsoft.com/office/drawing/2014/main" val="1775234905"/>
                    </a:ext>
                  </a:extLst>
                </a:gridCol>
                <a:gridCol w="1000525">
                  <a:extLst>
                    <a:ext uri="{9D8B030D-6E8A-4147-A177-3AD203B41FA5}">
                      <a16:colId xmlns:a16="http://schemas.microsoft.com/office/drawing/2014/main" val="2538107804"/>
                    </a:ext>
                  </a:extLst>
                </a:gridCol>
                <a:gridCol w="914683">
                  <a:extLst>
                    <a:ext uri="{9D8B030D-6E8A-4147-A177-3AD203B41FA5}">
                      <a16:colId xmlns:a16="http://schemas.microsoft.com/office/drawing/2014/main" val="1671698251"/>
                    </a:ext>
                  </a:extLst>
                </a:gridCol>
              </a:tblGrid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619005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38949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129651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627281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40407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179346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94822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656335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17816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71304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856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001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62358-9A08-3D9B-A12E-6F98F433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F691-9271-6322-430C-F8C25670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1" y="280902"/>
            <a:ext cx="10515600" cy="1325563"/>
          </a:xfrm>
        </p:spPr>
        <p:txBody>
          <a:bodyPr/>
          <a:lstStyle/>
          <a:p>
            <a:r>
              <a:rPr lang="en-US" dirty="0"/>
              <a:t>Step 2: Entropy for Splits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88DBD-030A-C6C6-27B0-3AD89371A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6415" y="1764596"/>
            <a:ext cx="5244865" cy="3702339"/>
          </a:xfrm>
        </p:spPr>
        <p:txBody>
          <a:bodyPr/>
          <a:lstStyle/>
          <a:p>
            <a:r>
              <a:rPr lang="en-US" dirty="0"/>
              <a:t>Attribute 4: Wind</a:t>
            </a:r>
          </a:p>
          <a:p>
            <a:r>
              <a:rPr lang="en-US" dirty="0"/>
              <a:t>Unique values: “</a:t>
            </a:r>
            <a:r>
              <a:rPr lang="en-US" dirty="0" err="1"/>
              <a:t>Weak”,”Strong</a:t>
            </a:r>
            <a:r>
              <a:rPr lang="en-US" dirty="0"/>
              <a:t>”.</a:t>
            </a:r>
          </a:p>
          <a:p>
            <a:r>
              <a:rPr lang="en-US" dirty="0"/>
              <a:t>E(Weak) =0.811</a:t>
            </a:r>
          </a:p>
          <a:p>
            <a:r>
              <a:rPr lang="en-US" dirty="0"/>
              <a:t>E(Strong)=0.918</a:t>
            </a:r>
          </a:p>
          <a:p>
            <a:r>
              <a:rPr lang="en-US" dirty="0"/>
              <a:t>Weighted Entropy for Humidity:</a:t>
            </a:r>
          </a:p>
          <a:p>
            <a:pPr lvl="1"/>
            <a:r>
              <a:rPr lang="en-US" dirty="0"/>
              <a:t>E(Wind) = 0.875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1541D2-5F6E-726D-01FA-CE9EE7526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440895"/>
              </p:ext>
            </p:extLst>
          </p:nvPr>
        </p:nvGraphicFramePr>
        <p:xfrm>
          <a:off x="621489" y="1606465"/>
          <a:ext cx="5847405" cy="3860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920">
                  <a:extLst>
                    <a:ext uri="{9D8B030D-6E8A-4147-A177-3AD203B41FA5}">
                      <a16:colId xmlns:a16="http://schemas.microsoft.com/office/drawing/2014/main" val="98339231"/>
                    </a:ext>
                  </a:extLst>
                </a:gridCol>
                <a:gridCol w="1037768">
                  <a:extLst>
                    <a:ext uri="{9D8B030D-6E8A-4147-A177-3AD203B41FA5}">
                      <a16:colId xmlns:a16="http://schemas.microsoft.com/office/drawing/2014/main" val="4177718755"/>
                    </a:ext>
                  </a:extLst>
                </a:gridCol>
                <a:gridCol w="1254071">
                  <a:extLst>
                    <a:ext uri="{9D8B030D-6E8A-4147-A177-3AD203B41FA5}">
                      <a16:colId xmlns:a16="http://schemas.microsoft.com/office/drawing/2014/main" val="2287607387"/>
                    </a:ext>
                  </a:extLst>
                </a:gridCol>
                <a:gridCol w="940067">
                  <a:extLst>
                    <a:ext uri="{9D8B030D-6E8A-4147-A177-3AD203B41FA5}">
                      <a16:colId xmlns:a16="http://schemas.microsoft.com/office/drawing/2014/main" val="1775234905"/>
                    </a:ext>
                  </a:extLst>
                </a:gridCol>
                <a:gridCol w="1027884">
                  <a:extLst>
                    <a:ext uri="{9D8B030D-6E8A-4147-A177-3AD203B41FA5}">
                      <a16:colId xmlns:a16="http://schemas.microsoft.com/office/drawing/2014/main" val="2538107804"/>
                    </a:ext>
                  </a:extLst>
                </a:gridCol>
                <a:gridCol w="939695">
                  <a:extLst>
                    <a:ext uri="{9D8B030D-6E8A-4147-A177-3AD203B41FA5}">
                      <a16:colId xmlns:a16="http://schemas.microsoft.com/office/drawing/2014/main" val="1671698251"/>
                    </a:ext>
                  </a:extLst>
                </a:gridCol>
              </a:tblGrid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619005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38949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129651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627281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40407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179346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94822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656335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17816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71304"/>
                  </a:ext>
                </a:extLst>
              </a:tr>
              <a:tr h="334231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856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468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92C1C-9656-7AE6-E4DA-FAFEFFD6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the Data – Information Gain (How Do We Decide the Best Split?)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E266-8DC1-3652-3466-BB1C7BACD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ED7FF-D3B0-5533-CBD9-E613FE59A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212" y="2150423"/>
            <a:ext cx="4976291" cy="883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AC3185-8307-EB1B-3527-8DAB3F4FE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83" y="3422718"/>
            <a:ext cx="3909399" cy="127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317393-1CAB-DDB2-3899-86687B52EFA6}"/>
              </a:ext>
            </a:extLst>
          </p:cNvPr>
          <p:cNvSpPr txBox="1"/>
          <p:nvPr/>
        </p:nvSpPr>
        <p:spPr>
          <a:xfrm>
            <a:off x="1769327" y="5155632"/>
            <a:ext cx="94466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a dataset has </a:t>
            </a:r>
            <a:r>
              <a:rPr lang="en-US" b="1" dirty="0"/>
              <a:t>Gini = 0.5</a:t>
            </a:r>
            <a:r>
              <a:rPr lang="en-US" dirty="0"/>
              <a:t> before a split, and after splitting it becomes </a:t>
            </a:r>
            <a:r>
              <a:rPr lang="en-US" b="1" dirty="0"/>
              <a:t>0.2</a:t>
            </a:r>
            <a:r>
              <a:rPr lang="en-US" dirty="0"/>
              <a:t>, the Information Gain is:</a:t>
            </a:r>
          </a:p>
          <a:p>
            <a:r>
              <a:rPr lang="en-US" dirty="0"/>
              <a:t>IG=0.5−0.2=0.3</a:t>
            </a:r>
          </a:p>
          <a:p>
            <a:r>
              <a:rPr lang="en-US" dirty="0"/>
              <a:t>A higher IG means a better split.</a:t>
            </a:r>
          </a:p>
        </p:txBody>
      </p:sp>
    </p:spTree>
    <p:extLst>
      <p:ext uri="{BB962C8B-B14F-4D97-AF65-F5344CB8AC3E}">
        <p14:creationId xmlns:p14="http://schemas.microsoft.com/office/powerpoint/2010/main" val="17969551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360A-1D75-394A-7383-A961FB0B6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238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dirty="0"/>
              <a:t>Step 3: </a:t>
            </a:r>
            <a:br>
              <a:rPr lang="en-US" dirty="0"/>
            </a:br>
            <a:r>
              <a:rPr lang="en-US" dirty="0"/>
              <a:t>Calculate Information Gain For each 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49FA-BDEC-6ED2-6CB0-483385D30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Gain (IG) = E(Play) – E (Attribute)</a:t>
            </a:r>
          </a:p>
          <a:p>
            <a:r>
              <a:rPr lang="en-US" dirty="0"/>
              <a:t>IG (Weather):</a:t>
            </a:r>
          </a:p>
          <a:p>
            <a:pPr lvl="1"/>
            <a:r>
              <a:rPr lang="en-US" dirty="0"/>
              <a:t>IG (Weather) = 1 – 0.599 = 0.401</a:t>
            </a:r>
          </a:p>
          <a:p>
            <a:r>
              <a:rPr lang="en-US" dirty="0"/>
              <a:t>IG (Temperature):</a:t>
            </a:r>
          </a:p>
          <a:p>
            <a:pPr lvl="1"/>
            <a:r>
              <a:rPr lang="en-US" dirty="0"/>
              <a:t>IG (Temperature) = 1 – 0.886 = 0.114</a:t>
            </a:r>
          </a:p>
          <a:p>
            <a:r>
              <a:rPr lang="en-US" dirty="0"/>
              <a:t>IG (Humidity):</a:t>
            </a:r>
          </a:p>
          <a:p>
            <a:pPr lvl="1"/>
            <a:r>
              <a:rPr lang="en-US" dirty="0"/>
              <a:t>IG (Humidity) = 1 – 0.964 = 0.036</a:t>
            </a:r>
          </a:p>
          <a:p>
            <a:r>
              <a:rPr lang="en-US" dirty="0"/>
              <a:t>IG (Wind):</a:t>
            </a:r>
          </a:p>
          <a:p>
            <a:pPr lvl="1"/>
            <a:r>
              <a:rPr lang="en-US" dirty="0"/>
              <a:t>IG (Wind) = 1 – 0.875 = 0.125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C757D-97BC-FE15-BDCF-35258AA06C77}"/>
              </a:ext>
            </a:extLst>
          </p:cNvPr>
          <p:cNvSpPr txBox="1"/>
          <p:nvPr/>
        </p:nvSpPr>
        <p:spPr>
          <a:xfrm>
            <a:off x="2148706" y="5753119"/>
            <a:ext cx="4164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higher IG means a better split.</a:t>
            </a:r>
          </a:p>
        </p:txBody>
      </p:sp>
    </p:spTree>
    <p:extLst>
      <p:ext uri="{BB962C8B-B14F-4D97-AF65-F5344CB8AC3E}">
        <p14:creationId xmlns:p14="http://schemas.microsoft.com/office/powerpoint/2010/main" val="6037400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9F91-0043-6C52-040C-57107A94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Choose the Best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008AB-4954-A51A-E6E0-203A8CBD0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The attribute with the highest information gain is selected as the root node:</a:t>
            </a:r>
          </a:p>
          <a:p>
            <a:r>
              <a:rPr lang="en-US" dirty="0"/>
              <a:t>IG (Weather) = 0.401 (Highest)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2259B2-68E3-724D-B167-3E7A13ABEE23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 5: Repeat for Subsets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BFDA92-6516-132E-7852-CB93230D56C7}"/>
              </a:ext>
            </a:extLst>
          </p:cNvPr>
          <p:cNvSpPr txBox="1">
            <a:spLocks/>
          </p:cNvSpPr>
          <p:nvPr/>
        </p:nvSpPr>
        <p:spPr>
          <a:xfrm>
            <a:off x="838200" y="4889500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Split the dataset based on "Weather" and repeat the process for the subsets until a stopping criterion is met (e.g., pure subsets or no attributes left).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146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9F3C-B743-7F7B-A6DB-D335D91B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841" y="2383111"/>
            <a:ext cx="10515600" cy="1325563"/>
          </a:xfrm>
        </p:spPr>
        <p:txBody>
          <a:bodyPr/>
          <a:lstStyle/>
          <a:p>
            <a:r>
              <a:rPr lang="en-US" dirty="0"/>
              <a:t>Lab 2: Decision Tree with Entropy</a:t>
            </a:r>
          </a:p>
        </p:txBody>
      </p:sp>
    </p:spTree>
    <p:extLst>
      <p:ext uri="{BB962C8B-B14F-4D97-AF65-F5344CB8AC3E}">
        <p14:creationId xmlns:p14="http://schemas.microsoft.com/office/powerpoint/2010/main" val="39880045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72C5-579A-C0C9-29EE-5489B315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C097B-A027-8E63-E2FC-65D469065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867" y="1215957"/>
            <a:ext cx="10538257" cy="4835057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Simple to understand and to interpret. Trees can be visualized.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Requires little data preparation. Other techniques often require data normalization, dummy variables need to be created and blank values to be removed. Some tree and algorithm combinations support </a:t>
            </a:r>
            <a:r>
              <a:rPr lang="en-US" b="0" i="0" dirty="0"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missing values</a:t>
            </a:r>
            <a:r>
              <a:rPr lang="en-US" b="0" i="0" dirty="0">
                <a:effectLst/>
                <a:latin typeface="-apple-system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The cost of using the tree (i.e., predicting data) is logarithmic in the number of data points used to train the tree.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Able to handle both numerical and categorical data. However, the scikit-learn implementation does not support categorical variables for now. Other techniques are usually specialized in analyzing datasets that have only one type of variable.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-apple-system"/>
              </a:rPr>
              <a:t>Able to handle multi-output problems.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-apple-system"/>
              </a:rPr>
              <a:t>Uses a white box model. If a given situation is observable in a model, the explanation for the condition is easily explained by </a:t>
            </a:r>
            <a:r>
              <a:rPr lang="en-US" dirty="0" err="1">
                <a:latin typeface="-apple-system"/>
              </a:rPr>
              <a:t>boolean</a:t>
            </a:r>
            <a:r>
              <a:rPr lang="en-US" dirty="0">
                <a:latin typeface="-apple-system"/>
              </a:rPr>
              <a:t> logic.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-apple-system"/>
              </a:rPr>
              <a:t>By contrast, in a black box model (e.g., in an artificial neural network), results may be more difficult to interpret.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-apple-system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03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D550-1ACC-17B0-D176-36C31329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FDCED-948D-DD23-35E0-77A47F40A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Overfitting in Decision Trees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Overfitting occurs when the tree becomes too complex, fitting noise in the training data.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Symptoms</a:t>
            </a:r>
            <a:r>
              <a:rPr lang="en-US" dirty="0"/>
              <a:t>: A tree with many branches, low training error, and high test error.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Solution</a:t>
            </a:r>
            <a:r>
              <a:rPr lang="en-US" dirty="0"/>
              <a:t>: Pruning the tree, setting maximum depth, minimum samples per leaf,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993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4DF4-E62A-DFB9-C5D8-695ED6AA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address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F4547-7A1B-D040-9EE4-D0A5424A2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867" y="1342417"/>
            <a:ext cx="10538257" cy="4708597"/>
          </a:xfrm>
        </p:spPr>
        <p:txBody>
          <a:bodyPr>
            <a:normAutofit/>
          </a:bodyPr>
          <a:lstStyle/>
          <a:p>
            <a:r>
              <a:rPr lang="en-US" sz="2200" dirty="0"/>
              <a:t>Pre-Pruning (Early Stopping):</a:t>
            </a:r>
          </a:p>
          <a:p>
            <a:pPr lvl="1"/>
            <a:r>
              <a:rPr lang="en-US" sz="2200" dirty="0"/>
              <a:t>Stop splitting a node if: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/>
              <a:t>The number of samples in the node is below a predefined threshold.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/>
              <a:t>The information gain or impurity reduction is below a threshold.</a:t>
            </a:r>
          </a:p>
          <a:p>
            <a:pPr lvl="1"/>
            <a:r>
              <a:rPr lang="en-US" sz="2200" dirty="0"/>
              <a:t>Example: Limit the tree's maximum depth.</a:t>
            </a:r>
          </a:p>
          <a:p>
            <a:r>
              <a:rPr lang="en-US" sz="2200" dirty="0"/>
              <a:t>Post-Pruning:</a:t>
            </a:r>
          </a:p>
          <a:p>
            <a:pPr lvl="1"/>
            <a:r>
              <a:rPr lang="en-US" sz="2200" dirty="0"/>
              <a:t>Grow the tree fully, then remove branches that do not improve performance on a validation set.</a:t>
            </a:r>
          </a:p>
          <a:p>
            <a:pPr lvl="1"/>
            <a:r>
              <a:rPr lang="en-US" sz="2200" dirty="0"/>
              <a:t>Techniques include cost-complexity pruning (used in CART).</a:t>
            </a:r>
          </a:p>
        </p:txBody>
      </p:sp>
    </p:spTree>
    <p:extLst>
      <p:ext uri="{BB962C8B-B14F-4D97-AF65-F5344CB8AC3E}">
        <p14:creationId xmlns:p14="http://schemas.microsoft.com/office/powerpoint/2010/main" val="21942974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E0CA-E56D-4EA0-260E-7915B9610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 Pruned Vs Unpruned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8341C4-646A-B2F9-3E65-9D6699EB8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217" y="1690688"/>
            <a:ext cx="8161727" cy="4160881"/>
          </a:xfrm>
        </p:spPr>
      </p:pic>
    </p:spTree>
    <p:extLst>
      <p:ext uri="{BB962C8B-B14F-4D97-AF65-F5344CB8AC3E}">
        <p14:creationId xmlns:p14="http://schemas.microsoft.com/office/powerpoint/2010/main" val="30298487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EA81A-406C-4286-73F8-5C1D4132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C55F3-EDF8-CD07-BA53-9E0DA9A83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decision tree</a:t>
            </a:r>
            <a:r>
              <a:rPr lang="en-US" dirty="0"/>
              <a:t> is a flowchart-like structure where the data is recursively split into subsets based on feature values.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model continues splitting the data until it reaches pure or nearly pure subsets at the leaf nodes.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Pruning</a:t>
            </a:r>
            <a:r>
              <a:rPr lang="en-US" dirty="0"/>
              <a:t> ensures that the model doesn’t overfit, and the tree remains interpretable and generalizable.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353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13A5-F891-81E2-AE61-48131F8D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6CF9-13D4-9D4A-396A-50E4E7280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[1] </a:t>
            </a:r>
            <a:r>
              <a:rPr lang="en-US" dirty="0">
                <a:hlinkClick r:id="rId2"/>
              </a:rPr>
              <a:t>https://scikit-learn.org/1.5/modules/tree.html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[2] </a:t>
            </a:r>
            <a:r>
              <a:rPr lang="en-US" dirty="0" err="1"/>
              <a:t>Alpaydin</a:t>
            </a:r>
            <a:r>
              <a:rPr lang="en-US" dirty="0"/>
              <a:t>, E. (2021). </a:t>
            </a:r>
            <a:r>
              <a:rPr lang="en-US" i="1" dirty="0"/>
              <a:t>Introduction to Machine Learning</a:t>
            </a:r>
            <a:r>
              <a:rPr lang="en-US" dirty="0"/>
              <a:t> (4th ed.). MIT Press.</a:t>
            </a:r>
          </a:p>
        </p:txBody>
      </p:sp>
    </p:spTree>
    <p:extLst>
      <p:ext uri="{BB962C8B-B14F-4D97-AF65-F5344CB8AC3E}">
        <p14:creationId xmlns:p14="http://schemas.microsoft.com/office/powerpoint/2010/main" val="22852926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48E7-815C-6BDC-1D7C-EEA878C4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2766218"/>
            <a:ext cx="10515600" cy="1325563"/>
          </a:xfrm>
        </p:spPr>
        <p:txBody>
          <a:bodyPr/>
          <a:lstStyle/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1595726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1900</TotalTime>
  <Words>3701</Words>
  <Application>Microsoft Office PowerPoint</Application>
  <PresentationFormat>Widescreen</PresentationFormat>
  <Paragraphs>1214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-apple-system</vt:lpstr>
      <vt:lpstr>Arial</vt:lpstr>
      <vt:lpstr>Cambria Math</vt:lpstr>
      <vt:lpstr>Century Gothic</vt:lpstr>
      <vt:lpstr>Wingdings</vt:lpstr>
      <vt:lpstr>Wingdings 3</vt:lpstr>
      <vt:lpstr>Wisp</vt:lpstr>
      <vt:lpstr>PowerPoint Presentation</vt:lpstr>
      <vt:lpstr>Contents</vt:lpstr>
      <vt:lpstr>Basic Concepts of Decision Tree</vt:lpstr>
      <vt:lpstr>Classification</vt:lpstr>
      <vt:lpstr>Decision Trees</vt:lpstr>
      <vt:lpstr>Basic Concepts of DT Classification</vt:lpstr>
      <vt:lpstr>Classification and Regression Trees</vt:lpstr>
      <vt:lpstr>PowerPoint Presentation</vt:lpstr>
      <vt:lpstr>How Decision Tree Works</vt:lpstr>
      <vt:lpstr>Example of a Decision Tree</vt:lpstr>
      <vt:lpstr>Example of a Decision Tree</vt:lpstr>
      <vt:lpstr>Apply Model to Test Data</vt:lpstr>
      <vt:lpstr>Decision Tree Induction</vt:lpstr>
      <vt:lpstr>Tree Induction</vt:lpstr>
      <vt:lpstr>How to Specify Test Condition? </vt:lpstr>
      <vt:lpstr>Splitting Based on Nominal Attribute</vt:lpstr>
      <vt:lpstr>Splitting Based on Ordinal Attribute</vt:lpstr>
      <vt:lpstr>Splitting Based on Continuous Attribute</vt:lpstr>
      <vt:lpstr>Splitting based on continuous attributes</vt:lpstr>
      <vt:lpstr>How to determine the Best Split ?</vt:lpstr>
      <vt:lpstr>How to determine the best split ?</vt:lpstr>
      <vt:lpstr>Measures of Node Impurity</vt:lpstr>
      <vt:lpstr>Impurity Measures in Decision Trees</vt:lpstr>
      <vt:lpstr>Gini Index</vt:lpstr>
      <vt:lpstr>Gini Index Formula</vt:lpstr>
      <vt:lpstr>Gini Index calculation -1 Step1: Gini Index for Entire Dataset</vt:lpstr>
      <vt:lpstr>Gini Index calculation -2 Step 2: Splitting on Income</vt:lpstr>
      <vt:lpstr>Gini Index calculation -3 Step 2: Splitting on CreditScore</vt:lpstr>
      <vt:lpstr>Gini Index calculation -4 Step 2: Splitting on LoanAmount</vt:lpstr>
      <vt:lpstr>Gini Index calculation -4 Step 3: Selection the Best Split</vt:lpstr>
      <vt:lpstr>Gini Index calculation -5 Step 4: Splitting on Income</vt:lpstr>
      <vt:lpstr>Gini Index calculation -5 Step 5: Repeat the Process</vt:lpstr>
      <vt:lpstr>Decision Tree</vt:lpstr>
      <vt:lpstr>Entropy</vt:lpstr>
      <vt:lpstr>Step1: Initial Entropy</vt:lpstr>
      <vt:lpstr>Step 2: Entropy for Splits</vt:lpstr>
      <vt:lpstr>Step 2: Entropy for Splits</vt:lpstr>
      <vt:lpstr>Step 2: Entropy for Splits</vt:lpstr>
      <vt:lpstr>Step 2: Entropy for Splits</vt:lpstr>
      <vt:lpstr>Step 2: Entropy for Splits</vt:lpstr>
      <vt:lpstr>Splitting the Data – Information Gain (How Do We Decide the Best Split?)</vt:lpstr>
      <vt:lpstr>Step 3:  Calculate Information Gain For each  attribute</vt:lpstr>
      <vt:lpstr>Step 4: Choose the Best Attribute</vt:lpstr>
      <vt:lpstr>Lab 2: Decision Tree with Entropy</vt:lpstr>
      <vt:lpstr>Advantages of DT</vt:lpstr>
      <vt:lpstr>Challenges in Decision Trees</vt:lpstr>
      <vt:lpstr>How to address Overfitting</vt:lpstr>
      <vt:lpstr>Decision Trees Pruned Vs Unpruned</vt:lpstr>
      <vt:lpstr>Key Takeaways</vt:lpstr>
      <vt:lpstr>References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Machin</dc:title>
  <dc:creator>NweNwe Win</dc:creator>
  <cp:lastModifiedBy>Nwe Nwe</cp:lastModifiedBy>
  <cp:revision>58</cp:revision>
  <dcterms:created xsi:type="dcterms:W3CDTF">2025-01-01T02:32:59Z</dcterms:created>
  <dcterms:modified xsi:type="dcterms:W3CDTF">2026-02-01T12:40:07Z</dcterms:modified>
</cp:coreProperties>
</file>