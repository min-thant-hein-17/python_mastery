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62" r:id="rId4"/>
    <p:sldId id="266" r:id="rId5"/>
    <p:sldId id="263" r:id="rId6"/>
    <p:sldId id="267" r:id="rId7"/>
    <p:sldId id="264" r:id="rId8"/>
    <p:sldId id="265" r:id="rId9"/>
    <p:sldId id="272" r:id="rId10"/>
    <p:sldId id="273" r:id="rId11"/>
    <p:sldId id="268" r:id="rId12"/>
    <p:sldId id="274" r:id="rId13"/>
    <p:sldId id="269" r:id="rId14"/>
    <p:sldId id="270" r:id="rId15"/>
    <p:sldId id="271" r:id="rId16"/>
    <p:sldId id="258" r:id="rId17"/>
    <p:sldId id="275" r:id="rId18"/>
    <p:sldId id="277" r:id="rId19"/>
    <p:sldId id="278" r:id="rId20"/>
    <p:sldId id="279" r:id="rId21"/>
    <p:sldId id="280" r:id="rId22"/>
    <p:sldId id="261" r:id="rId2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15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38976D5-848C-908B-3946-53774615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00DDE0A2-21FC-33AC-6E32-C01C8DE5FD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EB3B97C7-8F61-C238-E642-5DBBF87BC6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2966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A5455BC-A706-DC3A-A3EF-ECB618F9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C58FE80F-0AFE-9006-435E-8B60407F1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8FB31EF7-8C82-EE72-42AD-4EC415F7D0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4745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2548F65-C40C-B337-3279-0A5354445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4DD0ED93-4446-EBEE-E299-CEC994D5BE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69E1A86E-7583-9EEC-AAE0-C34E051E6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3615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C96216E-A9ED-51F6-DCCE-0B74B3574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8BB5DFB7-E070-EEBF-B4A1-D70CB093C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6C72F3FF-1C7E-4A89-4F45-8692AAE6B4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9867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0ECC138-7DF5-6235-D947-8BCD2A27B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2B97D314-A348-19B6-6849-A85DCCDB1A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AF4511C0-1BBF-F9C6-3113-8286318B02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8784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9EB1D83-097B-C5C3-A481-2D54CF99A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0F80C23F-3371-D956-AAA1-7DCC3D5966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F83C1736-A7BD-ECCF-AD1D-05D396B22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172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40C0A20-7F00-6C0D-CAC4-AE281B64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94F8A408-8BD5-268A-8B0B-FE3C71DEC8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990D02A3-F418-D42F-F95C-B391D0138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8168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1A31D1F-570F-B9BC-41A8-61B1A0EFE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cad35507_0_5:notes">
            <a:extLst>
              <a:ext uri="{FF2B5EF4-FFF2-40B4-BE49-F238E27FC236}">
                <a16:creationId xmlns:a16="http://schemas.microsoft.com/office/drawing/2014/main" id="{113A76EB-0314-F70B-369B-23F820D70B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5cad35507_0_5:notes">
            <a:extLst>
              <a:ext uri="{FF2B5EF4-FFF2-40B4-BE49-F238E27FC236}">
                <a16:creationId xmlns:a16="http://schemas.microsoft.com/office/drawing/2014/main" id="{B1365E1B-0655-D716-55B4-1611FB3663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615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5cad3550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5cad3550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5eba4581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5eba4581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5775" y="4058125"/>
            <a:ext cx="39792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10"/>
          <p:cNvSpPr>
            <a:spLocks noGrp="1"/>
          </p:cNvSpPr>
          <p:nvPr>
            <p:ph type="pic" idx="2"/>
          </p:nvPr>
        </p:nvSpPr>
        <p:spPr>
          <a:xfrm>
            <a:off x="425763" y="364225"/>
            <a:ext cx="3979200" cy="34737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0"/>
          <p:cNvSpPr>
            <a:spLocks noGrp="1"/>
          </p:cNvSpPr>
          <p:nvPr>
            <p:ph type="pic" idx="3"/>
          </p:nvPr>
        </p:nvSpPr>
        <p:spPr>
          <a:xfrm>
            <a:off x="4739025" y="364225"/>
            <a:ext cx="3979200" cy="347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2"/>
          <p:cNvSpPr>
            <a:spLocks noGrp="1"/>
          </p:cNvSpPr>
          <p:nvPr>
            <p:ph type="pic" idx="2"/>
          </p:nvPr>
        </p:nvSpPr>
        <p:spPr>
          <a:xfrm>
            <a:off x="14000" y="0"/>
            <a:ext cx="42723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 txBox="1">
            <a:spLocks noGrp="1"/>
          </p:cNvSpPr>
          <p:nvPr>
            <p:ph type="subTitle" idx="1"/>
          </p:nvPr>
        </p:nvSpPr>
        <p:spPr>
          <a:xfrm>
            <a:off x="4566400" y="322175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3"/>
          </p:nvPr>
        </p:nvSpPr>
        <p:spPr>
          <a:xfrm>
            <a:off x="4636425" y="1008525"/>
            <a:ext cx="3836100" cy="3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 title="PU Presentation template (1).jpg"/>
          <p:cNvPicPr preferRelativeResize="0"/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>
            <a:off x="0" y="-140947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/>
          <p:nvPr/>
        </p:nvSpPr>
        <p:spPr>
          <a:xfrm rot="5400000">
            <a:off x="2401534" y="-1820597"/>
            <a:ext cx="3737700" cy="8130746"/>
          </a:xfrm>
          <a:prstGeom prst="round1Rect">
            <a:avLst>
              <a:gd name="adj" fmla="val 29851"/>
            </a:avLst>
          </a:prstGeom>
          <a:solidFill>
            <a:srgbClr val="FFE1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ctrTitle"/>
          </p:nvPr>
        </p:nvSpPr>
        <p:spPr>
          <a:xfrm>
            <a:off x="434225" y="845000"/>
            <a:ext cx="7144586" cy="16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dirty="0">
                <a:latin typeface="Poppins"/>
                <a:ea typeface="Poppins"/>
                <a:cs typeface="Poppins"/>
                <a:sym typeface="Poppins"/>
              </a:rPr>
              <a:t>Ensemble Learning: Boosting and Bagging Algorithms</a:t>
            </a:r>
            <a:endParaRPr sz="4500" b="1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3" name="Google Shape;63;p13" title="Primary Logo_horizontal-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A08252B-D91A-4596-8B1E-8C94BB5C9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9539" y="4258116"/>
            <a:ext cx="8520600" cy="7926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dirty="0"/>
              <a:t>Dr. Nwe </a:t>
            </a:r>
            <a:r>
              <a:rPr lang="en-US" dirty="0" err="1"/>
              <a:t>Nwe</a:t>
            </a:r>
            <a:r>
              <a:rPr lang="en-US" dirty="0"/>
              <a:t> </a:t>
            </a:r>
            <a:r>
              <a:rPr lang="en-US" dirty="0" err="1"/>
              <a:t>Htay</a:t>
            </a:r>
            <a:r>
              <a:rPr lang="en-US" dirty="0"/>
              <a:t> Win</a:t>
            </a:r>
          </a:p>
          <a:p>
            <a:pPr algn="l"/>
            <a:r>
              <a:rPr lang="en-US" dirty="0"/>
              <a:t>Professor</a:t>
            </a:r>
          </a:p>
          <a:p>
            <a:pPr algn="l"/>
            <a:r>
              <a:rPr lang="en-US" dirty="0" err="1"/>
              <a:t>Parami</a:t>
            </a:r>
            <a:r>
              <a:rPr lang="en-US" dirty="0"/>
              <a:t> </a:t>
            </a:r>
            <a:r>
              <a:rPr lang="en-US" dirty="0" err="1"/>
              <a:t>Unviersity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body" idx="3"/>
          </p:nvPr>
        </p:nvSpPr>
        <p:spPr>
          <a:xfrm>
            <a:off x="458303" y="863623"/>
            <a:ext cx="7938638" cy="322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Ensemble learning is a technique that combines multiple individual models to build a more powerful and accurate predictive model.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It works on the idea that a group of diverse models performs better than a single model.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By leveraging the strengths of different algorithms, ensemble methods help reduce individual model weaknesses.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Ensemble learning improves prediction accuracy by minimizing bias, variance, or both.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It enhances model robustness, making predictions more stable and reliable across different datasets.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Helps in error reduction, as mistakes made by one model can be corrected by others.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Commonly used in classification, regression, and anomaly detection tasks.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Ensemble models often perform better on complex and real-world data.</a:t>
            </a:r>
          </a:p>
          <a:p>
            <a:pPr marL="171450" indent="-171450" algn="just">
              <a:lnSpc>
                <a:spcPct val="95000"/>
              </a:lnSpc>
              <a:spcAft>
                <a:spcPts val="1200"/>
              </a:spcAft>
            </a:pPr>
            <a:r>
              <a:rPr lang="en-US" sz="1600" dirty="0"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Widely used in competitions and production systems due to their strong performance.</a:t>
            </a:r>
            <a:endParaRPr sz="1600" dirty="0"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521622" y="289223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Ensemble learning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94D7B47-104E-2B27-F38F-0FC7AF763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0B3A1C98-84BF-FEAD-898E-352EAE27E0B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9793" y="136823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Ensemble Techniques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3EEDA4CE-8D1E-0862-A3BA-1A41A91382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81BCF1-8609-4414-7383-4F817F261A66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199966" y="511587"/>
            <a:ext cx="8218284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Bagging (Bootstrap Aggregating):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Trains models independently on different data samples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variance (e.g., Random Forest)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Trains models sequentially, focusing on previous errors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accuracy (e.g., AdaBoost, Gradient Boosting)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Stacking: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predictions from multiple models using a meta-model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AutoShape 3" descr="Random Forest Algorithm in Machine Learning">
            <a:extLst>
              <a:ext uri="{FF2B5EF4-FFF2-40B4-BE49-F238E27FC236}">
                <a16:creationId xmlns:a16="http://schemas.microsoft.com/office/drawing/2014/main" id="{3B5806DA-8BA7-E9E0-0DD7-1DF7055E69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7" descr="Random Forest Algorithm in Machine Learning">
            <a:extLst>
              <a:ext uri="{FF2B5EF4-FFF2-40B4-BE49-F238E27FC236}">
                <a16:creationId xmlns:a16="http://schemas.microsoft.com/office/drawing/2014/main" id="{CE0248BD-BE6D-189F-0A6F-479F203812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9" descr="random forest | methods of ensemble">
            <a:extLst>
              <a:ext uri="{FF2B5EF4-FFF2-40B4-BE49-F238E27FC236}">
                <a16:creationId xmlns:a16="http://schemas.microsoft.com/office/drawing/2014/main" id="{AAA4384E-5AFA-5E4A-81A5-4B09F40119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8237E7-D74F-68F5-B923-436DFDCAD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23688"/>
            <a:ext cx="3914834" cy="217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328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FE36F4-CFBC-1F10-DD85-5CA79369F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919" y="244354"/>
            <a:ext cx="3906000" cy="504300"/>
          </a:xfrm>
        </p:spPr>
        <p:txBody>
          <a:bodyPr/>
          <a:lstStyle/>
          <a:p>
            <a:r>
              <a:rPr lang="en-US" dirty="0"/>
              <a:t>How do they work?</a:t>
            </a:r>
          </a:p>
        </p:txBody>
      </p:sp>
      <p:pic>
        <p:nvPicPr>
          <p:cNvPr id="6148" name="Picture 4" descr="the difference between bagging, boosting and stacking">
            <a:extLst>
              <a:ext uri="{FF2B5EF4-FFF2-40B4-BE49-F238E27FC236}">
                <a16:creationId xmlns:a16="http://schemas.microsoft.com/office/drawing/2014/main" id="{56DD53F8-AD6E-8E68-4E1C-F4349353DB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60" y="870005"/>
            <a:ext cx="7162918" cy="4029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963A4E-0BF9-75AC-41E5-3310369784E5}"/>
              </a:ext>
            </a:extLst>
          </p:cNvPr>
          <p:cNvSpPr txBox="1"/>
          <p:nvPr/>
        </p:nvSpPr>
        <p:spPr>
          <a:xfrm>
            <a:off x="3420057" y="4835723"/>
            <a:ext cx="58047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Ref: https://spotintelligence.com/2024/03/18/bagging-boosting-stacking/</a:t>
            </a:r>
          </a:p>
        </p:txBody>
      </p:sp>
    </p:spTree>
    <p:extLst>
      <p:ext uri="{BB962C8B-B14F-4D97-AF65-F5344CB8AC3E}">
        <p14:creationId xmlns:p14="http://schemas.microsoft.com/office/powerpoint/2010/main" val="40060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EE6324C-3BDE-F450-B755-9C4500B1E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26E24B19-6CC4-EA34-03BD-6350A5785B7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7859" y="145298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What is Bagging?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2EBD8105-6003-3BDE-7FF2-19078F449CD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A4557A-3E98-38BC-3B52-4523CEE07D2B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227859" y="868067"/>
            <a:ext cx="8653494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Bagging is an ensemble learning technique used to improve the accuracy and stability of machine learning models.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works by training multiple models on different subsets of the same dataset and combining their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Steps of Bagging Algorithm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Sampling: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subsets of the training data are created using bootstrap sampling (random sampling with replacement).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000" dirty="0">
                <a:solidFill>
                  <a:schemeClr val="tx1"/>
                </a:solidFill>
                <a:latin typeface="Arial" panose="020B0604020202020204" pitchFamily="34" charset="0"/>
              </a:rPr>
              <a:t>A separate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is trained independently on each data subset.</a:t>
            </a: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Aggregation: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Predictions from all models are combined: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Averaging for regression tasks</a:t>
            </a:r>
          </a:p>
          <a:p>
            <a:pPr marL="742950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voting for classification tasks</a:t>
            </a:r>
          </a:p>
        </p:txBody>
      </p:sp>
    </p:spTree>
    <p:extLst>
      <p:ext uri="{BB962C8B-B14F-4D97-AF65-F5344CB8AC3E}">
        <p14:creationId xmlns:p14="http://schemas.microsoft.com/office/powerpoint/2010/main" val="2187951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2480ED-D7DF-23F9-E770-45E52C1B1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834" y="214385"/>
            <a:ext cx="3906000" cy="504300"/>
          </a:xfrm>
        </p:spPr>
        <p:txBody>
          <a:bodyPr/>
          <a:lstStyle/>
          <a:p>
            <a:r>
              <a:rPr lang="en-US" b="1" dirty="0"/>
              <a:t>How Does Bagging Work?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5B2FC-5FD8-195F-2298-B98AFDF1A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58" y="628481"/>
            <a:ext cx="4709568" cy="38865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3D4140-6AA1-2397-1902-66713FCC6A2D}"/>
              </a:ext>
            </a:extLst>
          </p:cNvPr>
          <p:cNvSpPr txBox="1"/>
          <p:nvPr/>
        </p:nvSpPr>
        <p:spPr>
          <a:xfrm>
            <a:off x="4027942" y="214385"/>
            <a:ext cx="498959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Bagging Algorithm Steps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Input Dataset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Start with the original training dataset.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Bootstrap Sampling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Generate multiple random subsets of the dataset using </a:t>
            </a:r>
            <a:r>
              <a:rPr lang="en-US" b="1" dirty="0"/>
              <a:t>sampling with replacement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Model Training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Train a </a:t>
            </a:r>
            <a:r>
              <a:rPr lang="en-US" b="1" dirty="0"/>
              <a:t>separate base model</a:t>
            </a:r>
            <a:r>
              <a:rPr lang="en-US" dirty="0"/>
              <a:t> (e.g., decision tree, SVM, neural network) on each bootstrap sample.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Independent Learning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Each model is trained </a:t>
            </a:r>
            <a:r>
              <a:rPr lang="en-US" b="1" dirty="0"/>
              <a:t>independently and in parallel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Prediction Phase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For a new input instance, obtain predictions from all trained models.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Aggregation of Predictions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Combine all model outputs: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Averaging</a:t>
            </a:r>
            <a:r>
              <a:rPr lang="en-US" dirty="0"/>
              <a:t> for regression problems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Majority voting</a:t>
            </a:r>
            <a:r>
              <a:rPr lang="en-US" dirty="0"/>
              <a:t> for classification problems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Final Output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aggregated result is the final prediction.</a:t>
            </a:r>
          </a:p>
        </p:txBody>
      </p:sp>
    </p:spTree>
    <p:extLst>
      <p:ext uri="{BB962C8B-B14F-4D97-AF65-F5344CB8AC3E}">
        <p14:creationId xmlns:p14="http://schemas.microsoft.com/office/powerpoint/2010/main" val="1397674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6AC4D1B2-841C-74AD-7E50-921DE529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BF9FB1A2-710A-B4FB-23A2-A3FD0579F27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2858" y="347589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Key Benefits of Bagging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1251DC2E-30C5-5D79-174F-E913623B2B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5B60D2-A18B-089F-5A99-1FA5B7BDDC9E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462858" y="1011677"/>
            <a:ext cx="8218284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Variance: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Averaging multiple models decreases variance and helps prevent overfitting.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Accuracy: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combined model generally performs better than individual models.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 Stability: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the model less sensitive to noise and fluctuations in the training data.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with High-Variance Models: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Especially effective for models like decision trees.</a:t>
            </a:r>
          </a:p>
        </p:txBody>
      </p:sp>
    </p:spTree>
    <p:extLst>
      <p:ext uri="{BB962C8B-B14F-4D97-AF65-F5344CB8AC3E}">
        <p14:creationId xmlns:p14="http://schemas.microsoft.com/office/powerpoint/2010/main" val="3682587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6607FF5-3707-6C1A-1A54-7408FC749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C824CA34-7388-E619-79F2-2DF9E2BA10A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9792" y="227528"/>
            <a:ext cx="6054276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Poppins"/>
                <a:ea typeface="Poppins"/>
                <a:cs typeface="Poppins"/>
                <a:sym typeface="Poppins"/>
              </a:rPr>
              <a:t>Popular Bagging Algorithm : </a:t>
            </a: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Random Forest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E221BC68-437B-07FE-695F-BACFF3EF6B6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8CDF6C-6F93-12A9-36A1-3D117390515F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229792" y="761411"/>
            <a:ext cx="8218284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is a powerful ensemble learning algorithm that uses bagging to build a robust and accurate predictive model.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consists of a collection of decision trees, where each tree is trained on a bootstrap sample of the training data.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increase diversity among trees, Random Forest introduces random feature selection, considering only a subset of features at each split.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randomness reduces correlation between trees and improves overall performance.</a:t>
            </a:r>
          </a:p>
        </p:txBody>
      </p:sp>
      <p:sp>
        <p:nvSpPr>
          <p:cNvPr id="3" name="AutoShape 2" descr="Random Forest Approach in R Programming - GeeksforGeeks">
            <a:extLst>
              <a:ext uri="{FF2B5EF4-FFF2-40B4-BE49-F238E27FC236}">
                <a16:creationId xmlns:a16="http://schemas.microsoft.com/office/drawing/2014/main" id="{08E9FE57-620A-06D9-7EC8-54597347C1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Random Forest Python Machine Learning Decision Tree Tree Based Machine  Learning Forest Algorithm Random Forest">
            <a:extLst>
              <a:ext uri="{FF2B5EF4-FFF2-40B4-BE49-F238E27FC236}">
                <a16:creationId xmlns:a16="http://schemas.microsoft.com/office/drawing/2014/main" id="{117877EB-1931-A1E4-FF26-157F1F748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603" y="2430803"/>
            <a:ext cx="4284662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03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A228BE-BE4A-B771-6822-2F86BF2AD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132" y="408580"/>
            <a:ext cx="3906000" cy="504300"/>
          </a:xfrm>
        </p:spPr>
        <p:txBody>
          <a:bodyPr/>
          <a:lstStyle/>
          <a:p>
            <a:r>
              <a:rPr lang="en-US" b="1" dirty="0"/>
              <a:t>Random Forest Algorithm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4D2C8C-8E38-4F80-6857-4FF65B49417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18094" y="2268082"/>
            <a:ext cx="6642629" cy="3017723"/>
          </a:xfrm>
        </p:spPr>
        <p:txBody>
          <a:bodyPr>
            <a:noAutofit/>
          </a:bodyPr>
          <a:lstStyle/>
          <a:p>
            <a:pPr algn="just"/>
            <a:r>
              <a:rPr lang="en-US" sz="1400" dirty="0"/>
              <a:t>Select N random records from the original dataset using bootstrap sampling.</a:t>
            </a:r>
          </a:p>
          <a:p>
            <a:pPr algn="just"/>
            <a:r>
              <a:rPr lang="en-US" sz="1400" dirty="0"/>
              <a:t>Build a decision tree using these N selected records.</a:t>
            </a:r>
          </a:p>
          <a:p>
            <a:pPr algn="just"/>
            <a:r>
              <a:rPr lang="en-US" sz="1400" dirty="0"/>
              <a:t>Repeat the above steps by choosing the desired number of trees to create the forest.</a:t>
            </a:r>
          </a:p>
          <a:p>
            <a:pPr algn="just"/>
            <a:r>
              <a:rPr lang="en-US" sz="1400" dirty="0"/>
              <a:t>For a new data record:</a:t>
            </a:r>
          </a:p>
          <a:p>
            <a:pPr marL="914400" lvl="2" indent="-342900" algn="just">
              <a:buSzPts val="1800"/>
              <a:buFont typeface="Arial"/>
              <a:buChar char="●"/>
            </a:pPr>
            <a:r>
              <a:rPr lang="en-US" dirty="0"/>
              <a:t>In regression, each tree predicts a value for the output variable Y.</a:t>
            </a:r>
          </a:p>
          <a:p>
            <a:pPr marL="1371600" lvl="4" indent="-342900" algn="just">
              <a:buSzPts val="1800"/>
            </a:pPr>
            <a:r>
              <a:rPr lang="en-US" dirty="0"/>
              <a:t>The final prediction is obtained by taking the average of all tree outputs.</a:t>
            </a:r>
          </a:p>
          <a:p>
            <a:pPr marL="914400" lvl="2" indent="-342900" algn="just">
              <a:buSzPts val="1800"/>
              <a:buFont typeface="Arial"/>
              <a:buChar char="●"/>
            </a:pPr>
            <a:r>
              <a:rPr lang="en-US" dirty="0"/>
              <a:t>In classification, each tree predicts a class label.</a:t>
            </a:r>
          </a:p>
          <a:p>
            <a:pPr marL="1371600" lvl="4" indent="-342900" algn="just">
              <a:buSzPts val="1800"/>
            </a:pPr>
            <a:r>
              <a:rPr lang="en-US" dirty="0"/>
              <a:t>The final class is determined by majority voting among all trees.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60C10A-0C16-4615-4B05-F51C4C991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4553"/>
            <a:ext cx="3817806" cy="203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143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42B4A-D9A4-958B-D3DB-56C8AFD2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9346A9D-A988-B857-6CEA-F7FC46680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034" y="1994188"/>
            <a:ext cx="3906000" cy="5043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Hands-on Tutorial for Random Forest</a:t>
            </a:r>
          </a:p>
        </p:txBody>
      </p:sp>
    </p:spTree>
    <p:extLst>
      <p:ext uri="{BB962C8B-B14F-4D97-AF65-F5344CB8AC3E}">
        <p14:creationId xmlns:p14="http://schemas.microsoft.com/office/powerpoint/2010/main" val="3378044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C4476D5-1D0D-4C55-1F14-354D2FDE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FB3A7662-4BED-76E8-AF46-85BA5D8829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7859" y="145298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What is Boosting?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AF8FCC05-071B-0617-DA46-A0F619C746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505CF7-ACAA-A032-6C37-D645867E417E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139936" y="649598"/>
            <a:ext cx="865349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 algorithms combine multiple low-accuracy (weak) classifiers to create a highly accurate (strong) classifier.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weak classifier performs slightly better than random guessing (for example, better than flipping a coin).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 works by training models sequentially: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first model is trained on the original dataset.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subsequent model focuses on correcting the errors made by previous models.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models are added until: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training data is predicted accurately, or</a:t>
            </a:r>
          </a:p>
          <a:p>
            <a:pPr marL="742950" lvl="1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predefined maximum number of models is reached.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final strong classifier achieves an error rate close to zero by combining all weak learners.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 algorithms can identify and emphasize difficult or misclassified samples during training.</a:t>
            </a:r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Boosting is less prone to overfitting and often improves performance on complex datasets.</a:t>
            </a:r>
          </a:p>
        </p:txBody>
      </p:sp>
    </p:spTree>
    <p:extLst>
      <p:ext uri="{BB962C8B-B14F-4D97-AF65-F5344CB8AC3E}">
        <p14:creationId xmlns:p14="http://schemas.microsoft.com/office/powerpoint/2010/main" val="1873800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6B9FC0-92C4-83B9-D7B9-9F718D20A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546" y="389926"/>
            <a:ext cx="3906000" cy="504300"/>
          </a:xfrm>
        </p:spPr>
        <p:txBody>
          <a:bodyPr/>
          <a:lstStyle/>
          <a:p>
            <a:r>
              <a:rPr lang="en-US" b="1" dirty="0"/>
              <a:t>Key Characteristics of Boosting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7A8F5E-8512-F75D-57D3-42EED197F78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956207" y="1093858"/>
            <a:ext cx="3836100" cy="3654600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Builds models </a:t>
            </a:r>
            <a:r>
              <a:rPr lang="en-US" b="1" dirty="0"/>
              <a:t>sequentially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Focuses on </a:t>
            </a:r>
            <a:r>
              <a:rPr lang="en-US" b="1" dirty="0"/>
              <a:t>hard-to-classify instances</a:t>
            </a:r>
            <a:endParaRPr lang="en-US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Reduces </a:t>
            </a:r>
            <a:r>
              <a:rPr lang="en-US" b="1" dirty="0"/>
              <a:t>bias</a:t>
            </a:r>
            <a:r>
              <a:rPr lang="en-US" dirty="0"/>
              <a:t> and improves accuracy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Converts </a:t>
            </a:r>
            <a:r>
              <a:rPr lang="en-US" b="1" dirty="0"/>
              <a:t>weak learners into a strong learner</a:t>
            </a:r>
            <a:endParaRPr lang="en-US" dirty="0"/>
          </a:p>
          <a:p>
            <a:pPr algn="just"/>
            <a:endParaRPr lang="en-US" dirty="0"/>
          </a:p>
        </p:txBody>
      </p:sp>
      <p:pic>
        <p:nvPicPr>
          <p:cNvPr id="14340" name="Picture 4" descr="boosting explained">
            <a:extLst>
              <a:ext uri="{FF2B5EF4-FFF2-40B4-BE49-F238E27FC236}">
                <a16:creationId xmlns:a16="http://schemas.microsoft.com/office/drawing/2014/main" id="{D1120937-A3B9-436E-346C-502ACE1B9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18946"/>
            <a:ext cx="4783015" cy="302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705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292B6F0-D3E9-5FAC-9E62-847EE866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C84D9E0E-688C-71D0-75A2-8DBEF6FBC1B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7859" y="145298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Adaboost (Adaptive Boosting)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4553D7AA-732E-0B40-B62A-72B85385483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4AC4F4-7161-E2C7-1DEC-B9B26994E702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133898" y="649598"/>
            <a:ext cx="8653494" cy="4227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AdaBoost was the first highly successful boosting algorithm.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It was originally developed for binary classification problems.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AdaBoost assigns higher weights to misclassified samples, forcing subsequent learners to focus on them.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Weak classifiers with higher accuracy receive higher influence in the final prediction.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By combining multiple weak classifiers, AdaBoost produces a strong classifier.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dirty="0"/>
          </a:p>
          <a:p>
            <a:pPr algn="just"/>
            <a:r>
              <a:rPr lang="en-US" b="1" dirty="0"/>
              <a:t>Other Boosting Techniques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Gradient Boosting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r>
              <a:rPr lang="en-US" dirty="0"/>
              <a:t> (Extreme Gradient Boosting)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err="1"/>
              <a:t>LightGBM</a:t>
            </a:r>
            <a:endParaRPr lang="en-US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 err="1"/>
              <a:t>CatBoost</a:t>
            </a:r>
            <a:endParaRPr lang="en-US" dirty="0"/>
          </a:p>
          <a:p>
            <a:pPr marL="28575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943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BDE974C-C63E-1024-FEC5-3DBB9900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7FFFCE3A-E779-2E27-653A-70C10E97524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7859" y="145298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How Adaboost Works?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D590E076-D83C-F7F8-567A-EDE24FDB92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0BC276-5124-F527-FD27-13127FF2EE00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4333866" y="4702105"/>
            <a:ext cx="5646452" cy="296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42" name="Picture 2" descr="AdaBoost Algorithm">
            <a:extLst>
              <a:ext uri="{FF2B5EF4-FFF2-40B4-BE49-F238E27FC236}">
                <a16:creationId xmlns:a16="http://schemas.microsoft.com/office/drawing/2014/main" id="{4E8B5B28-256F-2246-72FD-F60D8F049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585" y="574162"/>
            <a:ext cx="7330830" cy="412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46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D8131C6-01E5-5E6A-55CC-80071DCF2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>
            <a:extLst>
              <a:ext uri="{FF2B5EF4-FFF2-40B4-BE49-F238E27FC236}">
                <a16:creationId xmlns:a16="http://schemas.microsoft.com/office/drawing/2014/main" id="{26E134ED-31F2-B648-A539-6B1843F66B8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27859" y="145298"/>
            <a:ext cx="3906000" cy="50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Poppins"/>
                <a:ea typeface="Poppins"/>
                <a:cs typeface="Poppins"/>
                <a:sym typeface="Poppins"/>
              </a:rPr>
              <a:t>Steps of Adaboost Algorithm</a:t>
            </a:r>
            <a:endParaRPr sz="24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1" name="Google Shape;71;p14" title="Primary Logo_horizontal-01.png">
            <a:extLst>
              <a:ext uri="{FF2B5EF4-FFF2-40B4-BE49-F238E27FC236}">
                <a16:creationId xmlns:a16="http://schemas.microsoft.com/office/drawing/2014/main" id="{70575835-1AD6-BFF8-163A-F4462AFF1F1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744757C-6C6F-C18D-4590-64E6C243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866" y="937317"/>
            <a:ext cx="4530236" cy="356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 Calculate Classification Error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error rate (</a:t>
            </a:r>
            <a:r>
              <a:rPr lang="el-GR" b="1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ε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of the weak classifier is calculated based on misclassified samples.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Misclassified instances contribute more to the error due to their assigned weights.</a:t>
            </a:r>
          </a:p>
          <a:p>
            <a:pPr lvl="1"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Assign Weight to the Weak Classifier 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classifier weight (</a:t>
            </a:r>
            <a:r>
              <a:rPr lang="el-G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is computed based on its accuracy.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classifier with lower error is given higher importance in the final prediction.</a:t>
            </a: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Better-performing classifiers influence the final decision more strongly.</a:t>
            </a:r>
          </a:p>
          <a:p>
            <a:pPr algn="just"/>
            <a:endParaRPr 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69B539-64DC-ECBA-8FF0-BF8A0D271170}"/>
              </a:ext>
            </a:extLst>
          </p:cNvPr>
          <p:cNvSpPr>
            <a:spLocks noGrp="1" noChangeArrowheads="1"/>
          </p:cNvSpPr>
          <p:nvPr>
            <p:ph type="body" idx="3"/>
          </p:nvPr>
        </p:nvSpPr>
        <p:spPr bwMode="auto">
          <a:xfrm>
            <a:off x="227859" y="982020"/>
            <a:ext cx="4462142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Initialize Sample Weights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a binary classification dataset.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Initially, equal weights are assigned to all training instances.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there are N data points, each data point is given a weight of 1/N.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all samples are treated as equally important..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Train the First Weak Classifier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weak learner (such as a decision stump) is trained using the weighted dataset.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classifier attempts to separate the data into classes based on a single feature.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made for all training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2757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232570" y="1152475"/>
            <a:ext cx="3999900" cy="2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Step 5: Update Sample Weights</a:t>
            </a:r>
          </a:p>
          <a:p>
            <a:pPr marL="628650" lvl="1" indent="-171450" algn="just">
              <a:spcAft>
                <a:spcPts val="12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Modify weights based on the results of the previous step.</a:t>
            </a:r>
          </a:p>
          <a:p>
            <a:pPr marL="628650" lvl="1" indent="-171450" algn="just">
              <a:spcAft>
                <a:spcPts val="12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Increase weights for misclassified instances to force the next learner to focus on them.</a:t>
            </a:r>
          </a:p>
          <a:p>
            <a:pPr marL="628650" lvl="1" indent="-171450" algn="just">
              <a:spcAft>
                <a:spcPts val="12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Decrease weights for correctly classified instances to reduce their priority in the next round.</a:t>
            </a:r>
          </a:p>
          <a:p>
            <a:pPr marL="628650" lvl="1" indent="-171450" algn="just">
              <a:spcAft>
                <a:spcPts val="12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Normalize the new weights so that the sum of all weights remains equal to 1.</a:t>
            </a:r>
          </a:p>
        </p:txBody>
      </p:sp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53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/>
              <a:t>Adaboost</a:t>
            </a:r>
            <a:r>
              <a:rPr lang="en-US" sz="2400" b="1" dirty="0"/>
              <a:t> Algorithm’s Step Continued</a:t>
            </a:r>
            <a:endParaRPr sz="2400" b="1" dirty="0"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2"/>
          </p:nvPr>
        </p:nvSpPr>
        <p:spPr>
          <a:xfrm>
            <a:off x="4572000" y="1152475"/>
            <a:ext cx="3999900" cy="28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Step 6: Iterate and Combine (Final Prediction)</a:t>
            </a:r>
          </a:p>
          <a:p>
            <a:pPr marL="628650" lvl="1" indent="-171450" algn="just">
              <a:spcAft>
                <a:spcPts val="12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Repeat the process (Steps 2–5) for multiple iterations, creating a series of learners.</a:t>
            </a:r>
          </a:p>
          <a:p>
            <a:pPr marL="628650" lvl="1" indent="-171450" algn="just">
              <a:spcAft>
                <a:spcPts val="12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The individual classifiers "vote," and the final prediction is returned based on majority voting.</a:t>
            </a:r>
          </a:p>
          <a:p>
            <a:pPr marL="628650" lvl="1" indent="-171450" algn="just">
              <a:spcAft>
                <a:spcPts val="1200"/>
              </a:spcAft>
            </a:pP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This results in a single predictive model with increased performance and accuracy.</a:t>
            </a:r>
          </a:p>
          <a:p>
            <a:pPr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Google Shape;79;p15" title="Primary Logo_horizontal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7735-C484-0907-690E-FD37BA4CD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93" y="137294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Overall Workflow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360C2A-2002-139A-F3A3-081B98FD5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093122"/>
              </p:ext>
            </p:extLst>
          </p:nvPr>
        </p:nvGraphicFramePr>
        <p:xfrm>
          <a:off x="311149" y="911127"/>
          <a:ext cx="8521701" cy="1859280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840567">
                  <a:extLst>
                    <a:ext uri="{9D8B030D-6E8A-4147-A177-3AD203B41FA5}">
                      <a16:colId xmlns:a16="http://schemas.microsoft.com/office/drawing/2014/main" val="1515358442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587172107"/>
                    </a:ext>
                  </a:extLst>
                </a:gridCol>
                <a:gridCol w="2840567">
                  <a:extLst>
                    <a:ext uri="{9D8B030D-6E8A-4147-A177-3AD203B41FA5}">
                      <a16:colId xmlns:a16="http://schemas.microsoft.com/office/drawing/2014/main" val="21507555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887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 Weights ($1/N$)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Ensures every point starts with equal importance.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49723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Iterate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&amp; Weight Update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subsequent models on "hard" cases (Boosting).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8349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 Voting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low-performing models into a high-performance ensemble.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991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857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596B-44CC-4F1B-C8A5-2DECCA845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92" y="154879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dirty="0"/>
              <a:t>Walkthrough of </a:t>
            </a:r>
            <a:r>
              <a:rPr lang="en-US" dirty="0" err="1"/>
              <a:t>Adaboost</a:t>
            </a:r>
            <a:r>
              <a:rPr lang="en-US" dirty="0"/>
              <a:t> Algorithm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3D2620-A3B4-88D4-81ED-F44FCA4E68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573225"/>
              </p:ext>
            </p:extLst>
          </p:nvPr>
        </p:nvGraphicFramePr>
        <p:xfrm>
          <a:off x="622300" y="742950"/>
          <a:ext cx="8181232" cy="1828800"/>
        </p:xfrm>
        <a:graphic>
          <a:graphicData uri="http://schemas.openxmlformats.org/drawingml/2006/table">
            <a:tbl>
              <a:tblPr>
                <a:effectLst>
                  <a:reflection blurRad="6350" stA="50000" endA="300" endPos="55000" dir="5400000" sy="-100000" algn="bl" rotWithShape="0"/>
                </a:effectLst>
              </a:tblPr>
              <a:tblGrid>
                <a:gridCol w="2045308">
                  <a:extLst>
                    <a:ext uri="{9D8B030D-6E8A-4147-A177-3AD203B41FA5}">
                      <a16:colId xmlns:a16="http://schemas.microsoft.com/office/drawing/2014/main" val="831713465"/>
                    </a:ext>
                  </a:extLst>
                </a:gridCol>
                <a:gridCol w="2045308">
                  <a:extLst>
                    <a:ext uri="{9D8B030D-6E8A-4147-A177-3AD203B41FA5}">
                      <a16:colId xmlns:a16="http://schemas.microsoft.com/office/drawing/2014/main" val="3548280840"/>
                    </a:ext>
                  </a:extLst>
                </a:gridCol>
                <a:gridCol w="2045308">
                  <a:extLst>
                    <a:ext uri="{9D8B030D-6E8A-4147-A177-3AD203B41FA5}">
                      <a16:colId xmlns:a16="http://schemas.microsoft.com/office/drawing/2014/main" val="2334469972"/>
                    </a:ext>
                  </a:extLst>
                </a:gridCol>
                <a:gridCol w="2045308">
                  <a:extLst>
                    <a:ext uri="{9D8B030D-6E8A-4147-A177-3AD203B41FA5}">
                      <a16:colId xmlns:a16="http://schemas.microsoft.com/office/drawing/2014/main" val="10324354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No.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Credit Score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(Actual)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Weight (wi​)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02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$1/5 = 0.2$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840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$1/5 = 0.2$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943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$1/5 = 0.2$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836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$1/5 = 0.2$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7718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  <a:endParaRPr lang="en-US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$1/5 = 0.2$</a:t>
                      </a:r>
                    </a:p>
                  </a:txBody>
                  <a:tcPr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51647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A43B42A7-7296-3E0B-C378-CC20967F31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150" y="2837037"/>
            <a:ext cx="7821372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Create the First Weak Learner (Stump)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our first decision stump is: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"If Credit Score is 'High', predict 'Yes'. Otherwise, predict 'No'."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1: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Yes (Correct)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2: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(Correct)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3: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Yes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 is No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4: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Low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(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 is Yes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5: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 Yes (Correct)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878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3EF19ABB-9C71-1E79-BBA0-F666325DF0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9121" y="208876"/>
            <a:ext cx="7207635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Calculate the Total Error (</a:t>
            </a:r>
            <a:r>
              <a:rPr lang="el-GR" sz="1600" b="1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  <a:r>
              <a:rPr lang="el-GR" sz="1600" b="0" i="0" dirty="0">
                <a:solidFill>
                  <a:srgbClr val="2021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total error is the sum of the weights of the misclassified records (Rows 3 and 4).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B49888-9C4B-82CA-A4A0-3A1CC0BDD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027" y="672255"/>
            <a:ext cx="3162574" cy="586791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98E118AE-0C44-A418-C745-35419BD1C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1152475"/>
            <a:ext cx="6207148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Calculate the Amount of Say (</a:t>
            </a:r>
            <a:r>
              <a:rPr lang="el-GR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α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determines how much influence this specific stump has on the final prediction.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A756D-820B-2935-5070-71611B7BE8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2190" y="1602212"/>
            <a:ext cx="2905496" cy="12240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F71D6B-8C25-53D1-0FE5-6B2D7E7AD88C}"/>
              </a:ext>
            </a:extLst>
          </p:cNvPr>
          <p:cNvSpPr txBox="1"/>
          <p:nvPr/>
        </p:nvSpPr>
        <p:spPr>
          <a:xfrm>
            <a:off x="409121" y="2838266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Update Sample Weights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increase the weights for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predictions so the next model focuses on them, and decrease them for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Correct Predictions (Rows 1, 2, 5):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Incorrect Predictions (Rows 3,4):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825003-5D21-2569-E336-54537BC45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030" y="3987982"/>
            <a:ext cx="3353091" cy="3962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5DDBE6-5DBA-FFE3-E314-E9DA76737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2190" y="4679074"/>
            <a:ext cx="3254022" cy="3810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48E7F5A-FB10-0D2C-4918-DB81BE735A80}"/>
              </a:ext>
            </a:extLst>
          </p:cNvPr>
          <p:cNvSpPr txBox="1"/>
          <p:nvPr/>
        </p:nvSpPr>
        <p:spPr>
          <a:xfrm>
            <a:off x="4906212" y="2170696"/>
            <a:ext cx="382866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5: Normalize the Weights</a:t>
            </a:r>
          </a:p>
          <a:p>
            <a:endParaRPr lang="en-US" dirty="0"/>
          </a:p>
          <a:p>
            <a:r>
              <a:rPr lang="en-US" dirty="0"/>
              <a:t>The new weights must sum to 1. The current sum is (3 * 0.163) + (2 * 0.245) = 0.489 + 0.490 = 0.979.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C0EEA35-D81F-9BC9-F0FF-E93E2A92B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6212" y="3500260"/>
            <a:ext cx="4155612" cy="59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55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9E34B-A477-B96C-58E8-13B65833B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Final Output Table for Next Iteration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70741-A1C1-97B7-BFEB-6078B085D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307006" cy="77360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updated weights for the second weak learner would be: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C7BC85B-923E-1A6C-3268-8FEC43310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058"/>
              </p:ext>
            </p:extLst>
          </p:nvPr>
        </p:nvGraphicFramePr>
        <p:xfrm>
          <a:off x="311150" y="2205030"/>
          <a:ext cx="8521700" cy="2011680"/>
        </p:xfrm>
        <a:graphic>
          <a:graphicData uri="http://schemas.openxmlformats.org/drawingml/2006/table">
            <a:tbl>
              <a:tblPr/>
              <a:tblGrid>
                <a:gridCol w="1704340">
                  <a:extLst>
                    <a:ext uri="{9D8B030D-6E8A-4147-A177-3AD203B41FA5}">
                      <a16:colId xmlns:a16="http://schemas.microsoft.com/office/drawing/2014/main" val="3282302545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811880572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337328717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92437716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0786728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Row No.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Approved (Actual)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Predicted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Weight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7439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734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67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Wrong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351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Wrong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659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Correct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7131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3993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47CE-A354-3B74-C97F-F070CAE4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E6F32-FB1F-78E0-0313-2FCCC990C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382849" cy="34164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Data Mining: Practical Machine Learning Tools and Techniques  (3rd edition) / Ian Witten, </a:t>
            </a:r>
            <a:r>
              <a:rPr lang="en-US" dirty="0" err="1">
                <a:solidFill>
                  <a:schemeClr val="tx1"/>
                </a:solidFill>
              </a:rPr>
              <a:t>Eibe</a:t>
            </a:r>
            <a:r>
              <a:rPr lang="en-US" dirty="0">
                <a:solidFill>
                  <a:schemeClr val="tx1"/>
                </a:solidFill>
              </a:rPr>
              <a:t> Frank; Elsevier</a:t>
            </a:r>
            <a:r>
              <a:rPr lang="en-US">
                <a:solidFill>
                  <a:schemeClr val="tx1"/>
                </a:solidFill>
              </a:rPr>
              <a:t>, 2011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479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/>
          <p:nvPr/>
        </p:nvSpPr>
        <p:spPr>
          <a:xfrm>
            <a:off x="530675" y="394600"/>
            <a:ext cx="8096400" cy="37965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FFE1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2887775" y="1415650"/>
            <a:ext cx="33822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sz="45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18" title="Primary Logo_horizontal-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412" y="4489552"/>
            <a:ext cx="1348690" cy="51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1643</Words>
  <Application>Microsoft Office PowerPoint</Application>
  <PresentationFormat>On-screen Show (16:9)</PresentationFormat>
  <Paragraphs>231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Poppins</vt:lpstr>
      <vt:lpstr>Times New Roman</vt:lpstr>
      <vt:lpstr>Poppins SemiBold</vt:lpstr>
      <vt:lpstr>Simple Light</vt:lpstr>
      <vt:lpstr>Ensemble Learning: Boosting and Bagging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Adaboost Algorithm’s Step Continued</vt:lpstr>
      <vt:lpstr>Overall Workflow</vt:lpstr>
      <vt:lpstr>Walkthrough of Adaboost Algorithm </vt:lpstr>
      <vt:lpstr>PowerPoint Presentation</vt:lpstr>
      <vt:lpstr>Final Output Table for Next Iteration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Nwe Nwe</cp:lastModifiedBy>
  <cp:revision>21</cp:revision>
  <dcterms:modified xsi:type="dcterms:W3CDTF">2026-01-26T06:57:52Z</dcterms:modified>
</cp:coreProperties>
</file>