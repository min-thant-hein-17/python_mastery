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7"/>
  </p:notesMasterIdLst>
  <p:handoutMasterIdLst>
    <p:handoutMasterId r:id="rId18"/>
  </p:handoutMasterIdLst>
  <p:sldIdLst>
    <p:sldId id="264" r:id="rId2"/>
    <p:sldId id="266" r:id="rId3"/>
    <p:sldId id="269" r:id="rId4"/>
    <p:sldId id="268" r:id="rId5"/>
    <p:sldId id="270" r:id="rId6"/>
    <p:sldId id="271" r:id="rId7"/>
    <p:sldId id="272" r:id="rId8"/>
    <p:sldId id="267" r:id="rId9"/>
    <p:sldId id="273" r:id="rId10"/>
    <p:sldId id="274" r:id="rId11"/>
    <p:sldId id="275" r:id="rId12"/>
    <p:sldId id="276" r:id="rId13"/>
    <p:sldId id="277" r:id="rId14"/>
    <p:sldId id="278" r:id="rId15"/>
    <p:sldId id="27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67918" autoAdjust="0"/>
  </p:normalViewPr>
  <p:slideViewPr>
    <p:cSldViewPr snapToGrid="0">
      <p:cViewPr varScale="1">
        <p:scale>
          <a:sx n="99" d="100"/>
          <a:sy n="99" d="100"/>
        </p:scale>
        <p:origin x="948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2D496F-B101-1211-AFFA-1D9867F4AA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C3F4AA-A88E-4DB7-0D2C-DFB175720C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93666-BDF6-41F3-A4AF-472C7AFDFAAB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D7A32E-CF54-1E91-69C2-0D828AA0BB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AB3BBC-45C8-C92B-0DD6-0944183A29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32416-54A7-4D58-B338-49B55F757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69081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97637-9F2B-45AD-9249-6EE315ADDACB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59128-ACDA-423A-ADCD-35B5E3FF3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0958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Today, we’re talking about time series stationarity.</a:t>
            </a:r>
          </a:p>
          <a:p>
            <a:r>
              <a:rPr lang="en-US" dirty="0"/>
              <a:t>So, What is stationarity?</a:t>
            </a:r>
          </a:p>
        </p:txBody>
      </p:sp>
    </p:spTree>
    <p:extLst>
      <p:ext uri="{BB962C8B-B14F-4D97-AF65-F5344CB8AC3E}">
        <p14:creationId xmlns:p14="http://schemas.microsoft.com/office/powerpoint/2010/main" val="502316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7802-A0B9-4F16-9A70-E87593B24832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908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8E64-19F4-4040-BD29-FF62FB08E3CC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33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C069-F774-467C-97C7-B5BDCF1A328D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26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EB8B3-79D3-4934-A7E7-648096D0B35E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6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02B65-3DC6-47B0-81B0-EECE70582FD5}" type="datetime1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779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F93B-AFA3-47E8-9070-88149BA076A1}" type="datetime1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10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F0A20-B01A-4FD4-9A88-70958A10D4D8}" type="datetime1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5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D048-CF29-41F4-8A1F-9BAD891642DC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59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586E-75B2-447B-AE09-133BF6D82496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34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3E5ED-4A91-4D1D-8ED9-22D797F97E6B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64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D1112-9BC4-46B2-879E-44B0773BC22A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99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A51A7-A7D1-4558-B95A-CF7E93E94782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9712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92D65-04EC-48BD-8F7F-55D75EF93D1B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95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07BA5-8495-4910-B010-25157B2A83FA}" type="datetime1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061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464C6-E795-411C-9144-F0D30532836E}" type="datetime1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319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5D28-9AA6-4E74-968A-3FECC5FA4A3D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28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9B5E-AB70-4277-B091-0D965585E4B3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09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AD49071-1ACC-4F9C-AC48-DD9EDEC1446C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636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7488A-DDE6-E126-58CB-1D730FF628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1732909"/>
            <a:ext cx="9440034" cy="1114746"/>
          </a:xfrm>
        </p:spPr>
        <p:txBody>
          <a:bodyPr>
            <a:noAutofit/>
          </a:bodyPr>
          <a:lstStyle/>
          <a:p>
            <a:r>
              <a:rPr lang="en-US" sz="6000" dirty="0"/>
              <a:t>Time Series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D64EBC-56FE-6F70-5A52-05F79FE97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1293" y="5018136"/>
            <a:ext cx="2725174" cy="595904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800" dirty="0"/>
              <a:t>Dr. Si Thu Aung</a:t>
            </a:r>
          </a:p>
          <a:p>
            <a:pPr algn="l">
              <a:spcBef>
                <a:spcPts val="0"/>
              </a:spcBef>
            </a:pPr>
            <a:endParaRPr lang="en-US" sz="3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31AD4E-6469-10B3-37DA-A5F2E52B6800}"/>
              </a:ext>
            </a:extLst>
          </p:cNvPr>
          <p:cNvSpPr txBox="1">
            <a:spLocks/>
          </p:cNvSpPr>
          <p:nvPr/>
        </p:nvSpPr>
        <p:spPr>
          <a:xfrm>
            <a:off x="1375983" y="2966593"/>
            <a:ext cx="9771478" cy="91458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/>
              <a:t>Today’s Topic: ACF and PACF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69139D-9ADD-F7F9-71A9-F2AE9F176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1307" y="127329"/>
            <a:ext cx="1232899" cy="12328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D189A3B-A06C-516D-D8EC-4760901F22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32" y="5712334"/>
            <a:ext cx="502083" cy="502920"/>
          </a:xfrm>
          <a:prstGeom prst="rect">
            <a:avLst/>
          </a:prstGeom>
        </p:spPr>
      </p:pic>
      <p:sp>
        <p:nvSpPr>
          <p:cNvPr id="18" name="Subtitle 2">
            <a:extLst>
              <a:ext uri="{FF2B5EF4-FFF2-40B4-BE49-F238E27FC236}">
                <a16:creationId xmlns:a16="http://schemas.microsoft.com/office/drawing/2014/main" id="{0330EB29-F1DC-DD35-AF2F-231778A9A1C6}"/>
              </a:ext>
            </a:extLst>
          </p:cNvPr>
          <p:cNvSpPr txBox="1">
            <a:spLocks/>
          </p:cNvSpPr>
          <p:nvPr/>
        </p:nvSpPr>
        <p:spPr>
          <a:xfrm>
            <a:off x="941293" y="5741285"/>
            <a:ext cx="2725174" cy="51313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sz="2800" dirty="0"/>
              <a:t>in/drsithuaung/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7FB6EC-6B63-F21D-8DF8-57CEB46B90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95" y="5064628"/>
            <a:ext cx="502920" cy="5029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B6BED4-2AA3-DC7F-13CC-D40D657EAFE2}"/>
              </a:ext>
            </a:extLst>
          </p:cNvPr>
          <p:cNvSpPr txBox="1"/>
          <p:nvPr/>
        </p:nvSpPr>
        <p:spPr>
          <a:xfrm>
            <a:off x="941293" y="6361339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https://sithuaung-ink.github.io/data-analyst-portfolio/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856F63-2CB1-3D46-7F0B-09EF55D6A4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95" y="6314874"/>
            <a:ext cx="502920" cy="502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202215-7A17-3073-351A-B99E2DBD51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95" y="127329"/>
            <a:ext cx="1234440" cy="123444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B9046B8-8B00-AC29-6676-033C3DA21D98}"/>
              </a:ext>
            </a:extLst>
          </p:cNvPr>
          <p:cNvGrpSpPr/>
          <p:nvPr/>
        </p:nvGrpSpPr>
        <p:grpSpPr>
          <a:xfrm>
            <a:off x="1502359" y="400415"/>
            <a:ext cx="1405228" cy="757531"/>
            <a:chOff x="1427835" y="399663"/>
            <a:chExt cx="1520849" cy="880105"/>
          </a:xfrm>
        </p:grpSpPr>
        <p:sp>
          <p:nvSpPr>
            <p:cNvPr id="9" name="Subtitle 2">
              <a:extLst>
                <a:ext uri="{FF2B5EF4-FFF2-40B4-BE49-F238E27FC236}">
                  <a16:creationId xmlns:a16="http://schemas.microsoft.com/office/drawing/2014/main" id="{ED1CC6AA-2D14-AA04-5DA1-3DCBA9967BD7}"/>
                </a:ext>
              </a:extLst>
            </p:cNvPr>
            <p:cNvSpPr txBox="1">
              <a:spLocks/>
            </p:cNvSpPr>
            <p:nvPr/>
          </p:nvSpPr>
          <p:spPr>
            <a:xfrm>
              <a:off x="1427835" y="414378"/>
              <a:ext cx="1520849" cy="67400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0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800" b="1" dirty="0">
                  <a:solidFill>
                    <a:srgbClr val="FF0000"/>
                  </a:solidFill>
                </a:rPr>
                <a:t>Time</a:t>
              </a:r>
              <a:r>
                <a:rPr lang="en-US" sz="1800" b="1" dirty="0"/>
                <a:t> </a:t>
              </a:r>
              <a:r>
                <a:rPr lang="en-US" sz="1800" b="1" dirty="0">
                  <a:solidFill>
                    <a:srgbClr val="FFC000"/>
                  </a:solidFill>
                </a:rPr>
                <a:t>Series</a:t>
              </a:r>
              <a:r>
                <a:rPr lang="en-US" sz="1800" b="1" dirty="0"/>
                <a:t> </a:t>
              </a:r>
            </a:p>
            <a:p>
              <a:pPr>
                <a:spcBef>
                  <a:spcPts val="0"/>
                </a:spcBef>
              </a:pPr>
              <a:r>
                <a:rPr lang="en-US" sz="1800" b="1" dirty="0">
                  <a:solidFill>
                    <a:srgbClr val="00B0F0"/>
                  </a:solidFill>
                </a:rPr>
                <a:t>Analysis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22A27C8-90E4-63A2-EC4D-088BBEF102F5}"/>
                </a:ext>
              </a:extLst>
            </p:cNvPr>
            <p:cNvSpPr/>
            <p:nvPr/>
          </p:nvSpPr>
          <p:spPr>
            <a:xfrm>
              <a:off x="1463794" y="399663"/>
              <a:ext cx="1448929" cy="880105"/>
            </a:xfrm>
            <a:prstGeom prst="round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8134D-6F94-C514-2B36-A925DD746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3825" y="6361339"/>
            <a:ext cx="2743200" cy="365125"/>
          </a:xfrm>
        </p:spPr>
        <p:txBody>
          <a:bodyPr/>
          <a:lstStyle/>
          <a:p>
            <a:r>
              <a:rPr lang="en-US" sz="1800" dirty="0"/>
              <a:t>2/4/2026</a:t>
            </a:r>
          </a:p>
        </p:txBody>
      </p:sp>
    </p:spTree>
    <p:extLst>
      <p:ext uri="{BB962C8B-B14F-4D97-AF65-F5344CB8AC3E}">
        <p14:creationId xmlns:p14="http://schemas.microsoft.com/office/powerpoint/2010/main" val="2327770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7FC44-23C6-56D9-1C88-3F6E3814F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E25E88-C923-B19D-0C71-4AD5437825AC}"/>
              </a:ext>
            </a:extLst>
          </p:cNvPr>
          <p:cNvSpPr txBox="1"/>
          <p:nvPr/>
        </p:nvSpPr>
        <p:spPr>
          <a:xfrm>
            <a:off x="0" y="-30822"/>
            <a:ext cx="12192000" cy="1138773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200" dirty="0">
                <a:latin typeface="+mj-lt"/>
              </a:rPr>
              <a:t>Content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8ADE0A-806A-766C-A8A9-D2EEDF9B1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FEE92E-426F-6AA9-E206-C6E3BE708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0" t="23111" r="21777" b="21555"/>
          <a:stretch>
            <a:fillRect/>
          </a:stretch>
        </p:blipFill>
        <p:spPr>
          <a:xfrm>
            <a:off x="1767840" y="1629114"/>
            <a:ext cx="1828800" cy="17998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C68AC7-CADE-F052-3D3E-6CEA02A7F7EA}"/>
              </a:ext>
            </a:extLst>
          </p:cNvPr>
          <p:cNvSpPr txBox="1"/>
          <p:nvPr/>
        </p:nvSpPr>
        <p:spPr>
          <a:xfrm>
            <a:off x="4678680" y="2344391"/>
            <a:ext cx="5379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Person Correlation Coefficient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22B8B3-E52C-681C-DB2B-5BC8FEDEF2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56" t="17590" r="15201" b="17021"/>
          <a:stretch>
            <a:fillRect/>
          </a:stretch>
        </p:blipFill>
        <p:spPr>
          <a:xfrm>
            <a:off x="1767840" y="4552545"/>
            <a:ext cx="1828800" cy="16785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0B6C61-1043-9E60-DE0B-D71EC1DA99B8}"/>
              </a:ext>
            </a:extLst>
          </p:cNvPr>
          <p:cNvSpPr txBox="1"/>
          <p:nvPr/>
        </p:nvSpPr>
        <p:spPr>
          <a:xfrm>
            <a:off x="4860263" y="4699319"/>
            <a:ext cx="53797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Autocorrelation Function 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Partial Autocorrelation Function</a:t>
            </a:r>
          </a:p>
        </p:txBody>
      </p:sp>
    </p:spTree>
    <p:extLst>
      <p:ext uri="{BB962C8B-B14F-4D97-AF65-F5344CB8AC3E}">
        <p14:creationId xmlns:p14="http://schemas.microsoft.com/office/powerpoint/2010/main" val="1892044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360E6-EFA8-5EE9-6F7A-96F079ED8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C4D6A2-B8CB-1D39-FED9-B7E72E5E1726}"/>
              </a:ext>
            </a:extLst>
          </p:cNvPr>
          <p:cNvSpPr txBox="1"/>
          <p:nvPr/>
        </p:nvSpPr>
        <p:spPr>
          <a:xfrm>
            <a:off x="0" y="-30822"/>
            <a:ext cx="12192000" cy="1138773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200" dirty="0">
                <a:latin typeface="+mj-lt"/>
              </a:rPr>
              <a:t>Lag plot limitations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D03CB1-27D3-7DC6-1404-AFDA77B96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5DB0F7-5071-427C-B31F-321BFEAD9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8108" y="2057400"/>
            <a:ext cx="2750736" cy="2743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2FD897C-569C-30BC-A800-4ABE556FF3C0}"/>
              </a:ext>
            </a:extLst>
          </p:cNvPr>
          <p:cNvSpPr txBox="1"/>
          <p:nvPr/>
        </p:nvSpPr>
        <p:spPr>
          <a:xfrm>
            <a:off x="472440" y="2264072"/>
            <a:ext cx="5379720" cy="253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Lag plots are a visual tool that can help identify useful lags.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If we quantify when y</a:t>
            </a:r>
            <a:r>
              <a:rPr lang="en-US" baseline="-25000" dirty="0"/>
              <a:t>t-k </a:t>
            </a:r>
            <a:r>
              <a:rPr lang="en-US" dirty="0"/>
              <a:t>is</a:t>
            </a:r>
            <a:r>
              <a:rPr lang="en-US" baseline="-25000" dirty="0"/>
              <a:t> </a:t>
            </a:r>
            <a:r>
              <a:rPr lang="en-US" dirty="0"/>
              <a:t>highly correlated with y</a:t>
            </a:r>
            <a:r>
              <a:rPr lang="en-US" baseline="-25000" dirty="0"/>
              <a:t>t</a:t>
            </a:r>
            <a:r>
              <a:rPr lang="en-US" dirty="0"/>
              <a:t>, then it would be easier to identify useful lags.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Autocorrelation is a method to quantify the correlation of a time series with itself.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28A9940-FAE2-B4DC-8047-0AC650CB6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7" y="2057400"/>
            <a:ext cx="293530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43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8DA4F-8AAF-06A4-F823-18B361107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81E13-EF8E-69D8-E555-94E1DAD5616A}"/>
              </a:ext>
            </a:extLst>
          </p:cNvPr>
          <p:cNvSpPr txBox="1"/>
          <p:nvPr/>
        </p:nvSpPr>
        <p:spPr>
          <a:xfrm>
            <a:off x="0" y="-30822"/>
            <a:ext cx="12192000" cy="1138773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200" dirty="0">
                <a:latin typeface="+mj-lt"/>
              </a:rPr>
              <a:t>Pearson Correlation Coefficient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A65C3B-3AD0-B324-DA47-A07C56A91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3F08492-5F87-8FC3-379C-869AF8AE2667}"/>
              </a:ext>
            </a:extLst>
          </p:cNvPr>
          <p:cNvSpPr txBox="1"/>
          <p:nvPr/>
        </p:nvSpPr>
        <p:spPr>
          <a:xfrm>
            <a:off x="2024915" y="1580678"/>
            <a:ext cx="814217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Measure the strength of the </a:t>
            </a:r>
            <a:r>
              <a:rPr lang="en-US" dirty="0">
                <a:solidFill>
                  <a:srgbClr val="00B050"/>
                </a:solidFill>
              </a:rPr>
              <a:t>linear</a:t>
            </a:r>
            <a:r>
              <a:rPr lang="en-US" dirty="0"/>
              <a:t> relationship between two variables.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3AAF939-9B01-20CD-7A8A-29B358EA6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310098"/>
              </p:ext>
            </p:extLst>
          </p:nvPr>
        </p:nvGraphicFramePr>
        <p:xfrm>
          <a:off x="1581280" y="3108380"/>
          <a:ext cx="225124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339">
                  <a:extLst>
                    <a:ext uri="{9D8B030D-6E8A-4147-A177-3AD203B41FA5}">
                      <a16:colId xmlns:a16="http://schemas.microsoft.com/office/drawing/2014/main" val="2594675727"/>
                    </a:ext>
                  </a:extLst>
                </a:gridCol>
                <a:gridCol w="1029904">
                  <a:extLst>
                    <a:ext uri="{9D8B030D-6E8A-4147-A177-3AD203B41FA5}">
                      <a16:colId xmlns:a16="http://schemas.microsoft.com/office/drawing/2014/main" val="4086436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3934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55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7282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186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729497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3235C4C-561A-9D52-A07E-063958C7B9C6}"/>
                  </a:ext>
                </a:extLst>
              </p:cNvPr>
              <p:cNvSpPr txBox="1"/>
              <p:nvPr/>
            </p:nvSpPr>
            <p:spPr>
              <a:xfrm>
                <a:off x="5634165" y="3429000"/>
                <a:ext cx="4976555" cy="1212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3235C4C-561A-9D52-A07E-063958C7B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165" y="3429000"/>
                <a:ext cx="4976555" cy="12129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3B2076C9-08AD-2F74-4F08-2EDFFE407ECC}"/>
              </a:ext>
            </a:extLst>
          </p:cNvPr>
          <p:cNvSpPr txBox="1"/>
          <p:nvPr/>
        </p:nvSpPr>
        <p:spPr>
          <a:xfrm>
            <a:off x="9887150" y="2267719"/>
            <a:ext cx="873894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Mean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34F641C-2A8B-F3B3-E919-989443867640}"/>
              </a:ext>
            </a:extLst>
          </p:cNvPr>
          <p:cNvCxnSpPr/>
          <p:nvPr/>
        </p:nvCxnSpPr>
        <p:spPr>
          <a:xfrm flipH="1">
            <a:off x="8681987" y="2685448"/>
            <a:ext cx="1087655" cy="7435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7C6253B-521E-35F8-380E-E20130627D5B}"/>
              </a:ext>
            </a:extLst>
          </p:cNvPr>
          <p:cNvCxnSpPr>
            <a:cxnSpLocks/>
          </p:cNvCxnSpPr>
          <p:nvPr/>
        </p:nvCxnSpPr>
        <p:spPr>
          <a:xfrm flipH="1">
            <a:off x="9654139" y="2706102"/>
            <a:ext cx="115503" cy="7228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645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B2B3A-2E55-8326-9673-101CFEFB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8C6822-D26C-A950-3B2F-5C0D337C8C80}"/>
              </a:ext>
            </a:extLst>
          </p:cNvPr>
          <p:cNvSpPr txBox="1"/>
          <p:nvPr/>
        </p:nvSpPr>
        <p:spPr>
          <a:xfrm>
            <a:off x="0" y="-30822"/>
            <a:ext cx="12192000" cy="1138773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200" dirty="0">
                <a:latin typeface="+mj-lt"/>
              </a:rPr>
              <a:t>Pearson Correlation Coefficient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0DF9FF-2765-ADF9-582B-37DB90D26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3014E5B-3684-D805-F878-8F161154F399}"/>
              </a:ext>
            </a:extLst>
          </p:cNvPr>
          <p:cNvSpPr txBox="1"/>
          <p:nvPr/>
        </p:nvSpPr>
        <p:spPr>
          <a:xfrm>
            <a:off x="2024915" y="1580678"/>
            <a:ext cx="814217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Measure the strength of the </a:t>
            </a:r>
            <a:r>
              <a:rPr lang="en-US" dirty="0">
                <a:solidFill>
                  <a:srgbClr val="00B050"/>
                </a:solidFill>
              </a:rPr>
              <a:t>linear</a:t>
            </a:r>
            <a:r>
              <a:rPr lang="en-US" dirty="0"/>
              <a:t> relationship between two variables.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0E4F646-203D-17D7-71D0-B672D3FE771C}"/>
                  </a:ext>
                </a:extLst>
              </p:cNvPr>
              <p:cNvSpPr txBox="1"/>
              <p:nvPr/>
            </p:nvSpPr>
            <p:spPr>
              <a:xfrm>
                <a:off x="5634165" y="3429000"/>
                <a:ext cx="4976555" cy="1212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0E4F646-203D-17D7-71D0-B672D3FE7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165" y="3429000"/>
                <a:ext cx="4976555" cy="12129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C3A495E3-0B39-224F-E988-40E5AC1E5AEF}"/>
              </a:ext>
            </a:extLst>
          </p:cNvPr>
          <p:cNvSpPr txBox="1"/>
          <p:nvPr/>
        </p:nvSpPr>
        <p:spPr>
          <a:xfrm>
            <a:off x="933450" y="3182714"/>
            <a:ext cx="3648175" cy="1705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 = 0 : No correlation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 &gt; 0: Positive linear correlation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 &lt; 0: Negative linear correlation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-1 ≤ r ≤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F20A5D-BF79-B24A-01F9-792D8EC6EE4C}"/>
              </a:ext>
            </a:extLst>
          </p:cNvPr>
          <p:cNvSpPr txBox="1"/>
          <p:nvPr/>
        </p:nvSpPr>
        <p:spPr>
          <a:xfrm>
            <a:off x="7856218" y="2381696"/>
            <a:ext cx="139366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Covariance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E4C44546-A466-3DF0-2C46-9AD040A1EBAF}"/>
              </a:ext>
            </a:extLst>
          </p:cNvPr>
          <p:cNvSpPr/>
          <p:nvPr/>
        </p:nvSpPr>
        <p:spPr>
          <a:xfrm rot="5400000">
            <a:off x="8219974" y="1927458"/>
            <a:ext cx="500514" cy="2485996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82EF9B2E-4B49-FA9D-4669-D9AA28263D24}"/>
              </a:ext>
            </a:extLst>
          </p:cNvPr>
          <p:cNvSpPr/>
          <p:nvPr/>
        </p:nvSpPr>
        <p:spPr>
          <a:xfrm rot="16200000">
            <a:off x="7193544" y="3874075"/>
            <a:ext cx="500514" cy="2052860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F0DF053A-9DCB-224B-BEF2-CDB1DE863FD9}"/>
              </a:ext>
            </a:extLst>
          </p:cNvPr>
          <p:cNvSpPr/>
          <p:nvPr/>
        </p:nvSpPr>
        <p:spPr>
          <a:xfrm rot="16200000">
            <a:off x="9246404" y="3882361"/>
            <a:ext cx="500514" cy="2052860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1EC77E-6099-6347-0C77-0D201E0D0D9E}"/>
              </a:ext>
            </a:extLst>
          </p:cNvPr>
          <p:cNvSpPr txBox="1"/>
          <p:nvPr/>
        </p:nvSpPr>
        <p:spPr>
          <a:xfrm>
            <a:off x="7536981" y="5282726"/>
            <a:ext cx="2386666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38866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B3DF8-C4A1-C2D4-A7FD-E29C8A1F9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59D4F4-9D84-8BDF-A2DB-32DACF787BEE}"/>
              </a:ext>
            </a:extLst>
          </p:cNvPr>
          <p:cNvSpPr txBox="1"/>
          <p:nvPr/>
        </p:nvSpPr>
        <p:spPr>
          <a:xfrm>
            <a:off x="0" y="-30822"/>
            <a:ext cx="12192000" cy="1138773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200" dirty="0">
                <a:latin typeface="+mj-lt"/>
              </a:rPr>
              <a:t>Pearson Correlation Coefficient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BC5604-E7E9-59C6-E38A-AD0C9EC69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4D526D4-217F-9723-4DEA-53B384960AA3}"/>
              </a:ext>
            </a:extLst>
          </p:cNvPr>
          <p:cNvSpPr txBox="1"/>
          <p:nvPr/>
        </p:nvSpPr>
        <p:spPr>
          <a:xfrm>
            <a:off x="2024915" y="1580678"/>
            <a:ext cx="814217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Measure the strength of the </a:t>
            </a:r>
            <a:r>
              <a:rPr lang="en-US" dirty="0">
                <a:solidFill>
                  <a:srgbClr val="00B050"/>
                </a:solidFill>
              </a:rPr>
              <a:t>linear</a:t>
            </a:r>
            <a:r>
              <a:rPr lang="en-US" dirty="0"/>
              <a:t> relationship between two variables.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97AD32F-1732-0FCA-4612-84A0CE0B3CCA}"/>
                  </a:ext>
                </a:extLst>
              </p:cNvPr>
              <p:cNvSpPr txBox="1"/>
              <p:nvPr/>
            </p:nvSpPr>
            <p:spPr>
              <a:xfrm>
                <a:off x="7310501" y="3500180"/>
                <a:ext cx="1939377" cy="8071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𝑐𝑜𝑣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97AD32F-1732-0FCA-4612-84A0CE0B3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501" y="3500180"/>
                <a:ext cx="1939377" cy="8071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56C0452E-F647-69B9-F7CB-3B8E04AD417E}"/>
              </a:ext>
            </a:extLst>
          </p:cNvPr>
          <p:cNvSpPr txBox="1"/>
          <p:nvPr/>
        </p:nvSpPr>
        <p:spPr>
          <a:xfrm>
            <a:off x="933450" y="3182714"/>
            <a:ext cx="3648175" cy="1705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 = 0 : No correlation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 &gt; 0: Positive linear correlation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 &lt; 0: Negative linear correlation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-1 ≤ r ≤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42431-6638-6F21-EFC8-1A8F35A709B5}"/>
              </a:ext>
            </a:extLst>
          </p:cNvPr>
          <p:cNvSpPr txBox="1"/>
          <p:nvPr/>
        </p:nvSpPr>
        <p:spPr>
          <a:xfrm>
            <a:off x="7924934" y="2381696"/>
            <a:ext cx="139366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Covariance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8D8D532-2951-2AAC-D160-7E6EDC4A4FEC}"/>
              </a:ext>
            </a:extLst>
          </p:cNvPr>
          <p:cNvSpPr/>
          <p:nvPr/>
        </p:nvSpPr>
        <p:spPr>
          <a:xfrm rot="5400000">
            <a:off x="8371507" y="2565506"/>
            <a:ext cx="500514" cy="1393660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DD7027-EFAD-BE25-EEFD-D0855A0482E3}"/>
              </a:ext>
            </a:extLst>
          </p:cNvPr>
          <p:cNvSpPr txBox="1"/>
          <p:nvPr/>
        </p:nvSpPr>
        <p:spPr>
          <a:xfrm>
            <a:off x="7765320" y="5277322"/>
            <a:ext cx="2386666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Standard deviation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80CD418-0384-8019-0A7A-44EA7A1DE33B}"/>
              </a:ext>
            </a:extLst>
          </p:cNvPr>
          <p:cNvCxnSpPr>
            <a:cxnSpLocks/>
          </p:cNvCxnSpPr>
          <p:nvPr/>
        </p:nvCxnSpPr>
        <p:spPr>
          <a:xfrm flipV="1">
            <a:off x="8280189" y="4356483"/>
            <a:ext cx="190043" cy="7393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CB2CBA-BDF2-E634-61CB-DFE548F98AE6}"/>
              </a:ext>
            </a:extLst>
          </p:cNvPr>
          <p:cNvCxnSpPr>
            <a:cxnSpLocks/>
          </p:cNvCxnSpPr>
          <p:nvPr/>
        </p:nvCxnSpPr>
        <p:spPr>
          <a:xfrm flipH="1" flipV="1">
            <a:off x="8811807" y="4356483"/>
            <a:ext cx="293692" cy="7393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03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C954B-595C-69EC-772A-A02658721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782421-DB76-2F11-A618-81248539C6CC}"/>
              </a:ext>
            </a:extLst>
          </p:cNvPr>
          <p:cNvSpPr txBox="1"/>
          <p:nvPr/>
        </p:nvSpPr>
        <p:spPr>
          <a:xfrm>
            <a:off x="0" y="-30822"/>
            <a:ext cx="12192000" cy="1138773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200" dirty="0">
                <a:latin typeface="+mj-lt"/>
              </a:rPr>
              <a:t>Pearson Correlation Coefficient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43998E-4E1D-6402-B018-5EE837551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264B3D7-CF0A-A95E-3E0A-096D59CE6E52}"/>
              </a:ext>
            </a:extLst>
          </p:cNvPr>
          <p:cNvSpPr txBox="1"/>
          <p:nvPr/>
        </p:nvSpPr>
        <p:spPr>
          <a:xfrm>
            <a:off x="2024915" y="1580678"/>
            <a:ext cx="814217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Measure the strength of the </a:t>
            </a:r>
            <a:r>
              <a:rPr lang="en-US" dirty="0">
                <a:solidFill>
                  <a:srgbClr val="00B050"/>
                </a:solidFill>
              </a:rPr>
              <a:t>linear</a:t>
            </a:r>
            <a:r>
              <a:rPr lang="en-US" dirty="0"/>
              <a:t> relationship between two variables.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7B6957E-8519-D61C-95A2-18701483776C}"/>
                  </a:ext>
                </a:extLst>
              </p:cNvPr>
              <p:cNvSpPr txBox="1"/>
              <p:nvPr/>
            </p:nvSpPr>
            <p:spPr>
              <a:xfrm>
                <a:off x="6328516" y="3512593"/>
                <a:ext cx="2873607" cy="8071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𝑜𝑟𝑟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𝑐𝑜𝑣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7B6957E-8519-D61C-95A2-187014837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516" y="3512593"/>
                <a:ext cx="2873607" cy="8071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DE4468F6-C6ED-0A58-CFAC-B42BD92A68F4}"/>
              </a:ext>
            </a:extLst>
          </p:cNvPr>
          <p:cNvSpPr txBox="1"/>
          <p:nvPr/>
        </p:nvSpPr>
        <p:spPr>
          <a:xfrm>
            <a:off x="933450" y="3182714"/>
            <a:ext cx="3648175" cy="1705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 = 0 : No correlation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 &gt; 0: Positive linear correlation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 &lt; 0: Negative linear correlation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-1 ≤ r ≤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C0B7C4-FA59-7A11-7B4F-2A3BEC281816}"/>
              </a:ext>
            </a:extLst>
          </p:cNvPr>
          <p:cNvSpPr txBox="1"/>
          <p:nvPr/>
        </p:nvSpPr>
        <p:spPr>
          <a:xfrm>
            <a:off x="7924934" y="2381696"/>
            <a:ext cx="139366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Covariance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41A0BFCA-9CE3-BCC4-6206-6E2E2B0AFA52}"/>
              </a:ext>
            </a:extLst>
          </p:cNvPr>
          <p:cNvSpPr/>
          <p:nvPr/>
        </p:nvSpPr>
        <p:spPr>
          <a:xfrm rot="5400000">
            <a:off x="8371507" y="2565506"/>
            <a:ext cx="500514" cy="1393660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157DA5-9646-B09A-F238-25E6B6049211}"/>
              </a:ext>
            </a:extLst>
          </p:cNvPr>
          <p:cNvSpPr txBox="1"/>
          <p:nvPr/>
        </p:nvSpPr>
        <p:spPr>
          <a:xfrm>
            <a:off x="7765320" y="5277322"/>
            <a:ext cx="2386666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Standard deviation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C6F0746-5DA4-8A42-6D12-A90063561400}"/>
              </a:ext>
            </a:extLst>
          </p:cNvPr>
          <p:cNvCxnSpPr>
            <a:cxnSpLocks/>
          </p:cNvCxnSpPr>
          <p:nvPr/>
        </p:nvCxnSpPr>
        <p:spPr>
          <a:xfrm flipV="1">
            <a:off x="8280189" y="4356483"/>
            <a:ext cx="190043" cy="7393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B89106-0763-9A57-BDD5-0C69C2A02717}"/>
              </a:ext>
            </a:extLst>
          </p:cNvPr>
          <p:cNvCxnSpPr>
            <a:cxnSpLocks/>
          </p:cNvCxnSpPr>
          <p:nvPr/>
        </p:nvCxnSpPr>
        <p:spPr>
          <a:xfrm flipH="1" flipV="1">
            <a:off x="8811807" y="4356483"/>
            <a:ext cx="293692" cy="7393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217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72CC8-D5A1-2E94-A81E-6919C5176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339CBE-A827-3FF3-2571-50DC180133CF}"/>
              </a:ext>
            </a:extLst>
          </p:cNvPr>
          <p:cNvSpPr txBox="1"/>
          <p:nvPr/>
        </p:nvSpPr>
        <p:spPr>
          <a:xfrm>
            <a:off x="0" y="-30822"/>
            <a:ext cx="12192000" cy="1138773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200" dirty="0"/>
              <a:t>Pearson Correlation Coefficient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C4D014-5BBF-D876-BFD7-2F0626F80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04BBB26-B980-0FB5-ED88-AFC118D817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1102" y="1655093"/>
            <a:ext cx="1001485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948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D3B24-A75E-2D1D-C8BE-E81187878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3A29EE-1C57-7022-11C8-D9EFB5F0BE6C}"/>
              </a:ext>
            </a:extLst>
          </p:cNvPr>
          <p:cNvSpPr txBox="1"/>
          <p:nvPr/>
        </p:nvSpPr>
        <p:spPr>
          <a:xfrm>
            <a:off x="0" y="-30822"/>
            <a:ext cx="12192000" cy="1138773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200" dirty="0">
                <a:latin typeface="+mj-lt"/>
              </a:rPr>
              <a:t>Autocorrelation Function (ACF)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82438D-1CAC-036B-060F-F31CDD310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9F5F57D-1609-9DDE-B8D5-CE6A598F358D}"/>
              </a:ext>
            </a:extLst>
          </p:cNvPr>
          <p:cNvSpPr txBox="1"/>
          <p:nvPr/>
        </p:nvSpPr>
        <p:spPr>
          <a:xfrm>
            <a:off x="2024915" y="1580678"/>
            <a:ext cx="814217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ACF is correlation of a time series y</a:t>
            </a:r>
            <a:r>
              <a:rPr lang="en-US" baseline="-25000" dirty="0"/>
              <a:t>t</a:t>
            </a:r>
            <a:r>
              <a:rPr lang="en-US" dirty="0"/>
              <a:t> with a lagged version of itself y</a:t>
            </a:r>
            <a:r>
              <a:rPr lang="en-US" baseline="-25000" dirty="0"/>
              <a:t>t-k</a:t>
            </a:r>
            <a:r>
              <a:rPr lang="en-US" dirty="0"/>
              <a:t>.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117BC31-9031-960C-D057-5844C275F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003961"/>
              </p:ext>
            </p:extLst>
          </p:nvPr>
        </p:nvGraphicFramePr>
        <p:xfrm>
          <a:off x="1581280" y="3108380"/>
          <a:ext cx="273083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528">
                  <a:extLst>
                    <a:ext uri="{9D8B030D-6E8A-4147-A177-3AD203B41FA5}">
                      <a16:colId xmlns:a16="http://schemas.microsoft.com/office/drawing/2014/main" val="2594675727"/>
                    </a:ext>
                  </a:extLst>
                </a:gridCol>
                <a:gridCol w="1249310">
                  <a:extLst>
                    <a:ext uri="{9D8B030D-6E8A-4147-A177-3AD203B41FA5}">
                      <a16:colId xmlns:a16="http://schemas.microsoft.com/office/drawing/2014/main" val="4086436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 (Lag 2 )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3934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NaN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55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NaN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7282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186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729497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9EF04B2-568D-DDAF-F445-35E540FB628E}"/>
                  </a:ext>
                </a:extLst>
              </p:cNvPr>
              <p:cNvSpPr txBox="1"/>
              <p:nvPr/>
            </p:nvSpPr>
            <p:spPr>
              <a:xfrm>
                <a:off x="4864144" y="3429000"/>
                <a:ext cx="6527684" cy="8483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𝑜𝑟𝑟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9EF04B2-568D-DDAF-F445-35E540FB6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4144" y="3429000"/>
                <a:ext cx="6527684" cy="8483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F3831B3-6F1D-EF0A-CC5F-85CF00464884}"/>
              </a:ext>
            </a:extLst>
          </p:cNvPr>
          <p:cNvSpPr txBox="1"/>
          <p:nvPr/>
        </p:nvSpPr>
        <p:spPr>
          <a:xfrm>
            <a:off x="2302444" y="5572210"/>
            <a:ext cx="814217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If the autocorrelation at lag k is larger, it might be useful in forecasting.</a:t>
            </a:r>
          </a:p>
        </p:txBody>
      </p:sp>
    </p:spTree>
    <p:extLst>
      <p:ext uri="{BB962C8B-B14F-4D97-AF65-F5344CB8AC3E}">
        <p14:creationId xmlns:p14="http://schemas.microsoft.com/office/powerpoint/2010/main" val="3603291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3ABFA-935C-4E23-2472-41040AA05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2D1B27-E4C5-D87A-BB32-1C3E325D5870}"/>
              </a:ext>
            </a:extLst>
          </p:cNvPr>
          <p:cNvSpPr txBox="1"/>
          <p:nvPr/>
        </p:nvSpPr>
        <p:spPr>
          <a:xfrm>
            <a:off x="0" y="-30822"/>
            <a:ext cx="12192000" cy="1138773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200" dirty="0">
                <a:latin typeface="+mj-lt"/>
              </a:rPr>
              <a:t>Autocorrelation Function (ACF)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809619-4A46-2AAA-4943-8EC79AAE2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0CDAADC-AB32-7AE9-3F96-EA24FD4E7FBC}"/>
              </a:ext>
            </a:extLst>
          </p:cNvPr>
          <p:cNvSpPr txBox="1"/>
          <p:nvPr/>
        </p:nvSpPr>
        <p:spPr>
          <a:xfrm>
            <a:off x="2024915" y="1580678"/>
            <a:ext cx="814217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ACF is correlation of a time series y</a:t>
            </a:r>
            <a:r>
              <a:rPr lang="en-US" baseline="-25000" dirty="0"/>
              <a:t>t</a:t>
            </a:r>
            <a:r>
              <a:rPr lang="en-US" dirty="0"/>
              <a:t> with a lagged version of itself y</a:t>
            </a:r>
            <a:r>
              <a:rPr lang="en-US" baseline="-25000" dirty="0"/>
              <a:t>t-k</a:t>
            </a:r>
            <a:r>
              <a:rPr lang="en-US" dirty="0"/>
              <a:t>.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CCB6CC8-0970-BE9A-2A8F-6EB5360E859C}"/>
              </a:ext>
            </a:extLst>
          </p:cNvPr>
          <p:cNvGraphicFramePr>
            <a:graphicFrameLocks noGrp="1"/>
          </p:cNvGraphicFramePr>
          <p:nvPr/>
        </p:nvGraphicFramePr>
        <p:xfrm>
          <a:off x="1581280" y="3108380"/>
          <a:ext cx="273083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528">
                  <a:extLst>
                    <a:ext uri="{9D8B030D-6E8A-4147-A177-3AD203B41FA5}">
                      <a16:colId xmlns:a16="http://schemas.microsoft.com/office/drawing/2014/main" val="2594675727"/>
                    </a:ext>
                  </a:extLst>
                </a:gridCol>
                <a:gridCol w="1249310">
                  <a:extLst>
                    <a:ext uri="{9D8B030D-6E8A-4147-A177-3AD203B41FA5}">
                      <a16:colId xmlns:a16="http://schemas.microsoft.com/office/drawing/2014/main" val="4086436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 (Lag 2 )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3934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NaN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55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NaN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7282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186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729497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A4D808D-080D-E856-DC5F-ABD9EB7FEC20}"/>
                  </a:ext>
                </a:extLst>
              </p:cNvPr>
              <p:cNvSpPr txBox="1"/>
              <p:nvPr/>
            </p:nvSpPr>
            <p:spPr>
              <a:xfrm>
                <a:off x="5634165" y="3429000"/>
                <a:ext cx="5910785" cy="1212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𝑜𝑟𝑟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A4D808D-080D-E856-DC5F-ABD9EB7FE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165" y="3429000"/>
                <a:ext cx="5910785" cy="12129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9635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92DDC-4300-7BD2-0DF6-B0C2F1DA3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C3FC99-ADB0-3A4D-8D0B-C9D1F22F630C}"/>
              </a:ext>
            </a:extLst>
          </p:cNvPr>
          <p:cNvSpPr txBox="1"/>
          <p:nvPr/>
        </p:nvSpPr>
        <p:spPr>
          <a:xfrm>
            <a:off x="0" y="-30822"/>
            <a:ext cx="12192000" cy="1138773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200" dirty="0">
                <a:latin typeface="+mj-lt"/>
              </a:rPr>
              <a:t>Autocorrelogram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72D013-EB84-59B5-D73A-358352665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A0F777-F7EA-7124-5134-7D39265F1A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52"/>
          <a:stretch>
            <a:fillRect/>
          </a:stretch>
        </p:blipFill>
        <p:spPr>
          <a:xfrm>
            <a:off x="2438400" y="1567986"/>
            <a:ext cx="7315200" cy="37220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A434D6-A57D-DAD7-A289-AE10B42FCA51}"/>
              </a:ext>
            </a:extLst>
          </p:cNvPr>
          <p:cNvSpPr txBox="1"/>
          <p:nvPr/>
        </p:nvSpPr>
        <p:spPr>
          <a:xfrm>
            <a:off x="1937886" y="5644171"/>
            <a:ext cx="9323672" cy="87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If the autocorrelation (r</a:t>
            </a:r>
            <a:r>
              <a:rPr lang="en-US" baseline="-25000" dirty="0"/>
              <a:t>k</a:t>
            </a:r>
            <a:r>
              <a:rPr lang="en-US" dirty="0"/>
              <a:t>) is outside this blue interval (95% confidence interval from Bartlett’s formula), we can conclude that r</a:t>
            </a:r>
            <a:r>
              <a:rPr lang="en-US" baseline="-25000" dirty="0"/>
              <a:t>k</a:t>
            </a:r>
            <a:r>
              <a:rPr lang="en-US" dirty="0"/>
              <a:t> is significant.</a:t>
            </a:r>
          </a:p>
        </p:txBody>
      </p:sp>
    </p:spTree>
    <p:extLst>
      <p:ext uri="{BB962C8B-B14F-4D97-AF65-F5344CB8AC3E}">
        <p14:creationId xmlns:p14="http://schemas.microsoft.com/office/powerpoint/2010/main" val="948271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027CB-5335-259E-EF46-C6855899F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153B12-27F0-2738-975D-89BD273605FC}"/>
              </a:ext>
            </a:extLst>
          </p:cNvPr>
          <p:cNvSpPr txBox="1"/>
          <p:nvPr/>
        </p:nvSpPr>
        <p:spPr>
          <a:xfrm>
            <a:off x="0" y="-30822"/>
            <a:ext cx="12192000" cy="1138773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200" dirty="0"/>
              <a:t>Autocorrelation Function (ACF)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3B78BA-C1B2-F3A1-B4CD-661428EAC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7568CB-525C-8A6E-9B1B-53FB02008BE4}"/>
              </a:ext>
            </a:extLst>
          </p:cNvPr>
          <p:cNvSpPr txBox="1"/>
          <p:nvPr/>
        </p:nvSpPr>
        <p:spPr>
          <a:xfrm>
            <a:off x="782854" y="1591939"/>
            <a:ext cx="9323672" cy="2767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Summary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Autocorrelation Function (ACF) measures the correlation of a time series with its own past values at different time lags.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confidence interval of the ACF at a given lag can be given by the Bartlett formula, which helps determine if the autocorrelation is significant.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538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7DB0E-D445-86DD-8CE7-F6C9EAE6E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FBBF41-3036-809C-4710-330381175EB5}"/>
              </a:ext>
            </a:extLst>
          </p:cNvPr>
          <p:cNvSpPr txBox="1"/>
          <p:nvPr/>
        </p:nvSpPr>
        <p:spPr>
          <a:xfrm>
            <a:off x="0" y="-30822"/>
            <a:ext cx="12192000" cy="1138773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200" dirty="0"/>
              <a:t>Partial Autocorrelation Function (PACF)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5CEE28-7D6F-2DB6-356E-6B91CAA47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1BD36D-02FD-F9F0-6C2B-A9AFCAA79DCE}"/>
              </a:ext>
            </a:extLst>
          </p:cNvPr>
          <p:cNvSpPr txBox="1"/>
          <p:nvPr/>
        </p:nvSpPr>
        <p:spPr>
          <a:xfrm>
            <a:off x="940709" y="1705806"/>
            <a:ext cx="10310582" cy="322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We want to know which lags y</a:t>
            </a:r>
            <a:r>
              <a:rPr lang="en-US" baseline="-25000" dirty="0"/>
              <a:t>t-k</a:t>
            </a:r>
            <a:r>
              <a:rPr lang="en-US" dirty="0"/>
              <a:t> are most predictive of y</a:t>
            </a:r>
            <a:r>
              <a:rPr lang="en-US" baseline="-25000" dirty="0"/>
              <a:t>t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y</a:t>
            </a:r>
            <a:r>
              <a:rPr lang="en-US" baseline="-25000" dirty="0"/>
              <a:t>t-2 </a:t>
            </a:r>
            <a:r>
              <a:rPr lang="en-US" dirty="0"/>
              <a:t>will influence y</a:t>
            </a:r>
            <a:r>
              <a:rPr lang="en-US" baseline="-25000" dirty="0"/>
              <a:t>t-1 </a:t>
            </a:r>
            <a:r>
              <a:rPr lang="en-US" dirty="0"/>
              <a:t>which influences y</a:t>
            </a:r>
            <a:r>
              <a:rPr lang="en-US" baseline="-25000" dirty="0"/>
              <a:t>t</a:t>
            </a:r>
          </a:p>
          <a:p>
            <a:pPr>
              <a:lnSpc>
                <a:spcPct val="150000"/>
              </a:lnSpc>
            </a:pPr>
            <a:endParaRPr lang="en-US" baseline="-25000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means that the autocorrelation between y</a:t>
            </a:r>
            <a:r>
              <a:rPr lang="en-US" baseline="-25000" dirty="0"/>
              <a:t>t </a:t>
            </a:r>
            <a:r>
              <a:rPr lang="en-US" dirty="0"/>
              <a:t>and y</a:t>
            </a:r>
            <a:r>
              <a:rPr lang="en-US" baseline="-25000" dirty="0"/>
              <a:t>t-2 </a:t>
            </a:r>
            <a:r>
              <a:rPr lang="en-US" dirty="0"/>
              <a:t>will be non-zero even though only a lag of 1 matters.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A3E2037-FA5A-1522-0142-32DC0F179A70}"/>
              </a:ext>
            </a:extLst>
          </p:cNvPr>
          <p:cNvGrpSpPr/>
          <p:nvPr/>
        </p:nvGrpSpPr>
        <p:grpSpPr>
          <a:xfrm>
            <a:off x="4595261" y="2671299"/>
            <a:ext cx="2248301" cy="1298038"/>
            <a:chOff x="3112970" y="4624572"/>
            <a:chExt cx="2248301" cy="129803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21AAB85-DEDB-321A-6E5A-63EB593302F1}"/>
                </a:ext>
              </a:extLst>
            </p:cNvPr>
            <p:cNvSpPr txBox="1"/>
            <p:nvPr/>
          </p:nvSpPr>
          <p:spPr>
            <a:xfrm>
              <a:off x="4721993" y="4624572"/>
              <a:ext cx="639278" cy="4590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/>
                <a:t>y</a:t>
              </a:r>
              <a:r>
                <a:rPr lang="en-US" baseline="-25000" dirty="0"/>
                <a:t>t-2</a:t>
              </a: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DE6B2E-B4F5-559C-1C4D-420CE6CEF0C2}"/>
                </a:ext>
              </a:extLst>
            </p:cNvPr>
            <p:cNvSpPr txBox="1"/>
            <p:nvPr/>
          </p:nvSpPr>
          <p:spPr>
            <a:xfrm>
              <a:off x="3112970" y="4624572"/>
              <a:ext cx="639278" cy="4590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/>
                <a:t>y</a:t>
              </a:r>
              <a:r>
                <a:rPr lang="en-US" baseline="-25000" dirty="0"/>
                <a:t>t-2</a:t>
              </a: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E458F13-BEA4-6D24-E505-1717F9B0A580}"/>
                </a:ext>
              </a:extLst>
            </p:cNvPr>
            <p:cNvSpPr txBox="1"/>
            <p:nvPr/>
          </p:nvSpPr>
          <p:spPr>
            <a:xfrm>
              <a:off x="3942347" y="5463574"/>
              <a:ext cx="639278" cy="4590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/>
                <a:t>y</a:t>
              </a:r>
              <a:r>
                <a:rPr lang="en-US" baseline="-25000" dirty="0"/>
                <a:t>t-2</a:t>
              </a:r>
              <a:endParaRPr lang="en-US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807925D-AAA0-0ED8-F56D-46CD5516B28E}"/>
                </a:ext>
              </a:extLst>
            </p:cNvPr>
            <p:cNvCxnSpPr>
              <a:cxnSpLocks/>
            </p:cNvCxnSpPr>
            <p:nvPr/>
          </p:nvCxnSpPr>
          <p:spPr>
            <a:xfrm>
              <a:off x="3643964" y="4950343"/>
              <a:ext cx="96974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F049ED9-0398-D21E-0C5A-A452373150C9}"/>
                </a:ext>
              </a:extLst>
            </p:cNvPr>
            <p:cNvCxnSpPr>
              <a:cxnSpLocks/>
            </p:cNvCxnSpPr>
            <p:nvPr/>
          </p:nvCxnSpPr>
          <p:spPr>
            <a:xfrm>
              <a:off x="3292240" y="5244335"/>
              <a:ext cx="557865" cy="43847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07C6082-3B95-7DC7-9427-677554252F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6759" y="5168766"/>
              <a:ext cx="361750" cy="52432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8134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180B9-8492-1C15-B166-3DCE7EA64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D2A421-8C50-B09C-39DF-EE136CC101EB}"/>
              </a:ext>
            </a:extLst>
          </p:cNvPr>
          <p:cNvSpPr txBox="1"/>
          <p:nvPr/>
        </p:nvSpPr>
        <p:spPr>
          <a:xfrm>
            <a:off x="0" y="-30822"/>
            <a:ext cx="12192000" cy="1138773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200" dirty="0"/>
              <a:t>Partial Autocorrelation Function (PACF)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48EC54-0742-3423-FB02-BAE142A13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48CBBD-8296-E224-8800-E5729E9EDBE3}"/>
              </a:ext>
            </a:extLst>
          </p:cNvPr>
          <p:cNvSpPr txBox="1"/>
          <p:nvPr/>
        </p:nvSpPr>
        <p:spPr>
          <a:xfrm>
            <a:off x="478696" y="1686556"/>
            <a:ext cx="6191611" cy="4198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partial autocorrelation function (PACF) measures the correlation between y</a:t>
            </a:r>
            <a:r>
              <a:rPr lang="en-US" baseline="-25000" dirty="0"/>
              <a:t>t </a:t>
            </a:r>
            <a:r>
              <a:rPr lang="en-US" dirty="0"/>
              <a:t>and y</a:t>
            </a:r>
            <a:r>
              <a:rPr lang="en-US" baseline="-25000" dirty="0"/>
              <a:t>t-k </a:t>
            </a:r>
            <a:r>
              <a:rPr lang="en-US" dirty="0"/>
              <a:t>after removing the correlation introduced by intermediate lags on y</a:t>
            </a:r>
            <a:r>
              <a:rPr lang="en-US" baseline="-25000" dirty="0"/>
              <a:t>t </a:t>
            </a:r>
            <a:r>
              <a:rPr lang="en-US" dirty="0"/>
              <a:t>and y</a:t>
            </a:r>
            <a:r>
              <a:rPr lang="en-US" baseline="-25000" dirty="0"/>
              <a:t>t-k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PACF at lag 1 is the correlation between y</a:t>
            </a:r>
            <a:r>
              <a:rPr lang="en-US" baseline="-25000" dirty="0"/>
              <a:t>t </a:t>
            </a:r>
            <a:r>
              <a:rPr lang="en-US" dirty="0"/>
              <a:t>and y</a:t>
            </a:r>
            <a:r>
              <a:rPr lang="en-US" baseline="-25000" dirty="0"/>
              <a:t>t-1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PACF at lag 2 is the correlation between y</a:t>
            </a:r>
            <a:r>
              <a:rPr lang="en-US" baseline="-25000" dirty="0"/>
              <a:t>t </a:t>
            </a:r>
            <a:r>
              <a:rPr lang="en-US" dirty="0"/>
              <a:t>and y</a:t>
            </a:r>
            <a:r>
              <a:rPr lang="en-US" baseline="-25000" dirty="0"/>
              <a:t>t-2 </a:t>
            </a:r>
            <a:r>
              <a:rPr lang="en-US" dirty="0"/>
              <a:t>after removing the effects of y</a:t>
            </a:r>
            <a:r>
              <a:rPr lang="en-US" baseline="-25000" dirty="0"/>
              <a:t>t-1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PACF at lag 3 is the correlation between y</a:t>
            </a:r>
            <a:r>
              <a:rPr lang="en-US" baseline="-25000" dirty="0"/>
              <a:t>t </a:t>
            </a:r>
            <a:r>
              <a:rPr lang="en-US" dirty="0"/>
              <a:t>and y</a:t>
            </a:r>
            <a:r>
              <a:rPr lang="en-US" baseline="-25000" dirty="0"/>
              <a:t>t-3 </a:t>
            </a:r>
            <a:r>
              <a:rPr lang="en-US" dirty="0"/>
              <a:t>after removing the effects of y</a:t>
            </a:r>
            <a:r>
              <a:rPr lang="en-US" baseline="-25000" dirty="0"/>
              <a:t>t-1 </a:t>
            </a:r>
            <a:r>
              <a:rPr lang="en-US" dirty="0"/>
              <a:t>and</a:t>
            </a:r>
            <a:r>
              <a:rPr lang="en-US" baseline="-25000" dirty="0"/>
              <a:t> </a:t>
            </a:r>
            <a:r>
              <a:rPr lang="en-US" dirty="0"/>
              <a:t>y</a:t>
            </a:r>
            <a:r>
              <a:rPr lang="en-US" baseline="-25000" dirty="0"/>
              <a:t>t-2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We will use the software packages for the calculation of the PACF.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F2B3663-38FB-8BE2-0DEE-F874D077AFDC}"/>
              </a:ext>
            </a:extLst>
          </p:cNvPr>
          <p:cNvCxnSpPr/>
          <p:nvPr/>
        </p:nvCxnSpPr>
        <p:spPr>
          <a:xfrm flipH="1" flipV="1">
            <a:off x="8216285" y="1934678"/>
            <a:ext cx="77002" cy="260844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E784DE-9775-974E-E723-6F113AB6DFF8}"/>
              </a:ext>
            </a:extLst>
          </p:cNvPr>
          <p:cNvCxnSpPr>
            <a:cxnSpLocks/>
          </p:cNvCxnSpPr>
          <p:nvPr/>
        </p:nvCxnSpPr>
        <p:spPr>
          <a:xfrm>
            <a:off x="8293287" y="4543124"/>
            <a:ext cx="329344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D97F45B-A231-4C1F-694F-CD96A82E7FE1}"/>
              </a:ext>
            </a:extLst>
          </p:cNvPr>
          <p:cNvSpPr txBox="1"/>
          <p:nvPr/>
        </p:nvSpPr>
        <p:spPr>
          <a:xfrm>
            <a:off x="10816068" y="5275068"/>
            <a:ext cx="626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</a:t>
            </a:r>
            <a:r>
              <a:rPr lang="en-US" baseline="-25000" dirty="0"/>
              <a:t>t-1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D8BCCB-5818-DD9A-AB80-2E6278947F8C}"/>
              </a:ext>
            </a:extLst>
          </p:cNvPr>
          <p:cNvSpPr txBox="1"/>
          <p:nvPr/>
        </p:nvSpPr>
        <p:spPr>
          <a:xfrm>
            <a:off x="8442237" y="5275068"/>
            <a:ext cx="531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</a:t>
            </a:r>
            <a:r>
              <a:rPr lang="en-US" baseline="-25000" dirty="0"/>
              <a:t>t</a:t>
            </a:r>
            <a:endParaRPr 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BD037AC-5BB5-81FE-1156-E22E5D6FC075}"/>
              </a:ext>
            </a:extLst>
          </p:cNvPr>
          <p:cNvCxnSpPr>
            <a:cxnSpLocks/>
          </p:cNvCxnSpPr>
          <p:nvPr/>
        </p:nvCxnSpPr>
        <p:spPr>
          <a:xfrm>
            <a:off x="8920212" y="5565612"/>
            <a:ext cx="18504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7207EF6-257B-1CD1-3850-AF05B00D57FD}"/>
              </a:ext>
            </a:extLst>
          </p:cNvPr>
          <p:cNvCxnSpPr>
            <a:cxnSpLocks/>
          </p:cNvCxnSpPr>
          <p:nvPr/>
        </p:nvCxnSpPr>
        <p:spPr>
          <a:xfrm flipH="1" flipV="1">
            <a:off x="8537608" y="2539322"/>
            <a:ext cx="69141" cy="200380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9B2405D7-C09D-8082-EB89-BBDCC3BA3257}"/>
              </a:ext>
            </a:extLst>
          </p:cNvPr>
          <p:cNvSpPr/>
          <p:nvPr/>
        </p:nvSpPr>
        <p:spPr>
          <a:xfrm>
            <a:off x="8442237" y="2376568"/>
            <a:ext cx="190742" cy="153998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B17571B-7A16-4447-80EF-11D384DCA026}"/>
              </a:ext>
            </a:extLst>
          </p:cNvPr>
          <p:cNvSpPr/>
          <p:nvPr/>
        </p:nvSpPr>
        <p:spPr>
          <a:xfrm>
            <a:off x="8792436" y="2885103"/>
            <a:ext cx="190742" cy="153998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1FF3D70-9AEA-96AC-D9B0-99282115E2E5}"/>
              </a:ext>
            </a:extLst>
          </p:cNvPr>
          <p:cNvCxnSpPr>
            <a:cxnSpLocks/>
          </p:cNvCxnSpPr>
          <p:nvPr/>
        </p:nvCxnSpPr>
        <p:spPr>
          <a:xfrm flipH="1" flipV="1">
            <a:off x="8887807" y="3059687"/>
            <a:ext cx="32405" cy="148343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1BF0A39-9041-742B-3817-0ED427DF0E4E}"/>
              </a:ext>
            </a:extLst>
          </p:cNvPr>
          <p:cNvSpPr txBox="1"/>
          <p:nvPr/>
        </p:nvSpPr>
        <p:spPr>
          <a:xfrm>
            <a:off x="8470069" y="4584704"/>
            <a:ext cx="531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8FFCBF-301D-6D3E-0291-B1D560B00547}"/>
              </a:ext>
            </a:extLst>
          </p:cNvPr>
          <p:cNvSpPr txBox="1"/>
          <p:nvPr/>
        </p:nvSpPr>
        <p:spPr>
          <a:xfrm>
            <a:off x="8781767" y="4565367"/>
            <a:ext cx="531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44ACC97-7581-D09F-895F-3A9BEF5F0AD3}"/>
              </a:ext>
            </a:extLst>
          </p:cNvPr>
          <p:cNvSpPr/>
          <p:nvPr/>
        </p:nvSpPr>
        <p:spPr>
          <a:xfrm>
            <a:off x="9217871" y="3059687"/>
            <a:ext cx="190742" cy="153998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8729765-F3FD-75F8-4C94-5678DF422C64}"/>
              </a:ext>
            </a:extLst>
          </p:cNvPr>
          <p:cNvCxnSpPr>
            <a:cxnSpLocks/>
          </p:cNvCxnSpPr>
          <p:nvPr/>
        </p:nvCxnSpPr>
        <p:spPr>
          <a:xfrm flipH="1" flipV="1">
            <a:off x="9301248" y="3228402"/>
            <a:ext cx="11994" cy="128003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E5FE29F-BA2C-C2AC-E784-BE56B2A1F9E7}"/>
              </a:ext>
            </a:extLst>
          </p:cNvPr>
          <p:cNvSpPr txBox="1"/>
          <p:nvPr/>
        </p:nvSpPr>
        <p:spPr>
          <a:xfrm>
            <a:off x="9142875" y="4604690"/>
            <a:ext cx="531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50D322-7633-9CE6-9AA7-A111E4AC36D8}"/>
              </a:ext>
            </a:extLst>
          </p:cNvPr>
          <p:cNvSpPr txBox="1"/>
          <p:nvPr/>
        </p:nvSpPr>
        <p:spPr>
          <a:xfrm>
            <a:off x="10816068" y="5699276"/>
            <a:ext cx="626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</a:t>
            </a:r>
            <a:r>
              <a:rPr lang="en-US" baseline="-25000" dirty="0"/>
              <a:t>t-2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436B03-A647-A216-34CB-B00D0FB9226A}"/>
              </a:ext>
            </a:extLst>
          </p:cNvPr>
          <p:cNvSpPr txBox="1"/>
          <p:nvPr/>
        </p:nvSpPr>
        <p:spPr>
          <a:xfrm>
            <a:off x="10816068" y="6186351"/>
            <a:ext cx="626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</a:t>
            </a:r>
            <a:r>
              <a:rPr lang="en-US" baseline="-25000" dirty="0"/>
              <a:t>t-3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6A8A075-11E2-456E-D904-D311AAA2ABD7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8920212" y="5644400"/>
            <a:ext cx="1895856" cy="2395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7BFD86B-8714-FED5-1EEC-31B2FB5BCD11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8920212" y="5764171"/>
            <a:ext cx="1895856" cy="6068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0EAD162-E86D-2BE6-05BB-83059B48B3FD}"/>
              </a:ext>
            </a:extLst>
          </p:cNvPr>
          <p:cNvCxnSpPr>
            <a:cxnSpLocks/>
          </p:cNvCxnSpPr>
          <p:nvPr/>
        </p:nvCxnSpPr>
        <p:spPr>
          <a:xfrm flipH="1" flipV="1">
            <a:off x="9674350" y="3370318"/>
            <a:ext cx="19928" cy="117280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22B055DA-7DC1-7160-A669-8AEFB2A6F1AB}"/>
              </a:ext>
            </a:extLst>
          </p:cNvPr>
          <p:cNvSpPr/>
          <p:nvPr/>
        </p:nvSpPr>
        <p:spPr>
          <a:xfrm>
            <a:off x="9578979" y="3241314"/>
            <a:ext cx="190742" cy="153998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F0A8E8-64FE-5B67-0BDB-DB43A60771B9}"/>
              </a:ext>
            </a:extLst>
          </p:cNvPr>
          <p:cNvSpPr txBox="1"/>
          <p:nvPr/>
        </p:nvSpPr>
        <p:spPr>
          <a:xfrm>
            <a:off x="9503983" y="4601995"/>
            <a:ext cx="531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64833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F545A-4C67-F547-2DC1-3BF70A0C3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5B2CC1-D0EF-0F92-B3DD-0C384A5EC399}"/>
              </a:ext>
            </a:extLst>
          </p:cNvPr>
          <p:cNvSpPr txBox="1"/>
          <p:nvPr/>
        </p:nvSpPr>
        <p:spPr>
          <a:xfrm>
            <a:off x="0" y="-30822"/>
            <a:ext cx="12192000" cy="1138773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200" dirty="0"/>
              <a:t>Partial Autocorrelation Function (PACF)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05A55E-A5C4-E72F-7C0B-C9DE7CDB8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29B4B5-534F-B1A5-BA77-0CD410147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46" y="1456301"/>
            <a:ext cx="5734354" cy="3474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A51C53-F441-B7E8-81B6-848E342B0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5003" y="1456301"/>
            <a:ext cx="5669280" cy="12950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60822B-607D-791A-E093-3761D4C946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89" y="5279372"/>
            <a:ext cx="5352585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D96BCA-3AD9-A687-F76C-A9D49E578DEC}"/>
              </a:ext>
            </a:extLst>
          </p:cNvPr>
          <p:cNvSpPr txBox="1"/>
          <p:nvPr/>
        </p:nvSpPr>
        <p:spPr>
          <a:xfrm>
            <a:off x="6493350" y="2930756"/>
            <a:ext cx="5352585" cy="235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Summary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Partial Autocorrelation Function (PACF) measures how correlated y</a:t>
            </a:r>
            <a:r>
              <a:rPr lang="en-US" baseline="-25000" dirty="0"/>
              <a:t>t </a:t>
            </a:r>
            <a:r>
              <a:rPr lang="en-US" dirty="0"/>
              <a:t>is with itself at lag y</a:t>
            </a:r>
            <a:r>
              <a:rPr lang="en-US" baseline="-25000" dirty="0"/>
              <a:t>t-k </a:t>
            </a:r>
            <a:r>
              <a:rPr lang="en-US" dirty="0"/>
              <a:t>after removing the effect of intermediate lags.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2158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4633</TotalTime>
  <Words>657</Words>
  <Application>Microsoft Office PowerPoint</Application>
  <PresentationFormat>Widescreen</PresentationFormat>
  <Paragraphs>136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Calisto MT</vt:lpstr>
      <vt:lpstr>Cambria Math</vt:lpstr>
      <vt:lpstr>Wingdings 2</vt:lpstr>
      <vt:lpstr>Slate</vt:lpstr>
      <vt:lpstr>Time Series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 Thu Aung</dc:creator>
  <cp:lastModifiedBy>Si Thu Aung</cp:lastModifiedBy>
  <cp:revision>226</cp:revision>
  <dcterms:created xsi:type="dcterms:W3CDTF">2026-01-24T14:08:36Z</dcterms:created>
  <dcterms:modified xsi:type="dcterms:W3CDTF">2026-02-18T04:42:14Z</dcterms:modified>
</cp:coreProperties>
</file>